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5"/>
    <p:restoredTop sz="94598"/>
  </p:normalViewPr>
  <p:slideViewPr>
    <p:cSldViewPr snapToGrid="0" snapToObjects="1">
      <p:cViewPr varScale="1">
        <p:scale>
          <a:sx n="119" d="100"/>
          <a:sy n="119" d="100"/>
        </p:scale>
        <p:origin x="1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van.name/roc/?ref=dataschool.io" TargetMode="External"/><Relationship Id="rId2" Type="http://schemas.openxmlformats.org/officeDocument/2006/relationships/hyperlink" Target="https://sefiks.com/2020/12/10/a-gentle-introduction-to-roc-curve-and-auc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videntlyai.com/classification-metrics/explain-roc-curve" TargetMode="External"/><Relationship Id="rId4" Type="http://schemas.openxmlformats.org/officeDocument/2006/relationships/hyperlink" Target="https://www.datacamp.com/tutorial/au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Understanding the </a:t>
            </a:r>
            <a:br>
              <a:rPr lang="en-GB" dirty="0"/>
            </a:br>
            <a:r>
              <a:rPr dirty="0"/>
              <a:t>AUC–ROC Curve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intuitive and visual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AUC–ROC?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262" y="1255833"/>
            <a:ext cx="8229600" cy="15517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In binary classification, models output probabilities, not just 0 or 1. To measure how well the model separates positive and negative classes across all thresholds, we use the Receiver Operating Characteristic (ROC) curve and its Area Under the Curve (AUC).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2B8CAE-799A-3306-96A7-1E834C40AE66}"/>
              </a:ext>
            </a:extLst>
          </p:cNvPr>
          <p:cNvCxnSpPr>
            <a:cxnSpLocks/>
          </p:cNvCxnSpPr>
          <p:nvPr/>
        </p:nvCxnSpPr>
        <p:spPr>
          <a:xfrm>
            <a:off x="857070" y="5884433"/>
            <a:ext cx="74059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188C290-C25E-2FF3-B305-11437E4BCEA2}"/>
              </a:ext>
            </a:extLst>
          </p:cNvPr>
          <p:cNvSpPr/>
          <p:nvPr/>
        </p:nvSpPr>
        <p:spPr>
          <a:xfrm>
            <a:off x="1193575" y="4830184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17EE05-D82A-19CA-C308-B3C27F5D7C8F}"/>
              </a:ext>
            </a:extLst>
          </p:cNvPr>
          <p:cNvSpPr/>
          <p:nvPr/>
        </p:nvSpPr>
        <p:spPr>
          <a:xfrm>
            <a:off x="2177460" y="4432154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3C59B3-2F8F-7E92-3E7B-79244ACFA768}"/>
              </a:ext>
            </a:extLst>
          </p:cNvPr>
          <p:cNvSpPr/>
          <p:nvPr/>
        </p:nvSpPr>
        <p:spPr>
          <a:xfrm>
            <a:off x="1702768" y="5163670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50A512-6B3E-1A98-3FF6-429D550A23E5}"/>
              </a:ext>
            </a:extLst>
          </p:cNvPr>
          <p:cNvSpPr/>
          <p:nvPr/>
        </p:nvSpPr>
        <p:spPr>
          <a:xfrm>
            <a:off x="2262167" y="5034580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39A2CC-1DD2-BE94-09E4-B35FFBD71959}"/>
              </a:ext>
            </a:extLst>
          </p:cNvPr>
          <p:cNvSpPr/>
          <p:nvPr/>
        </p:nvSpPr>
        <p:spPr>
          <a:xfrm>
            <a:off x="2719369" y="4548110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0913D6-41CC-1778-1C7D-C9D92A6C0D06}"/>
              </a:ext>
            </a:extLst>
          </p:cNvPr>
          <p:cNvSpPr/>
          <p:nvPr/>
        </p:nvSpPr>
        <p:spPr>
          <a:xfrm>
            <a:off x="3395305" y="4213435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D081BA3-1FB5-2B50-BA98-395F85992AEB}"/>
              </a:ext>
            </a:extLst>
          </p:cNvPr>
          <p:cNvSpPr/>
          <p:nvPr/>
        </p:nvSpPr>
        <p:spPr>
          <a:xfrm>
            <a:off x="3228562" y="4881596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307BE2-D6BC-30CB-C114-D55F55A0D144}"/>
              </a:ext>
            </a:extLst>
          </p:cNvPr>
          <p:cNvSpPr/>
          <p:nvPr/>
        </p:nvSpPr>
        <p:spPr>
          <a:xfrm>
            <a:off x="3787961" y="4752506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FD6D57-13FA-CDA5-3255-0AF628426AC1}"/>
              </a:ext>
            </a:extLst>
          </p:cNvPr>
          <p:cNvSpPr/>
          <p:nvPr/>
        </p:nvSpPr>
        <p:spPr>
          <a:xfrm>
            <a:off x="3614046" y="5393772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BA7EA6-6FD5-8BD6-7E9F-ADF48C7F6550}"/>
              </a:ext>
            </a:extLst>
          </p:cNvPr>
          <p:cNvSpPr/>
          <p:nvPr/>
        </p:nvSpPr>
        <p:spPr>
          <a:xfrm>
            <a:off x="5980726" y="4469802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B825EDA-3DEB-870C-4F16-7B2AA120313C}"/>
              </a:ext>
            </a:extLst>
          </p:cNvPr>
          <p:cNvSpPr/>
          <p:nvPr/>
        </p:nvSpPr>
        <p:spPr>
          <a:xfrm>
            <a:off x="6656662" y="4135127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4244DF-33E7-5489-D1B6-BFD0BD8BB317}"/>
              </a:ext>
            </a:extLst>
          </p:cNvPr>
          <p:cNvSpPr/>
          <p:nvPr/>
        </p:nvSpPr>
        <p:spPr>
          <a:xfrm>
            <a:off x="6489919" y="4803288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476D34-968A-C953-1EC1-BD290F150FD3}"/>
              </a:ext>
            </a:extLst>
          </p:cNvPr>
          <p:cNvSpPr/>
          <p:nvPr/>
        </p:nvSpPr>
        <p:spPr>
          <a:xfrm>
            <a:off x="7049318" y="4674198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C8ED5DD-1067-E061-9392-6D26E0E61AAC}"/>
              </a:ext>
            </a:extLst>
          </p:cNvPr>
          <p:cNvSpPr/>
          <p:nvPr/>
        </p:nvSpPr>
        <p:spPr>
          <a:xfrm>
            <a:off x="6875403" y="5315464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9D8C4B3-0A1A-2B54-33D2-C5552348C906}"/>
              </a:ext>
            </a:extLst>
          </p:cNvPr>
          <p:cNvSpPr/>
          <p:nvPr/>
        </p:nvSpPr>
        <p:spPr>
          <a:xfrm>
            <a:off x="4686222" y="5112257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A81272E-44B6-EBC6-9806-38822B184123}"/>
              </a:ext>
            </a:extLst>
          </p:cNvPr>
          <p:cNvSpPr/>
          <p:nvPr/>
        </p:nvSpPr>
        <p:spPr>
          <a:xfrm>
            <a:off x="5580899" y="4714227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328768-DBDB-7475-CF3D-313B41C7E191}"/>
              </a:ext>
            </a:extLst>
          </p:cNvPr>
          <p:cNvSpPr/>
          <p:nvPr/>
        </p:nvSpPr>
        <p:spPr>
          <a:xfrm>
            <a:off x="5195415" y="5445743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415C7F-41E8-A8B5-123D-1AA59D23960A}"/>
              </a:ext>
            </a:extLst>
          </p:cNvPr>
          <p:cNvSpPr/>
          <p:nvPr/>
        </p:nvSpPr>
        <p:spPr>
          <a:xfrm>
            <a:off x="5754814" y="5316653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A6C0DE2-68ED-BA5D-E2BE-FBFFA3A819EA}"/>
              </a:ext>
            </a:extLst>
          </p:cNvPr>
          <p:cNvSpPr/>
          <p:nvPr/>
        </p:nvSpPr>
        <p:spPr>
          <a:xfrm>
            <a:off x="7436894" y="4355032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AB85406-D4CF-F739-673A-04945A5B3EA4}"/>
              </a:ext>
            </a:extLst>
          </p:cNvPr>
          <p:cNvSpPr/>
          <p:nvPr/>
        </p:nvSpPr>
        <p:spPr>
          <a:xfrm>
            <a:off x="2748051" y="5289757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0F5774-4EE9-A2E8-8D1B-1E3E23E4E513}"/>
              </a:ext>
            </a:extLst>
          </p:cNvPr>
          <p:cNvSpPr/>
          <p:nvPr/>
        </p:nvSpPr>
        <p:spPr>
          <a:xfrm>
            <a:off x="5076752" y="4870212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D6247E-0EF7-1CBB-26C0-69F5D3D56B0C}"/>
              </a:ext>
            </a:extLst>
          </p:cNvPr>
          <p:cNvSpPr/>
          <p:nvPr/>
        </p:nvSpPr>
        <p:spPr>
          <a:xfrm>
            <a:off x="4797202" y="4319380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F0A742C-F04B-B44C-2766-2EA99E6DC523}"/>
              </a:ext>
            </a:extLst>
          </p:cNvPr>
          <p:cNvSpPr/>
          <p:nvPr/>
        </p:nvSpPr>
        <p:spPr>
          <a:xfrm>
            <a:off x="7454526" y="5119732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6C89212-463D-6FDE-CFF3-76136660DFFB}"/>
              </a:ext>
            </a:extLst>
          </p:cNvPr>
          <p:cNvSpPr/>
          <p:nvPr/>
        </p:nvSpPr>
        <p:spPr>
          <a:xfrm>
            <a:off x="7342661" y="3756864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728D90-7AF2-64E8-4AA7-9DAE93DB7AE8}"/>
              </a:ext>
            </a:extLst>
          </p:cNvPr>
          <p:cNvSpPr/>
          <p:nvPr/>
        </p:nvSpPr>
        <p:spPr>
          <a:xfrm>
            <a:off x="4000414" y="4274973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A6D26B-9DE3-B5E1-A38A-93C52B2AB94B}"/>
              </a:ext>
            </a:extLst>
          </p:cNvPr>
          <p:cNvSpPr/>
          <p:nvPr/>
        </p:nvSpPr>
        <p:spPr>
          <a:xfrm>
            <a:off x="5554351" y="4260468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9DCE5A-59B9-7814-08C8-DFFD40B5996A}"/>
              </a:ext>
            </a:extLst>
          </p:cNvPr>
          <p:cNvSpPr/>
          <p:nvPr/>
        </p:nvSpPr>
        <p:spPr>
          <a:xfrm>
            <a:off x="1727697" y="4584554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02CC886-E419-3283-E6F3-5C3E6F6B725B}"/>
              </a:ext>
            </a:extLst>
          </p:cNvPr>
          <p:cNvSpPr/>
          <p:nvPr/>
        </p:nvSpPr>
        <p:spPr>
          <a:xfrm>
            <a:off x="1085736" y="5316070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4B5F294-EABE-2CBE-F133-4BB49C0FB78C}"/>
              </a:ext>
            </a:extLst>
          </p:cNvPr>
          <p:cNvSpPr/>
          <p:nvPr/>
        </p:nvSpPr>
        <p:spPr>
          <a:xfrm>
            <a:off x="2202694" y="5432305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EE08F62-EBEB-134B-A52F-19B1C370A963}"/>
              </a:ext>
            </a:extLst>
          </p:cNvPr>
          <p:cNvSpPr/>
          <p:nvPr/>
        </p:nvSpPr>
        <p:spPr>
          <a:xfrm>
            <a:off x="146015" y="3538079"/>
            <a:ext cx="333487" cy="3119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D55E87C-FF38-1012-30B9-B918D6E3FF92}"/>
              </a:ext>
            </a:extLst>
          </p:cNvPr>
          <p:cNvSpPr/>
          <p:nvPr/>
        </p:nvSpPr>
        <p:spPr>
          <a:xfrm>
            <a:off x="146015" y="3081362"/>
            <a:ext cx="333487" cy="31197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46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6CD171-DAE9-CC45-D130-8C3D90A51DF5}"/>
              </a:ext>
            </a:extLst>
          </p:cNvPr>
          <p:cNvSpPr txBox="1"/>
          <p:nvPr/>
        </p:nvSpPr>
        <p:spPr>
          <a:xfrm>
            <a:off x="683700" y="3052681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Positive class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28B992-4602-78CE-3CAF-62996F1E095D}"/>
              </a:ext>
            </a:extLst>
          </p:cNvPr>
          <p:cNvSpPr txBox="1"/>
          <p:nvPr/>
        </p:nvSpPr>
        <p:spPr>
          <a:xfrm>
            <a:off x="683565" y="3505777"/>
            <a:ext cx="1503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Negative class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F44E52-BD37-2615-3879-247331F94ECF}"/>
              </a:ext>
            </a:extLst>
          </p:cNvPr>
          <p:cNvSpPr txBox="1"/>
          <p:nvPr/>
        </p:nvSpPr>
        <p:spPr>
          <a:xfrm>
            <a:off x="624468" y="5999360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en-IE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D37317-360E-DCC8-3883-F0ADE0109E15}"/>
              </a:ext>
            </a:extLst>
          </p:cNvPr>
          <p:cNvSpPr txBox="1"/>
          <p:nvPr/>
        </p:nvSpPr>
        <p:spPr>
          <a:xfrm>
            <a:off x="7947093" y="6062550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en-IE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CB1C73-C2D3-BE89-63B6-D39D8837A70A}"/>
              </a:ext>
            </a:extLst>
          </p:cNvPr>
          <p:cNvSpPr txBox="1"/>
          <p:nvPr/>
        </p:nvSpPr>
        <p:spPr>
          <a:xfrm>
            <a:off x="3338627" y="6182207"/>
            <a:ext cx="2533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600" dirty="0"/>
              <a:t>Predictions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4EEA60E-58F3-E6DA-56CD-3DE8FED74576}"/>
              </a:ext>
            </a:extLst>
          </p:cNvPr>
          <p:cNvCxnSpPr>
            <a:cxnSpLocks/>
          </p:cNvCxnSpPr>
          <p:nvPr/>
        </p:nvCxnSpPr>
        <p:spPr>
          <a:xfrm>
            <a:off x="4463682" y="3690443"/>
            <a:ext cx="15232" cy="2193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4DD031B-DB30-63A4-B549-05643EC0EB28}"/>
              </a:ext>
            </a:extLst>
          </p:cNvPr>
          <p:cNvCxnSpPr>
            <a:cxnSpLocks/>
          </p:cNvCxnSpPr>
          <p:nvPr/>
        </p:nvCxnSpPr>
        <p:spPr>
          <a:xfrm>
            <a:off x="2631691" y="3655511"/>
            <a:ext cx="15232" cy="2193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25C447F-030C-DC53-A507-D43E56F78B48}"/>
              </a:ext>
            </a:extLst>
          </p:cNvPr>
          <p:cNvCxnSpPr>
            <a:cxnSpLocks/>
          </p:cNvCxnSpPr>
          <p:nvPr/>
        </p:nvCxnSpPr>
        <p:spPr>
          <a:xfrm>
            <a:off x="6450332" y="3655511"/>
            <a:ext cx="15232" cy="2193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Classification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Imagine a classifier predicting whether an email is spam or not:</a:t>
            </a:r>
          </a:p>
          <a:p>
            <a:pPr lvl="1"/>
            <a:r>
              <a:rPr sz="1600" dirty="0"/>
              <a:t>Each email gets a score between 0 and 1.</a:t>
            </a:r>
          </a:p>
          <a:p>
            <a:pPr lvl="1"/>
            <a:r>
              <a:rPr sz="1600" dirty="0"/>
              <a:t>Higher scores → more likely spam.</a:t>
            </a:r>
          </a:p>
          <a:p>
            <a:pPr lvl="1"/>
            <a:r>
              <a:rPr sz="1600" dirty="0"/>
              <a:t>We can set a threshold (e.g., 0.5) to decide.</a:t>
            </a:r>
          </a:p>
          <a:p>
            <a:r>
              <a:rPr sz="2000" dirty="0"/>
              <a:t>Changing the threshold changes how many emails are labeled spam.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78A79E-47BA-ED9A-F83F-82AB9AA53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50" y="3330305"/>
            <a:ext cx="3754050" cy="297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2E123E-4F9A-9043-83C7-6E05DA6119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984"/>
          <a:stretch>
            <a:fillRect/>
          </a:stretch>
        </p:blipFill>
        <p:spPr>
          <a:xfrm>
            <a:off x="4434567" y="5588426"/>
            <a:ext cx="623760" cy="311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BE790A-CCDF-E06E-FD57-70DE0430F8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302"/>
          <a:stretch>
            <a:fillRect/>
          </a:stretch>
        </p:blipFill>
        <p:spPr>
          <a:xfrm>
            <a:off x="5353715" y="6137313"/>
            <a:ext cx="685145" cy="347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8F3CC-18B7-5D59-4C79-9ACB342670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984"/>
          <a:stretch>
            <a:fillRect/>
          </a:stretch>
        </p:blipFill>
        <p:spPr>
          <a:xfrm>
            <a:off x="7819789" y="6196014"/>
            <a:ext cx="623760" cy="311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895021-0568-A052-BAAF-A482F79C21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302"/>
          <a:stretch>
            <a:fillRect/>
          </a:stretch>
        </p:blipFill>
        <p:spPr>
          <a:xfrm>
            <a:off x="4434567" y="3577064"/>
            <a:ext cx="685145" cy="347354"/>
          </a:xfrm>
          <a:prstGeom prst="rect">
            <a:avLst/>
          </a:prstGeom>
        </p:spPr>
      </p:pic>
      <p:pic>
        <p:nvPicPr>
          <p:cNvPr id="1028" name="Picture 4" descr="ROC curve chart">
            <a:extLst>
              <a:ext uri="{FF2B5EF4-FFF2-40B4-BE49-F238E27FC236}">
                <a16:creationId xmlns:a16="http://schemas.microsoft.com/office/drawing/2014/main" id="{6F852C05-F6E1-E13A-9AFB-2C9B578F3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5" t="4424" r="13046" b="4391"/>
          <a:stretch>
            <a:fillRect/>
          </a:stretch>
        </p:blipFill>
        <p:spPr bwMode="auto">
          <a:xfrm>
            <a:off x="256478" y="3657600"/>
            <a:ext cx="3993985" cy="26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1861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/>
              <a:t>Thresholds and the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9341"/>
            <a:ext cx="7872761" cy="2213516"/>
          </a:xfrm>
        </p:spPr>
        <p:txBody>
          <a:bodyPr>
            <a:noAutofit/>
          </a:bodyPr>
          <a:lstStyle/>
          <a:p>
            <a:r>
              <a:rPr sz="1800" dirty="0"/>
              <a:t>At a given threshold:</a:t>
            </a:r>
          </a:p>
          <a:p>
            <a:pPr lvl="1"/>
            <a:r>
              <a:rPr sz="1600" dirty="0"/>
              <a:t>True Positives (TP): correctly predicted positives.</a:t>
            </a:r>
          </a:p>
          <a:p>
            <a:pPr lvl="1"/>
            <a:r>
              <a:rPr sz="1600" dirty="0"/>
              <a:t>False Positives (FP): incorrectly predicted positives.</a:t>
            </a:r>
          </a:p>
          <a:p>
            <a:pPr lvl="1"/>
            <a:r>
              <a:rPr sz="1600" dirty="0"/>
              <a:t>True Negatives (TN): correctly predicted negatives.</a:t>
            </a:r>
          </a:p>
          <a:p>
            <a:pPr lvl="1"/>
            <a:r>
              <a:rPr sz="1600" dirty="0"/>
              <a:t>False Negatives (FN): missed positives.</a:t>
            </a:r>
            <a:endParaRPr sz="1800" dirty="0"/>
          </a:p>
          <a:p>
            <a:r>
              <a:rPr sz="1800" dirty="0"/>
              <a:t>As we vary the threshold, TP, FP, TN, and FN change — producing new rates.</a:t>
            </a:r>
          </a:p>
        </p:txBody>
      </p:sp>
      <p:pic>
        <p:nvPicPr>
          <p:cNvPr id="2050" name="Picture 2" descr="Confusion matrix example">
            <a:extLst>
              <a:ext uri="{FF2B5EF4-FFF2-40B4-BE49-F238E27FC236}">
                <a16:creationId xmlns:a16="http://schemas.microsoft.com/office/drawing/2014/main" id="{D115E506-E24C-1B84-6154-37F0A6A42D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8" r="8363"/>
          <a:stretch>
            <a:fillRect/>
          </a:stretch>
        </p:blipFill>
        <p:spPr bwMode="auto">
          <a:xfrm>
            <a:off x="278779" y="3796924"/>
            <a:ext cx="3300762" cy="220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rue positive rate and false positive rate">
            <a:extLst>
              <a:ext uri="{FF2B5EF4-FFF2-40B4-BE49-F238E27FC236}">
                <a16:creationId xmlns:a16="http://schemas.microsoft.com/office/drawing/2014/main" id="{00929D71-A472-F432-E3FB-0E783A81AC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" t="10967" r="6341" b="12907"/>
          <a:stretch>
            <a:fillRect/>
          </a:stretch>
        </p:blipFill>
        <p:spPr bwMode="auto">
          <a:xfrm>
            <a:off x="3849485" y="3697456"/>
            <a:ext cx="5183004" cy="240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219"/>
            <a:ext cx="8229600" cy="762181"/>
          </a:xfrm>
        </p:spPr>
        <p:txBody>
          <a:bodyPr/>
          <a:lstStyle/>
          <a:p>
            <a:r>
              <a:rPr dirty="0"/>
              <a:t>The ROC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385" y="1025912"/>
            <a:ext cx="8686800" cy="2146610"/>
          </a:xfrm>
        </p:spPr>
        <p:txBody>
          <a:bodyPr>
            <a:noAutofit/>
          </a:bodyPr>
          <a:lstStyle/>
          <a:p>
            <a:r>
              <a:rPr sz="2000" dirty="0"/>
              <a:t>ROC = Receiver Operating Characteristic curve.</a:t>
            </a:r>
          </a:p>
          <a:p>
            <a:r>
              <a:rPr sz="2000" dirty="0"/>
              <a:t>Axes:</a:t>
            </a:r>
          </a:p>
          <a:p>
            <a:pPr lvl="1"/>
            <a:r>
              <a:rPr sz="1600" dirty="0"/>
              <a:t>X-axis: False Positive Rate (FPR)</a:t>
            </a:r>
          </a:p>
          <a:p>
            <a:pPr lvl="1"/>
            <a:r>
              <a:rPr sz="1600" dirty="0"/>
              <a:t>Y-axis: True Positive Rate (TPR)</a:t>
            </a:r>
            <a:endParaRPr sz="2000" dirty="0"/>
          </a:p>
          <a:p>
            <a:r>
              <a:rPr sz="2000" dirty="0"/>
              <a:t>Each threshold gives a point (FPR, TPR). Connecting all gives the ROC curve.</a:t>
            </a:r>
          </a:p>
          <a:p>
            <a:r>
              <a:rPr sz="2000" dirty="0"/>
              <a:t>Formulas:</a:t>
            </a:r>
          </a:p>
          <a:p>
            <a:pPr lvl="1"/>
            <a:r>
              <a:rPr sz="1600" dirty="0"/>
              <a:t>TPR = TP / (TP + FN)</a:t>
            </a:r>
          </a:p>
          <a:p>
            <a:pPr lvl="1"/>
            <a:r>
              <a:rPr sz="1600" dirty="0"/>
              <a:t>FPR = FP / (FP + TN)</a:t>
            </a:r>
          </a:p>
        </p:txBody>
      </p:sp>
      <p:pic>
        <p:nvPicPr>
          <p:cNvPr id="4" name="Picture 6" descr="Confusion matrices with different classification thresholds">
            <a:extLst>
              <a:ext uri="{FF2B5EF4-FFF2-40B4-BE49-F238E27FC236}">
                <a16:creationId xmlns:a16="http://schemas.microsoft.com/office/drawing/2014/main" id="{30E6A987-2FFF-FD4C-7150-D67C13F5D7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58" b="19342"/>
          <a:stretch>
            <a:fillRect/>
          </a:stretch>
        </p:blipFill>
        <p:spPr bwMode="auto">
          <a:xfrm>
            <a:off x="351263" y="3901250"/>
            <a:ext cx="7833027" cy="252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EFC1-8D51-21F7-F474-4D0ACE4F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Area Under the Curve (AUC)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284A1-EE19-E56C-EDC9-2F40C34B5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The Recall and False Positive will go down but the TPR will go up.</a:t>
            </a:r>
          </a:p>
        </p:txBody>
      </p:sp>
      <p:pic>
        <p:nvPicPr>
          <p:cNvPr id="4098" name="Picture 2" descr="Confusion matrices with different classification thresholds">
            <a:extLst>
              <a:ext uri="{FF2B5EF4-FFF2-40B4-BE49-F238E27FC236}">
                <a16:creationId xmlns:a16="http://schemas.microsoft.com/office/drawing/2014/main" id="{A91D73AD-B48F-9162-FFD0-9BEBDC60A1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3"/>
          <a:stretch>
            <a:fillRect/>
          </a:stretch>
        </p:blipFill>
        <p:spPr bwMode="auto">
          <a:xfrm>
            <a:off x="947984" y="2657559"/>
            <a:ext cx="6872056" cy="365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60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Area Under the Curve (AUC)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7672039" cy="2068551"/>
          </a:xfrm>
        </p:spPr>
        <p:txBody>
          <a:bodyPr>
            <a:noAutofit/>
          </a:bodyPr>
          <a:lstStyle/>
          <a:p>
            <a:r>
              <a:rPr sz="1800" dirty="0"/>
              <a:t>AUC </a:t>
            </a:r>
            <a:r>
              <a:rPr lang="en-GB" sz="1800" dirty="0"/>
              <a:t>r</a:t>
            </a:r>
            <a:r>
              <a:rPr sz="1800" dirty="0" err="1"/>
              <a:t>epresents</a:t>
            </a:r>
            <a:r>
              <a:rPr sz="1800" dirty="0"/>
              <a:t> model's ability to rank positives higher than negatives.</a:t>
            </a:r>
          </a:p>
          <a:p>
            <a:pPr lvl="1"/>
            <a:r>
              <a:rPr sz="1600" dirty="0"/>
              <a:t>AUC = 1 → Perfect classifier.</a:t>
            </a:r>
          </a:p>
          <a:p>
            <a:pPr lvl="1"/>
            <a:r>
              <a:rPr sz="1600" dirty="0"/>
              <a:t>AUC = 0.5 → Random guessing.</a:t>
            </a:r>
          </a:p>
          <a:p>
            <a:pPr lvl="1"/>
            <a:r>
              <a:rPr sz="1600" dirty="0"/>
              <a:t>AUC &lt; 0.5 → Model is worse than random.</a:t>
            </a:r>
            <a:endParaRPr sz="1800" dirty="0"/>
          </a:p>
          <a:p>
            <a:r>
              <a:rPr sz="1800" dirty="0"/>
              <a:t>Mathematically:</a:t>
            </a:r>
          </a:p>
          <a:p>
            <a:r>
              <a:rPr sz="1800" dirty="0"/>
              <a:t>AUC = ∫</a:t>
            </a:r>
            <a:r>
              <a:rPr lang="en-IE" sz="1800" dirty="0"/>
              <a:t>₀</a:t>
            </a:r>
            <a:r>
              <a:rPr sz="1800" dirty="0"/>
              <a:t>¹ TPR(FPR) d(FPR)</a:t>
            </a:r>
          </a:p>
        </p:txBody>
      </p:sp>
      <p:pic>
        <p:nvPicPr>
          <p:cNvPr id="5124" name="Picture 4" descr="ROC curve and decision threshold">
            <a:extLst>
              <a:ext uri="{FF2B5EF4-FFF2-40B4-BE49-F238E27FC236}">
                <a16:creationId xmlns:a16="http://schemas.microsoft.com/office/drawing/2014/main" id="{F74F534A-295F-E0D0-628C-A484258B2B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3" t="6686" r="16746"/>
          <a:stretch>
            <a:fillRect/>
          </a:stretch>
        </p:blipFill>
        <p:spPr bwMode="auto">
          <a:xfrm>
            <a:off x="591014" y="3757960"/>
            <a:ext cx="3590694" cy="255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OC curve for a real-world model">
            <a:extLst>
              <a:ext uri="{FF2B5EF4-FFF2-40B4-BE49-F238E27FC236}">
                <a16:creationId xmlns:a16="http://schemas.microsoft.com/office/drawing/2014/main" id="{B7833CF7-3195-06B8-294C-992CF3017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5" r="3550"/>
          <a:stretch>
            <a:fillRect/>
          </a:stretch>
        </p:blipFill>
        <p:spPr bwMode="auto">
          <a:xfrm>
            <a:off x="4572000" y="3668751"/>
            <a:ext cx="4393581" cy="28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Intuitive Meaning of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AUC can be interpreted as:</a:t>
            </a:r>
          </a:p>
          <a:p>
            <a:r>
              <a:rPr sz="2400" dirty="0"/>
              <a:t>Probability that a randomly chosen positive instance has a higher score than a randomly chosen negative instance.</a:t>
            </a:r>
          </a:p>
          <a:p>
            <a:r>
              <a:rPr sz="2400" dirty="0"/>
              <a:t>Formally:</a:t>
            </a:r>
          </a:p>
          <a:p>
            <a:r>
              <a:rPr sz="2400" dirty="0"/>
              <a:t>AUC = P(</a:t>
            </a:r>
            <a:r>
              <a:rPr sz="2400" dirty="0" err="1"/>
              <a:t>score_positive</a:t>
            </a:r>
            <a:r>
              <a:rPr sz="2400" dirty="0"/>
              <a:t> &gt; </a:t>
            </a:r>
            <a:r>
              <a:rPr sz="2400" dirty="0" err="1"/>
              <a:t>score_negative</a:t>
            </a: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Examples of ROC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42" y="2216075"/>
            <a:ext cx="3754050" cy="4058564"/>
          </a:xfrm>
        </p:spPr>
        <p:txBody>
          <a:bodyPr>
            <a:normAutofit/>
          </a:bodyPr>
          <a:lstStyle/>
          <a:p>
            <a:r>
              <a:rPr sz="1800" dirty="0"/>
              <a:t>Perfect model → Curve hugs top-left corner (AUC = 1)</a:t>
            </a:r>
          </a:p>
          <a:p>
            <a:r>
              <a:rPr sz="1800" dirty="0"/>
              <a:t>Good model → Curve bows toward top-left (AUC ≈ 0.8–0.9)</a:t>
            </a:r>
          </a:p>
          <a:p>
            <a:r>
              <a:rPr sz="1800" dirty="0"/>
              <a:t>Random model → Diagonal line (AUC = 0.5)</a:t>
            </a:r>
          </a:p>
          <a:p>
            <a:r>
              <a:rPr sz="1800" dirty="0"/>
              <a:t>Poor model → Below diagonal (AUC &lt; 0.5)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1CA112B-571B-60E5-D132-1C20B6265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591" y="2115532"/>
            <a:ext cx="4915409" cy="389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of Threshold on ROC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Moving the threshold changes how strict the classifier is:</a:t>
            </a:r>
          </a:p>
          <a:p>
            <a:endParaRPr sz="2400" dirty="0"/>
          </a:p>
          <a:p>
            <a:r>
              <a:rPr sz="2400" dirty="0"/>
              <a:t>- High threshold → fewer positives, low TPR, low FPR.</a:t>
            </a:r>
          </a:p>
          <a:p>
            <a:r>
              <a:rPr sz="2400" dirty="0"/>
              <a:t>- Low threshold → more positives, high TPR, high FPR.</a:t>
            </a:r>
          </a:p>
          <a:p>
            <a:endParaRPr sz="2400" dirty="0"/>
          </a:p>
          <a:p>
            <a:r>
              <a:rPr sz="2400" dirty="0"/>
              <a:t>Each threshold corresponds to a different point on the ROC curve.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Models Using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We can compare multiple classifiers:</a:t>
            </a:r>
          </a:p>
          <a:p>
            <a:endParaRPr sz="2400"/>
          </a:p>
          <a:p>
            <a:r>
              <a:rPr sz="2400"/>
              <a:t>- Model A: AUC = 0.95 → Excellent separation.</a:t>
            </a:r>
          </a:p>
          <a:p>
            <a:r>
              <a:rPr sz="2400"/>
              <a:t>- Model B: AUC = 0.70 → Moderate separation.</a:t>
            </a:r>
          </a:p>
          <a:p>
            <a:r>
              <a:rPr sz="2400"/>
              <a:t>- Model C: AUC = 0.50 → No separation.</a:t>
            </a:r>
          </a:p>
          <a:p>
            <a:endParaRPr sz="2400"/>
          </a:p>
          <a:p>
            <a:r>
              <a:rPr sz="2400"/>
              <a:t>The higher the AUC, the better the model is at distinguishing between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• ROC curve shows the trade-off between TPR and FPR.</a:t>
            </a:r>
          </a:p>
          <a:p>
            <a:r>
              <a:rPr sz="2400" dirty="0"/>
              <a:t>• AUC summarizes performance over all thresholds.</a:t>
            </a:r>
          </a:p>
          <a:p>
            <a:r>
              <a:rPr sz="2400" dirty="0"/>
              <a:t>• Higher AUC → better ranking ability.</a:t>
            </a:r>
          </a:p>
          <a:p>
            <a:r>
              <a:rPr sz="2400" dirty="0"/>
              <a:t>• Ideal model: AUC = 1.0, Random: 0.5.</a:t>
            </a:r>
          </a:p>
          <a:p>
            <a:endParaRPr sz="2400" dirty="0"/>
          </a:p>
          <a:p>
            <a:r>
              <a:rPr sz="2400" dirty="0"/>
              <a:t>AUC–ROC is threshold-independent and widely used for comparing classifiers.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010F-D5CA-8433-35E4-19681A8A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E0BBA-2B18-3756-ABAD-8CB557536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400" dirty="0">
                <a:hlinkClick r:id="rId2"/>
              </a:rPr>
              <a:t>https://sefiks.com/2020/12/10/a-gentle-introduction-to-roc-curve-and-auc/</a:t>
            </a:r>
            <a:endParaRPr lang="en-IE" sz="2400" dirty="0"/>
          </a:p>
          <a:p>
            <a:r>
              <a:rPr lang="en-IE" sz="2400" dirty="0">
                <a:hlinkClick r:id="rId3"/>
              </a:rPr>
              <a:t>http://www.navan.name/roc/?ref=dataschool.io</a:t>
            </a:r>
            <a:endParaRPr lang="en-IE" sz="2400" dirty="0"/>
          </a:p>
          <a:p>
            <a:r>
              <a:rPr lang="en-IE" sz="2400" dirty="0">
                <a:hlinkClick r:id="rId4"/>
              </a:rPr>
              <a:t>https://www.datacamp.com/tutorial/auc</a:t>
            </a:r>
            <a:endParaRPr lang="en-IE" sz="2400" dirty="0"/>
          </a:p>
          <a:p>
            <a:r>
              <a:rPr lang="en-IE" sz="2400" dirty="0">
                <a:hlinkClick r:id="rId5"/>
              </a:rPr>
              <a:t>https://www.evidentlyai.com/classification-metrics/explain-roc-curve</a:t>
            </a:r>
            <a:endParaRPr lang="en-IE" sz="2400" dirty="0"/>
          </a:p>
          <a:p>
            <a:endParaRPr lang="en-IE" sz="2400" dirty="0"/>
          </a:p>
          <a:p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57041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642</Words>
  <Application>Microsoft Macintosh PowerPoint</Application>
  <PresentationFormat>On-screen Show (4:3)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Understanding the  AUC–ROC Curve</vt:lpstr>
      <vt:lpstr>Why AUC–ROC?</vt:lpstr>
      <vt:lpstr>Binary Classification Example</vt:lpstr>
      <vt:lpstr>Thresholds and the Confusion Matrix</vt:lpstr>
      <vt:lpstr>The ROC Curve</vt:lpstr>
      <vt:lpstr>Area Under the Curve (AUC)</vt:lpstr>
      <vt:lpstr>Area Under the Curve (AUC)</vt:lpstr>
      <vt:lpstr>Intuitive Meaning of AUC</vt:lpstr>
      <vt:lpstr>Visual Examples of ROC Curves</vt:lpstr>
      <vt:lpstr>Effect of Threshold on ROC</vt:lpstr>
      <vt:lpstr>Comparing Models Using AUC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Miralles</cp:lastModifiedBy>
  <cp:revision>3</cp:revision>
  <dcterms:created xsi:type="dcterms:W3CDTF">2013-01-27T09:14:16Z</dcterms:created>
  <dcterms:modified xsi:type="dcterms:W3CDTF">2025-11-11T11:39:01Z</dcterms:modified>
  <cp:category/>
</cp:coreProperties>
</file>