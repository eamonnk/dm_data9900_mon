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4512" r:id="rId1"/>
  </p:sldMasterIdLst>
  <p:notesMasterIdLst>
    <p:notesMasterId r:id="rId127"/>
  </p:notesMasterIdLst>
  <p:sldIdLst>
    <p:sldId id="256" r:id="rId2"/>
    <p:sldId id="563" r:id="rId3"/>
    <p:sldId id="568" r:id="rId4"/>
    <p:sldId id="569" r:id="rId5"/>
    <p:sldId id="570" r:id="rId6"/>
    <p:sldId id="571" r:id="rId7"/>
    <p:sldId id="572" r:id="rId8"/>
    <p:sldId id="600" r:id="rId9"/>
    <p:sldId id="573" r:id="rId10"/>
    <p:sldId id="574" r:id="rId11"/>
    <p:sldId id="575" r:id="rId12"/>
    <p:sldId id="576" r:id="rId13"/>
    <p:sldId id="577" r:id="rId14"/>
    <p:sldId id="578" r:id="rId15"/>
    <p:sldId id="579" r:id="rId16"/>
    <p:sldId id="580" r:id="rId17"/>
    <p:sldId id="581" r:id="rId18"/>
    <p:sldId id="582" r:id="rId19"/>
    <p:sldId id="583" r:id="rId20"/>
    <p:sldId id="584" r:id="rId21"/>
    <p:sldId id="585" r:id="rId22"/>
    <p:sldId id="586" r:id="rId23"/>
    <p:sldId id="588" r:id="rId24"/>
    <p:sldId id="589" r:id="rId25"/>
    <p:sldId id="613" r:id="rId26"/>
    <p:sldId id="614" r:id="rId27"/>
    <p:sldId id="590" r:id="rId28"/>
    <p:sldId id="591" r:id="rId29"/>
    <p:sldId id="592" r:id="rId30"/>
    <p:sldId id="593" r:id="rId31"/>
    <p:sldId id="594" r:id="rId32"/>
    <p:sldId id="595" r:id="rId33"/>
    <p:sldId id="599" r:id="rId34"/>
    <p:sldId id="603" r:id="rId35"/>
    <p:sldId id="604" r:id="rId36"/>
    <p:sldId id="598" r:id="rId37"/>
    <p:sldId id="481" r:id="rId38"/>
    <p:sldId id="509" r:id="rId39"/>
    <p:sldId id="482" r:id="rId40"/>
    <p:sldId id="610" r:id="rId41"/>
    <p:sldId id="544" r:id="rId42"/>
    <p:sldId id="501" r:id="rId43"/>
    <p:sldId id="502" r:id="rId44"/>
    <p:sldId id="483" r:id="rId45"/>
    <p:sldId id="532" r:id="rId46"/>
    <p:sldId id="499" r:id="rId47"/>
    <p:sldId id="504" r:id="rId48"/>
    <p:sldId id="704" r:id="rId49"/>
    <p:sldId id="708" r:id="rId50"/>
    <p:sldId id="545" r:id="rId51"/>
    <p:sldId id="715" r:id="rId52"/>
    <p:sldId id="716" r:id="rId53"/>
    <p:sldId id="714" r:id="rId54"/>
    <p:sldId id="718" r:id="rId55"/>
    <p:sldId id="485" r:id="rId56"/>
    <p:sldId id="512" r:id="rId57"/>
    <p:sldId id="487" r:id="rId58"/>
    <p:sldId id="533" r:id="rId59"/>
    <p:sldId id="513" r:id="rId60"/>
    <p:sldId id="489" r:id="rId61"/>
    <p:sldId id="488" r:id="rId62"/>
    <p:sldId id="490" r:id="rId63"/>
    <p:sldId id="491" r:id="rId64"/>
    <p:sldId id="493" r:id="rId65"/>
    <p:sldId id="494" r:id="rId66"/>
    <p:sldId id="721" r:id="rId67"/>
    <p:sldId id="722" r:id="rId68"/>
    <p:sldId id="706" r:id="rId69"/>
    <p:sldId id="536" r:id="rId70"/>
    <p:sldId id="535" r:id="rId71"/>
    <p:sldId id="534" r:id="rId72"/>
    <p:sldId id="707" r:id="rId73"/>
    <p:sldId id="492" r:id="rId74"/>
    <p:sldId id="516" r:id="rId75"/>
    <p:sldId id="508" r:id="rId76"/>
    <p:sldId id="661" r:id="rId77"/>
    <p:sldId id="662" r:id="rId78"/>
    <p:sldId id="660" r:id="rId79"/>
    <p:sldId id="517" r:id="rId80"/>
    <p:sldId id="515" r:id="rId81"/>
    <p:sldId id="500" r:id="rId82"/>
    <p:sldId id="520" r:id="rId83"/>
    <p:sldId id="521" r:id="rId84"/>
    <p:sldId id="522" r:id="rId85"/>
    <p:sldId id="523" r:id="rId86"/>
    <p:sldId id="524" r:id="rId87"/>
    <p:sldId id="526" r:id="rId88"/>
    <p:sldId id="709" r:id="rId89"/>
    <p:sldId id="527" r:id="rId90"/>
    <p:sldId id="541" r:id="rId91"/>
    <p:sldId id="710" r:id="rId92"/>
    <p:sldId id="530" r:id="rId93"/>
    <p:sldId id="712" r:id="rId94"/>
    <p:sldId id="542" r:id="rId95"/>
    <p:sldId id="711" r:id="rId96"/>
    <p:sldId id="529" r:id="rId97"/>
    <p:sldId id="717" r:id="rId98"/>
    <p:sldId id="702" r:id="rId99"/>
    <p:sldId id="690" r:id="rId100"/>
    <p:sldId id="693" r:id="rId101"/>
    <p:sldId id="694" r:id="rId102"/>
    <p:sldId id="691" r:id="rId103"/>
    <p:sldId id="692" r:id="rId104"/>
    <p:sldId id="703" r:id="rId105"/>
    <p:sldId id="697" r:id="rId106"/>
    <p:sldId id="695" r:id="rId107"/>
    <p:sldId id="696" r:id="rId108"/>
    <p:sldId id="699" r:id="rId109"/>
    <p:sldId id="698" r:id="rId110"/>
    <p:sldId id="700" r:id="rId111"/>
    <p:sldId id="701" r:id="rId112"/>
    <p:sldId id="605" r:id="rId113"/>
    <p:sldId id="680" r:id="rId114"/>
    <p:sldId id="507" r:id="rId115"/>
    <p:sldId id="679" r:id="rId116"/>
    <p:sldId id="681" r:id="rId117"/>
    <p:sldId id="682" r:id="rId118"/>
    <p:sldId id="683" r:id="rId119"/>
    <p:sldId id="684" r:id="rId120"/>
    <p:sldId id="685" r:id="rId121"/>
    <p:sldId id="686" r:id="rId122"/>
    <p:sldId id="687" r:id="rId123"/>
    <p:sldId id="688" r:id="rId124"/>
    <p:sldId id="689" r:id="rId125"/>
    <p:sldId id="713" r:id="rId1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05" d="100"/>
          <a:sy n="105" d="100"/>
        </p:scale>
        <p:origin x="216" y="672"/>
      </p:cViewPr>
      <p:guideLst/>
    </p:cSldViewPr>
  </p:slideViewPr>
  <p:notesTextViewPr>
    <p:cViewPr>
      <p:scale>
        <a:sx n="1" d="1"/>
        <a:sy n="1" d="1"/>
      </p:scale>
      <p:origin x="0" y="0"/>
    </p:cViewPr>
  </p:notesTextViewPr>
  <p:sorterViewPr>
    <p:cViewPr>
      <p:scale>
        <a:sx n="194" d="100"/>
        <a:sy n="194" d="100"/>
      </p:scale>
      <p:origin x="0" y="-6810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5E615A-E721-4F89-BEE8-5212927120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endParaRPr lang="ar-EG"/>
          </a:p>
        </p:txBody>
      </p:sp>
      <p:sp>
        <p:nvSpPr>
          <p:cNvPr id="3" name="Date Placeholder 2">
            <a:extLst>
              <a:ext uri="{FF2B5EF4-FFF2-40B4-BE49-F238E27FC236}">
                <a16:creationId xmlns:a16="http://schemas.microsoft.com/office/drawing/2014/main" id="{B75FD7A9-67C4-4B11-985E-539F2B65210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fld id="{2C57352A-DDB2-C34B-B42D-CBA609626EE1}" type="datetimeFigureOut">
              <a:rPr lang="ar-EG"/>
              <a:pPr>
                <a:defRPr/>
              </a:pPr>
              <a:t>20‏/5‏/1446</a:t>
            </a:fld>
            <a:endParaRPr lang="ar-EG"/>
          </a:p>
        </p:txBody>
      </p:sp>
      <p:sp>
        <p:nvSpPr>
          <p:cNvPr id="4" name="Slide Image Placeholder 3">
            <a:extLst>
              <a:ext uri="{FF2B5EF4-FFF2-40B4-BE49-F238E27FC236}">
                <a16:creationId xmlns:a16="http://schemas.microsoft.com/office/drawing/2014/main" id="{ED35B723-36B6-47F9-A852-83422BFC68F6}"/>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ar-EG" noProof="0"/>
          </a:p>
        </p:txBody>
      </p:sp>
      <p:sp>
        <p:nvSpPr>
          <p:cNvPr id="5" name="Notes Placeholder 4">
            <a:extLst>
              <a:ext uri="{FF2B5EF4-FFF2-40B4-BE49-F238E27FC236}">
                <a16:creationId xmlns:a16="http://schemas.microsoft.com/office/drawing/2014/main" id="{FE6A0D8C-9DFC-4298-BCFE-D988904EDE79}"/>
              </a:ext>
            </a:extLst>
          </p:cNvPr>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prstTxWarp prst="textNoShape">
              <a:avLst/>
            </a:prstTxWarp>
          </a:bodyPr>
          <a:lstStyle/>
          <a:p>
            <a:pPr lvl="0"/>
            <a:r>
              <a:rPr lang="en-US" altLang="ar-EG" noProof="0"/>
              <a:t>Edit Master text styles</a:t>
            </a:r>
          </a:p>
          <a:p>
            <a:pPr lvl="1"/>
            <a:r>
              <a:rPr lang="en-US" altLang="ar-EG" noProof="0"/>
              <a:t>Second level</a:t>
            </a:r>
          </a:p>
          <a:p>
            <a:pPr lvl="2"/>
            <a:r>
              <a:rPr lang="en-US" altLang="ar-EG" noProof="0"/>
              <a:t>Third level</a:t>
            </a:r>
          </a:p>
          <a:p>
            <a:pPr lvl="3"/>
            <a:r>
              <a:rPr lang="en-US" altLang="ar-EG" noProof="0"/>
              <a:t>Fourth level</a:t>
            </a:r>
          </a:p>
          <a:p>
            <a:pPr lvl="4"/>
            <a:r>
              <a:rPr lang="en-US" altLang="ar-EG" noProof="0"/>
              <a:t>Fifth level</a:t>
            </a:r>
          </a:p>
        </p:txBody>
      </p:sp>
      <p:sp>
        <p:nvSpPr>
          <p:cNvPr id="6" name="Footer Placeholder 5">
            <a:extLst>
              <a:ext uri="{FF2B5EF4-FFF2-40B4-BE49-F238E27FC236}">
                <a16:creationId xmlns:a16="http://schemas.microsoft.com/office/drawing/2014/main" id="{29FE0C23-CA09-4442-ACC6-72824EA0289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endParaRPr lang="ar-EG"/>
          </a:p>
        </p:txBody>
      </p:sp>
      <p:sp>
        <p:nvSpPr>
          <p:cNvPr id="7" name="Slide Number Placeholder 6">
            <a:extLst>
              <a:ext uri="{FF2B5EF4-FFF2-40B4-BE49-F238E27FC236}">
                <a16:creationId xmlns:a16="http://schemas.microsoft.com/office/drawing/2014/main" id="{35D5B1A6-D7DE-4DAA-B311-54C402830DF9}"/>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anose="020F0502020204030204" pitchFamily="34" charset="0"/>
              </a:defRPr>
            </a:lvl1pPr>
          </a:lstStyle>
          <a:p>
            <a:fld id="{563C52BA-7AD5-2E49-B83F-4DB9DE8C934F}" type="slidenum">
              <a:rPr lang="ar-EG" altLang="en-US"/>
              <a:pPr/>
              <a:t>‹#›</a:t>
            </a:fld>
            <a:endParaRPr lang="ar-EG"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GB"/>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pPr>
              <a:defRPr/>
            </a:pPr>
            <a:fld id="{77053F0D-ECCC-8C44-BF2F-CF6B0C5F71F7}" type="datetimeFigureOut">
              <a:rPr lang="ar-EG" smtClean="0"/>
              <a:pPr>
                <a:defRPr/>
              </a:pPr>
              <a:t>20‏/5‏/1446</a:t>
            </a:fld>
            <a:endParaRPr lang="ar-EG"/>
          </a:p>
        </p:txBody>
      </p:sp>
      <p:sp>
        <p:nvSpPr>
          <p:cNvPr id="5" name="Footer Placeholder 4"/>
          <p:cNvSpPr>
            <a:spLocks noGrp="1"/>
          </p:cNvSpPr>
          <p:nvPr>
            <p:ph type="ftr" sz="quarter" idx="11"/>
          </p:nvPr>
        </p:nvSpPr>
        <p:spPr>
          <a:xfrm>
            <a:off x="1371600" y="4323845"/>
            <a:ext cx="6400800" cy="365125"/>
          </a:xfrm>
        </p:spPr>
        <p:txBody>
          <a:bodyPr/>
          <a:lstStyle/>
          <a:p>
            <a:pPr>
              <a:defRPr/>
            </a:pPr>
            <a:endParaRPr lang="ar-EG"/>
          </a:p>
        </p:txBody>
      </p:sp>
      <p:sp>
        <p:nvSpPr>
          <p:cNvPr id="6" name="Slide Number Placeholder 5"/>
          <p:cNvSpPr>
            <a:spLocks noGrp="1"/>
          </p:cNvSpPr>
          <p:nvPr>
            <p:ph type="sldNum" sz="quarter" idx="12"/>
          </p:nvPr>
        </p:nvSpPr>
        <p:spPr>
          <a:xfrm>
            <a:off x="8077200" y="1430866"/>
            <a:ext cx="2743200" cy="365125"/>
          </a:xfrm>
        </p:spPr>
        <p:txBody>
          <a:bodyPr/>
          <a:lstStyle/>
          <a:p>
            <a:fld id="{04E662D9-FBCF-A040-8071-E39B0D84C995}" type="slidenum">
              <a:rPr lang="ar-EG" altLang="en-US" smtClean="0"/>
              <a:pPr/>
              <a:t>‹#›</a:t>
            </a:fld>
            <a:endParaRPr lang="ar-EG" altLang="en-US"/>
          </a:p>
        </p:txBody>
      </p:sp>
    </p:spTree>
    <p:extLst>
      <p:ext uri="{BB962C8B-B14F-4D97-AF65-F5344CB8AC3E}">
        <p14:creationId xmlns:p14="http://schemas.microsoft.com/office/powerpoint/2010/main" val="613581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0816FD1E-140A-0B44-9849-33E6FBF0D7B4}" type="datetimeFigureOut">
              <a:rPr lang="ar-EG" smtClean="0"/>
              <a:pPr>
                <a:defRPr/>
              </a:pPr>
              <a:t>20‏/5‏/1446</a:t>
            </a:fld>
            <a:endParaRPr lang="ar-EG"/>
          </a:p>
        </p:txBody>
      </p:sp>
      <p:sp>
        <p:nvSpPr>
          <p:cNvPr id="5" name="Footer Placeholder 4"/>
          <p:cNvSpPr>
            <a:spLocks noGrp="1"/>
          </p:cNvSpPr>
          <p:nvPr>
            <p:ph type="ftr" sz="quarter" idx="11"/>
          </p:nvPr>
        </p:nvSpPr>
        <p:spPr/>
        <p:txBody>
          <a:bodyPr/>
          <a:lstStyle/>
          <a:p>
            <a:pPr>
              <a:defRPr/>
            </a:pPr>
            <a:endParaRPr lang="ar-EG"/>
          </a:p>
        </p:txBody>
      </p:sp>
      <p:sp>
        <p:nvSpPr>
          <p:cNvPr id="6" name="Slide Number Placeholder 5"/>
          <p:cNvSpPr>
            <a:spLocks noGrp="1"/>
          </p:cNvSpPr>
          <p:nvPr>
            <p:ph type="sldNum" sz="quarter" idx="12"/>
          </p:nvPr>
        </p:nvSpPr>
        <p:spPr/>
        <p:txBody>
          <a:bodyPr/>
          <a:lstStyle/>
          <a:p>
            <a:fld id="{0B0F9C4B-CE77-C84C-94C0-1FBB49EA5EDB}" type="slidenum">
              <a:rPr lang="ar-EG" altLang="en-US" smtClean="0"/>
              <a:pPr/>
              <a:t>‹#›</a:t>
            </a:fld>
            <a:endParaRPr lang="ar-EG" altLang="en-US"/>
          </a:p>
        </p:txBody>
      </p:sp>
    </p:spTree>
    <p:extLst>
      <p:ext uri="{BB962C8B-B14F-4D97-AF65-F5344CB8AC3E}">
        <p14:creationId xmlns:p14="http://schemas.microsoft.com/office/powerpoint/2010/main" val="3494046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GB"/>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pPr>
              <a:defRPr/>
            </a:pPr>
            <a:fld id="{F2328A50-0505-DC48-BFFE-8E2FF93CFAEF}" type="datetimeFigureOut">
              <a:rPr lang="ar-EG" smtClean="0"/>
              <a:pPr>
                <a:defRPr/>
              </a:pPr>
              <a:t>20‏/5‏/1446</a:t>
            </a:fld>
            <a:endParaRPr lang="ar-EG"/>
          </a:p>
        </p:txBody>
      </p:sp>
      <p:sp>
        <p:nvSpPr>
          <p:cNvPr id="5" name="Footer Placeholder 4"/>
          <p:cNvSpPr>
            <a:spLocks noGrp="1"/>
          </p:cNvSpPr>
          <p:nvPr>
            <p:ph type="ftr" sz="quarter" idx="11"/>
          </p:nvPr>
        </p:nvSpPr>
        <p:spPr>
          <a:xfrm>
            <a:off x="685800" y="381001"/>
            <a:ext cx="6991492" cy="364065"/>
          </a:xfrm>
        </p:spPr>
        <p:txBody>
          <a:bodyPr/>
          <a:lstStyle/>
          <a:p>
            <a:pPr>
              <a:defRPr/>
            </a:pPr>
            <a:endParaRPr lang="ar-EG"/>
          </a:p>
        </p:txBody>
      </p:sp>
      <p:sp>
        <p:nvSpPr>
          <p:cNvPr id="6" name="Slide Number Placeholder 5"/>
          <p:cNvSpPr>
            <a:spLocks noGrp="1"/>
          </p:cNvSpPr>
          <p:nvPr>
            <p:ph type="sldNum" sz="quarter" idx="12"/>
          </p:nvPr>
        </p:nvSpPr>
        <p:spPr>
          <a:xfrm>
            <a:off x="10862452" y="381000"/>
            <a:ext cx="643748" cy="365125"/>
          </a:xfrm>
        </p:spPr>
        <p:txBody>
          <a:bodyPr/>
          <a:lstStyle/>
          <a:p>
            <a:fld id="{2CA3FAB3-1B18-E843-AE2E-A35857FC6782}" type="slidenum">
              <a:rPr lang="ar-EG" altLang="en-US" smtClean="0"/>
              <a:pPr/>
              <a:t>‹#›</a:t>
            </a:fld>
            <a:endParaRPr lang="ar-EG" altLang="en-US"/>
          </a:p>
        </p:txBody>
      </p:sp>
    </p:spTree>
    <p:extLst>
      <p:ext uri="{BB962C8B-B14F-4D97-AF65-F5344CB8AC3E}">
        <p14:creationId xmlns:p14="http://schemas.microsoft.com/office/powerpoint/2010/main" val="1851784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pPr>
              <a:defRPr/>
            </a:pPr>
            <a:fld id="{A204AD3C-7DDB-2E49-9D48-557320A6D502}" type="datetimeFigureOut">
              <a:rPr lang="ar-EG" smtClean="0"/>
              <a:pPr>
                <a:defRPr/>
              </a:pPr>
              <a:t>20‏/5‏/1446</a:t>
            </a:fld>
            <a:endParaRPr lang="ar-EG"/>
          </a:p>
        </p:txBody>
      </p:sp>
      <p:sp>
        <p:nvSpPr>
          <p:cNvPr id="6" name="Footer Placeholder 5"/>
          <p:cNvSpPr>
            <a:spLocks noGrp="1"/>
          </p:cNvSpPr>
          <p:nvPr>
            <p:ph type="ftr" sz="quarter" idx="11"/>
          </p:nvPr>
        </p:nvSpPr>
        <p:spPr/>
        <p:txBody>
          <a:bodyPr/>
          <a:lstStyle/>
          <a:p>
            <a:pPr>
              <a:defRPr/>
            </a:pPr>
            <a:endParaRPr lang="ar-EG"/>
          </a:p>
        </p:txBody>
      </p:sp>
      <p:sp>
        <p:nvSpPr>
          <p:cNvPr id="7" name="Slide Number Placeholder 6"/>
          <p:cNvSpPr>
            <a:spLocks noGrp="1"/>
          </p:cNvSpPr>
          <p:nvPr>
            <p:ph type="sldNum" sz="quarter" idx="12"/>
          </p:nvPr>
        </p:nvSpPr>
        <p:spPr/>
        <p:txBody>
          <a:bodyPr/>
          <a:lstStyle/>
          <a:p>
            <a:fld id="{57444F81-6457-6F46-A455-3F309E83155B}" type="slidenum">
              <a:rPr lang="ar-EG" altLang="en-US" smtClean="0"/>
              <a:pPr/>
              <a:t>‹#›</a:t>
            </a:fld>
            <a:endParaRPr lang="ar-EG" altLang="en-US"/>
          </a:p>
        </p:txBody>
      </p:sp>
    </p:spTree>
    <p:extLst>
      <p:ext uri="{BB962C8B-B14F-4D97-AF65-F5344CB8AC3E}">
        <p14:creationId xmlns:p14="http://schemas.microsoft.com/office/powerpoint/2010/main" val="2465424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GB"/>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pPr>
              <a:defRPr/>
            </a:pPr>
            <a:fld id="{E908E9F3-F076-524E-935A-F06F67033FCE}" type="datetimeFigureOut">
              <a:rPr lang="ar-EG" smtClean="0"/>
              <a:pPr>
                <a:defRPr/>
              </a:pPr>
              <a:t>20‏/5‏/1446</a:t>
            </a:fld>
            <a:endParaRPr lang="ar-EG"/>
          </a:p>
        </p:txBody>
      </p:sp>
      <p:sp>
        <p:nvSpPr>
          <p:cNvPr id="8" name="Footer Placeholder 7"/>
          <p:cNvSpPr>
            <a:spLocks noGrp="1"/>
          </p:cNvSpPr>
          <p:nvPr>
            <p:ph type="ftr" sz="quarter" idx="11"/>
          </p:nvPr>
        </p:nvSpPr>
        <p:spPr/>
        <p:txBody>
          <a:bodyPr/>
          <a:lstStyle/>
          <a:p>
            <a:pPr>
              <a:defRPr/>
            </a:pPr>
            <a:endParaRPr lang="ar-EG"/>
          </a:p>
        </p:txBody>
      </p:sp>
      <p:sp>
        <p:nvSpPr>
          <p:cNvPr id="9" name="Slide Number Placeholder 8"/>
          <p:cNvSpPr>
            <a:spLocks noGrp="1"/>
          </p:cNvSpPr>
          <p:nvPr>
            <p:ph type="sldNum" sz="quarter" idx="12"/>
          </p:nvPr>
        </p:nvSpPr>
        <p:spPr/>
        <p:txBody>
          <a:bodyPr/>
          <a:lstStyle/>
          <a:p>
            <a:fld id="{087664E4-FC13-5144-899F-817281F0C7B6}" type="slidenum">
              <a:rPr lang="ar-EG" altLang="en-US" smtClean="0"/>
              <a:pPr/>
              <a:t>‹#›</a:t>
            </a:fld>
            <a:endParaRPr lang="ar-EG" altLang="en-US"/>
          </a:p>
        </p:txBody>
      </p:sp>
    </p:spTree>
    <p:extLst>
      <p:ext uri="{BB962C8B-B14F-4D97-AF65-F5344CB8AC3E}">
        <p14:creationId xmlns:p14="http://schemas.microsoft.com/office/powerpoint/2010/main" val="2572300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pPr>
              <a:defRPr/>
            </a:pPr>
            <a:fld id="{1B89924A-5699-A04D-ADD0-14859C18E869}" type="datetimeFigureOut">
              <a:rPr lang="ar-EG" smtClean="0"/>
              <a:pPr>
                <a:defRPr/>
              </a:pPr>
              <a:t>20‏/5‏/1446</a:t>
            </a:fld>
            <a:endParaRPr lang="ar-EG"/>
          </a:p>
        </p:txBody>
      </p:sp>
      <p:sp>
        <p:nvSpPr>
          <p:cNvPr id="4" name="Footer Placeholder 3"/>
          <p:cNvSpPr>
            <a:spLocks noGrp="1"/>
          </p:cNvSpPr>
          <p:nvPr>
            <p:ph type="ftr" sz="quarter" idx="11"/>
          </p:nvPr>
        </p:nvSpPr>
        <p:spPr/>
        <p:txBody>
          <a:bodyPr/>
          <a:lstStyle/>
          <a:p>
            <a:pPr>
              <a:defRPr/>
            </a:pPr>
            <a:endParaRPr lang="ar-EG"/>
          </a:p>
        </p:txBody>
      </p:sp>
      <p:sp>
        <p:nvSpPr>
          <p:cNvPr id="5" name="Slide Number Placeholder 4"/>
          <p:cNvSpPr>
            <a:spLocks noGrp="1"/>
          </p:cNvSpPr>
          <p:nvPr>
            <p:ph type="sldNum" sz="quarter" idx="12"/>
          </p:nvPr>
        </p:nvSpPr>
        <p:spPr/>
        <p:txBody>
          <a:bodyPr/>
          <a:lstStyle/>
          <a:p>
            <a:fld id="{05EF6DA7-9E9E-1248-8B38-F7449FEF0A9B}" type="slidenum">
              <a:rPr lang="ar-EG" altLang="en-US" smtClean="0"/>
              <a:pPr/>
              <a:t>‹#›</a:t>
            </a:fld>
            <a:endParaRPr lang="ar-EG" altLang="en-US"/>
          </a:p>
        </p:txBody>
      </p:sp>
    </p:spTree>
    <p:extLst>
      <p:ext uri="{BB962C8B-B14F-4D97-AF65-F5344CB8AC3E}">
        <p14:creationId xmlns:p14="http://schemas.microsoft.com/office/powerpoint/2010/main" val="4201213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A81DDD4-F929-894D-AD16-5162360C154D}" type="datetimeFigureOut">
              <a:rPr lang="ar-EG" smtClean="0"/>
              <a:pPr>
                <a:defRPr/>
              </a:pPr>
              <a:t>20‏/5‏/1446</a:t>
            </a:fld>
            <a:endParaRPr lang="ar-EG"/>
          </a:p>
        </p:txBody>
      </p:sp>
      <p:sp>
        <p:nvSpPr>
          <p:cNvPr id="3" name="Footer Placeholder 2"/>
          <p:cNvSpPr>
            <a:spLocks noGrp="1"/>
          </p:cNvSpPr>
          <p:nvPr>
            <p:ph type="ftr" sz="quarter" idx="11"/>
          </p:nvPr>
        </p:nvSpPr>
        <p:spPr/>
        <p:txBody>
          <a:bodyPr/>
          <a:lstStyle/>
          <a:p>
            <a:pPr>
              <a:defRPr/>
            </a:pPr>
            <a:endParaRPr lang="ar-EG"/>
          </a:p>
        </p:txBody>
      </p:sp>
      <p:sp>
        <p:nvSpPr>
          <p:cNvPr id="4" name="Slide Number Placeholder 3"/>
          <p:cNvSpPr>
            <a:spLocks noGrp="1"/>
          </p:cNvSpPr>
          <p:nvPr>
            <p:ph type="sldNum" sz="quarter" idx="12"/>
          </p:nvPr>
        </p:nvSpPr>
        <p:spPr/>
        <p:txBody>
          <a:bodyPr/>
          <a:lstStyle/>
          <a:p>
            <a:fld id="{8009465A-91A9-FD43-A8B0-9269156F0257}" type="slidenum">
              <a:rPr lang="ar-EG" altLang="en-US" smtClean="0"/>
              <a:pPr/>
              <a:t>‹#›</a:t>
            </a:fld>
            <a:endParaRPr lang="ar-EG" altLang="en-US"/>
          </a:p>
        </p:txBody>
      </p:sp>
    </p:spTree>
    <p:extLst>
      <p:ext uri="{BB962C8B-B14F-4D97-AF65-F5344CB8AC3E}">
        <p14:creationId xmlns:p14="http://schemas.microsoft.com/office/powerpoint/2010/main" val="2384335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GB"/>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8DA1181A-D55B-784F-88A5-D4FD358C655A}" type="datetimeFigureOut">
              <a:rPr lang="ar-EG" smtClean="0"/>
              <a:pPr>
                <a:defRPr/>
              </a:pPr>
              <a:t>20‏/5‏/1446</a:t>
            </a:fld>
            <a:endParaRPr lang="ar-EG"/>
          </a:p>
        </p:txBody>
      </p:sp>
      <p:sp>
        <p:nvSpPr>
          <p:cNvPr id="6" name="Footer Placeholder 5"/>
          <p:cNvSpPr>
            <a:spLocks noGrp="1"/>
          </p:cNvSpPr>
          <p:nvPr>
            <p:ph type="ftr" sz="quarter" idx="11"/>
          </p:nvPr>
        </p:nvSpPr>
        <p:spPr/>
        <p:txBody>
          <a:bodyPr/>
          <a:lstStyle/>
          <a:p>
            <a:pPr>
              <a:defRPr/>
            </a:pPr>
            <a:endParaRPr lang="ar-EG"/>
          </a:p>
        </p:txBody>
      </p:sp>
      <p:sp>
        <p:nvSpPr>
          <p:cNvPr id="7" name="Slide Number Placeholder 6"/>
          <p:cNvSpPr>
            <a:spLocks noGrp="1"/>
          </p:cNvSpPr>
          <p:nvPr>
            <p:ph type="sldNum" sz="quarter" idx="12"/>
          </p:nvPr>
        </p:nvSpPr>
        <p:spPr/>
        <p:txBody>
          <a:bodyPr/>
          <a:lstStyle/>
          <a:p>
            <a:fld id="{0CD8D38F-F67B-DD4E-AA5D-C8DA7B4FB1AC}" type="slidenum">
              <a:rPr lang="ar-EG" altLang="en-US" smtClean="0"/>
              <a:pPr/>
              <a:t>‹#›</a:t>
            </a:fld>
            <a:endParaRPr lang="ar-EG" altLang="en-US"/>
          </a:p>
        </p:txBody>
      </p:sp>
    </p:spTree>
    <p:extLst>
      <p:ext uri="{BB962C8B-B14F-4D97-AF65-F5344CB8AC3E}">
        <p14:creationId xmlns:p14="http://schemas.microsoft.com/office/powerpoint/2010/main" val="3398751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E1CEF2D1-EE09-E841-BF5F-7FE1BFAFB276}" type="datetimeFigureOut">
              <a:rPr lang="ar-EG" smtClean="0"/>
              <a:pPr>
                <a:defRPr/>
              </a:pPr>
              <a:t>20‏/5‏/1446</a:t>
            </a:fld>
            <a:endParaRPr lang="ar-EG"/>
          </a:p>
        </p:txBody>
      </p:sp>
      <p:sp>
        <p:nvSpPr>
          <p:cNvPr id="6" name="Footer Placeholder 5"/>
          <p:cNvSpPr>
            <a:spLocks noGrp="1"/>
          </p:cNvSpPr>
          <p:nvPr>
            <p:ph type="ftr" sz="quarter" idx="11"/>
          </p:nvPr>
        </p:nvSpPr>
        <p:spPr/>
        <p:txBody>
          <a:bodyPr/>
          <a:lstStyle/>
          <a:p>
            <a:pPr>
              <a:defRPr/>
            </a:pPr>
            <a:endParaRPr lang="ar-EG"/>
          </a:p>
        </p:txBody>
      </p:sp>
      <p:sp>
        <p:nvSpPr>
          <p:cNvPr id="7" name="Slide Number Placeholder 6"/>
          <p:cNvSpPr>
            <a:spLocks noGrp="1"/>
          </p:cNvSpPr>
          <p:nvPr>
            <p:ph type="sldNum" sz="quarter" idx="12"/>
          </p:nvPr>
        </p:nvSpPr>
        <p:spPr/>
        <p:txBody>
          <a:bodyPr/>
          <a:lstStyle/>
          <a:p>
            <a:fld id="{44280901-10EA-F340-A42D-81454E52ED1D}" type="slidenum">
              <a:rPr lang="ar-EG" altLang="en-US" smtClean="0"/>
              <a:pPr/>
              <a:t>‹#›</a:t>
            </a:fld>
            <a:endParaRPr lang="ar-EG" altLang="en-US"/>
          </a:p>
        </p:txBody>
      </p:sp>
    </p:spTree>
    <p:extLst>
      <p:ext uri="{BB962C8B-B14F-4D97-AF65-F5344CB8AC3E}">
        <p14:creationId xmlns:p14="http://schemas.microsoft.com/office/powerpoint/2010/main" val="2423909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B1ABE8FF-F222-C543-B520-D3A66937B5B5}" type="datetimeFigureOut">
              <a:rPr lang="ar-EG" smtClean="0"/>
              <a:pPr>
                <a:defRPr/>
              </a:pPr>
              <a:t>20‏/5‏/1446</a:t>
            </a:fld>
            <a:endParaRPr lang="ar-EG"/>
          </a:p>
        </p:txBody>
      </p:sp>
      <p:sp>
        <p:nvSpPr>
          <p:cNvPr id="6" name="Footer Placeholder 5"/>
          <p:cNvSpPr>
            <a:spLocks noGrp="1"/>
          </p:cNvSpPr>
          <p:nvPr>
            <p:ph type="ftr" sz="quarter" idx="11"/>
          </p:nvPr>
        </p:nvSpPr>
        <p:spPr/>
        <p:txBody>
          <a:bodyPr/>
          <a:lstStyle/>
          <a:p>
            <a:pPr>
              <a:defRPr/>
            </a:pPr>
            <a:endParaRPr lang="ar-EG"/>
          </a:p>
        </p:txBody>
      </p:sp>
      <p:sp>
        <p:nvSpPr>
          <p:cNvPr id="7" name="Slide Number Placeholder 6"/>
          <p:cNvSpPr>
            <a:spLocks noGrp="1"/>
          </p:cNvSpPr>
          <p:nvPr>
            <p:ph type="sldNum" sz="quarter" idx="12"/>
          </p:nvPr>
        </p:nvSpPr>
        <p:spPr/>
        <p:txBody>
          <a:bodyPr/>
          <a:lstStyle/>
          <a:p>
            <a:fld id="{055F3382-7328-D845-BAED-6DD77696F39D}" type="slidenum">
              <a:rPr lang="ar-EG" altLang="en-US" smtClean="0"/>
              <a:pPr/>
              <a:t>‹#›</a:t>
            </a:fld>
            <a:endParaRPr lang="ar-EG" altLang="en-US"/>
          </a:p>
        </p:txBody>
      </p:sp>
    </p:spTree>
    <p:extLst>
      <p:ext uri="{BB962C8B-B14F-4D97-AF65-F5344CB8AC3E}">
        <p14:creationId xmlns:p14="http://schemas.microsoft.com/office/powerpoint/2010/main" val="515050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pPr>
              <a:defRPr/>
            </a:pPr>
            <a:fld id="{B1ABE8FF-F222-C543-B520-D3A66937B5B5}" type="datetimeFigureOut">
              <a:rPr lang="ar-EG" smtClean="0"/>
              <a:pPr>
                <a:defRPr/>
              </a:pPr>
              <a:t>20‏/5‏/1446</a:t>
            </a:fld>
            <a:endParaRPr lang="ar-EG"/>
          </a:p>
        </p:txBody>
      </p:sp>
      <p:sp>
        <p:nvSpPr>
          <p:cNvPr id="6" name="Footer Placeholder 5"/>
          <p:cNvSpPr>
            <a:spLocks noGrp="1"/>
          </p:cNvSpPr>
          <p:nvPr>
            <p:ph type="ftr" sz="quarter" idx="11"/>
          </p:nvPr>
        </p:nvSpPr>
        <p:spPr>
          <a:xfrm>
            <a:off x="685800" y="379941"/>
            <a:ext cx="6991492" cy="365125"/>
          </a:xfrm>
        </p:spPr>
        <p:txBody>
          <a:bodyPr/>
          <a:lstStyle/>
          <a:p>
            <a:pPr>
              <a:defRPr/>
            </a:pPr>
            <a:endParaRPr lang="ar-EG"/>
          </a:p>
        </p:txBody>
      </p:sp>
      <p:sp>
        <p:nvSpPr>
          <p:cNvPr id="7" name="Slide Number Placeholder 6"/>
          <p:cNvSpPr>
            <a:spLocks noGrp="1"/>
          </p:cNvSpPr>
          <p:nvPr>
            <p:ph type="sldNum" sz="quarter" idx="12"/>
          </p:nvPr>
        </p:nvSpPr>
        <p:spPr>
          <a:xfrm>
            <a:off x="10862452" y="381000"/>
            <a:ext cx="643748" cy="365125"/>
          </a:xfrm>
        </p:spPr>
        <p:txBody>
          <a:bodyPr/>
          <a:lstStyle/>
          <a:p>
            <a:fld id="{055F3382-7328-D845-BAED-6DD77696F39D}" type="slidenum">
              <a:rPr lang="ar-EG" altLang="en-US" smtClean="0"/>
              <a:pPr/>
              <a:t>‹#›</a:t>
            </a:fld>
            <a:endParaRPr lang="ar-EG" altLang="en-US"/>
          </a:p>
        </p:txBody>
      </p:sp>
    </p:spTree>
    <p:extLst>
      <p:ext uri="{BB962C8B-B14F-4D97-AF65-F5344CB8AC3E}">
        <p14:creationId xmlns:p14="http://schemas.microsoft.com/office/powerpoint/2010/main" val="3040576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pPr>
              <a:defRPr/>
            </a:pPr>
            <a:fld id="{B1ABE8FF-F222-C543-B520-D3A66937B5B5}" type="datetimeFigureOut">
              <a:rPr lang="ar-EG" smtClean="0"/>
              <a:pPr>
                <a:defRPr/>
              </a:pPr>
              <a:t>20‏/5‏/1446</a:t>
            </a:fld>
            <a:endParaRPr lang="ar-EG"/>
          </a:p>
        </p:txBody>
      </p:sp>
      <p:sp>
        <p:nvSpPr>
          <p:cNvPr id="6" name="Footer Placeholder 5"/>
          <p:cNvSpPr>
            <a:spLocks noGrp="1"/>
          </p:cNvSpPr>
          <p:nvPr>
            <p:ph type="ftr" sz="quarter" idx="11"/>
          </p:nvPr>
        </p:nvSpPr>
        <p:spPr>
          <a:xfrm>
            <a:off x="685800" y="379941"/>
            <a:ext cx="6991492" cy="365125"/>
          </a:xfrm>
        </p:spPr>
        <p:txBody>
          <a:bodyPr/>
          <a:lstStyle/>
          <a:p>
            <a:pPr>
              <a:defRPr/>
            </a:pPr>
            <a:endParaRPr lang="ar-EG"/>
          </a:p>
        </p:txBody>
      </p:sp>
      <p:sp>
        <p:nvSpPr>
          <p:cNvPr id="7" name="Slide Number Placeholder 6"/>
          <p:cNvSpPr>
            <a:spLocks noGrp="1"/>
          </p:cNvSpPr>
          <p:nvPr>
            <p:ph type="sldNum" sz="quarter" idx="12"/>
          </p:nvPr>
        </p:nvSpPr>
        <p:spPr>
          <a:xfrm>
            <a:off x="10862452" y="381000"/>
            <a:ext cx="643748" cy="365125"/>
          </a:xfrm>
        </p:spPr>
        <p:txBody>
          <a:bodyPr/>
          <a:lstStyle/>
          <a:p>
            <a:fld id="{055F3382-7328-D845-BAED-6DD77696F39D}" type="slidenum">
              <a:rPr lang="ar-EG" altLang="en-US" smtClean="0"/>
              <a:pPr/>
              <a:t>‹#›</a:t>
            </a:fld>
            <a:endParaRPr lang="ar-EG" alt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56089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pPr>
              <a:defRPr/>
            </a:pPr>
            <a:fld id="{B1ABE8FF-F222-C543-B520-D3A66937B5B5}" type="datetimeFigureOut">
              <a:rPr lang="ar-EG" smtClean="0"/>
              <a:pPr>
                <a:defRPr/>
              </a:pPr>
              <a:t>20‏/5‏/1446</a:t>
            </a:fld>
            <a:endParaRPr lang="ar-EG"/>
          </a:p>
        </p:txBody>
      </p:sp>
      <p:sp>
        <p:nvSpPr>
          <p:cNvPr id="6" name="Footer Placeholder 5"/>
          <p:cNvSpPr>
            <a:spLocks noGrp="1"/>
          </p:cNvSpPr>
          <p:nvPr>
            <p:ph type="ftr" sz="quarter" idx="11"/>
          </p:nvPr>
        </p:nvSpPr>
        <p:spPr>
          <a:xfrm>
            <a:off x="685800" y="378883"/>
            <a:ext cx="6991492" cy="365125"/>
          </a:xfrm>
        </p:spPr>
        <p:txBody>
          <a:bodyPr/>
          <a:lstStyle/>
          <a:p>
            <a:pPr>
              <a:defRPr/>
            </a:pPr>
            <a:endParaRPr lang="ar-EG"/>
          </a:p>
        </p:txBody>
      </p:sp>
      <p:sp>
        <p:nvSpPr>
          <p:cNvPr id="7" name="Slide Number Placeholder 6"/>
          <p:cNvSpPr>
            <a:spLocks noGrp="1"/>
          </p:cNvSpPr>
          <p:nvPr>
            <p:ph type="sldNum" sz="quarter" idx="12"/>
          </p:nvPr>
        </p:nvSpPr>
        <p:spPr>
          <a:xfrm>
            <a:off x="10862452" y="381000"/>
            <a:ext cx="643748" cy="365125"/>
          </a:xfrm>
        </p:spPr>
        <p:txBody>
          <a:bodyPr/>
          <a:lstStyle/>
          <a:p>
            <a:fld id="{055F3382-7328-D845-BAED-6DD77696F39D}" type="slidenum">
              <a:rPr lang="ar-EG" altLang="en-US" smtClean="0"/>
              <a:pPr/>
              <a:t>‹#›</a:t>
            </a:fld>
            <a:endParaRPr lang="ar-EG" altLang="en-US"/>
          </a:p>
        </p:txBody>
      </p:sp>
    </p:spTree>
    <p:extLst>
      <p:ext uri="{BB962C8B-B14F-4D97-AF65-F5344CB8AC3E}">
        <p14:creationId xmlns:p14="http://schemas.microsoft.com/office/powerpoint/2010/main" val="466185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GB"/>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pPr>
              <a:defRPr/>
            </a:pPr>
            <a:fld id="{B1ABE8FF-F222-C543-B520-D3A66937B5B5}" type="datetimeFigureOut">
              <a:rPr lang="ar-EG" smtClean="0"/>
              <a:pPr>
                <a:defRPr/>
              </a:pPr>
              <a:t>20‏/5‏/1446</a:t>
            </a:fld>
            <a:endParaRPr lang="ar-EG"/>
          </a:p>
        </p:txBody>
      </p:sp>
      <p:sp>
        <p:nvSpPr>
          <p:cNvPr id="4" name="Footer Placeholder 3"/>
          <p:cNvSpPr>
            <a:spLocks noGrp="1"/>
          </p:cNvSpPr>
          <p:nvPr>
            <p:ph type="ftr" sz="quarter" idx="11"/>
          </p:nvPr>
        </p:nvSpPr>
        <p:spPr/>
        <p:txBody>
          <a:bodyPr/>
          <a:lstStyle/>
          <a:p>
            <a:pPr>
              <a:defRPr/>
            </a:pPr>
            <a:endParaRPr lang="ar-EG"/>
          </a:p>
        </p:txBody>
      </p:sp>
      <p:sp>
        <p:nvSpPr>
          <p:cNvPr id="5" name="Slide Number Placeholder 4"/>
          <p:cNvSpPr>
            <a:spLocks noGrp="1"/>
          </p:cNvSpPr>
          <p:nvPr>
            <p:ph type="sldNum" sz="quarter" idx="12"/>
          </p:nvPr>
        </p:nvSpPr>
        <p:spPr/>
        <p:txBody>
          <a:bodyPr/>
          <a:lstStyle/>
          <a:p>
            <a:fld id="{055F3382-7328-D845-BAED-6DD77696F39D}" type="slidenum">
              <a:rPr lang="ar-EG" altLang="en-US" smtClean="0"/>
              <a:pPr/>
              <a:t>‹#›</a:t>
            </a:fld>
            <a:endParaRPr lang="ar-EG" altLang="en-US"/>
          </a:p>
        </p:txBody>
      </p:sp>
    </p:spTree>
    <p:extLst>
      <p:ext uri="{BB962C8B-B14F-4D97-AF65-F5344CB8AC3E}">
        <p14:creationId xmlns:p14="http://schemas.microsoft.com/office/powerpoint/2010/main" val="1598714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pPr>
              <a:defRPr/>
            </a:pPr>
            <a:fld id="{B1ABE8FF-F222-C543-B520-D3A66937B5B5}" type="datetimeFigureOut">
              <a:rPr lang="ar-EG" smtClean="0"/>
              <a:pPr>
                <a:defRPr/>
              </a:pPr>
              <a:t>20‏/5‏/1446</a:t>
            </a:fld>
            <a:endParaRPr lang="ar-EG"/>
          </a:p>
        </p:txBody>
      </p:sp>
      <p:sp>
        <p:nvSpPr>
          <p:cNvPr id="4" name="Footer Placeholder 3"/>
          <p:cNvSpPr>
            <a:spLocks noGrp="1"/>
          </p:cNvSpPr>
          <p:nvPr>
            <p:ph type="ftr" sz="quarter" idx="11"/>
          </p:nvPr>
        </p:nvSpPr>
        <p:spPr/>
        <p:txBody>
          <a:bodyPr/>
          <a:lstStyle/>
          <a:p>
            <a:pPr>
              <a:defRPr/>
            </a:pPr>
            <a:endParaRPr lang="ar-EG"/>
          </a:p>
        </p:txBody>
      </p:sp>
      <p:sp>
        <p:nvSpPr>
          <p:cNvPr id="5" name="Slide Number Placeholder 4"/>
          <p:cNvSpPr>
            <a:spLocks noGrp="1"/>
          </p:cNvSpPr>
          <p:nvPr>
            <p:ph type="sldNum" sz="quarter" idx="12"/>
          </p:nvPr>
        </p:nvSpPr>
        <p:spPr/>
        <p:txBody>
          <a:bodyPr/>
          <a:lstStyle/>
          <a:p>
            <a:fld id="{055F3382-7328-D845-BAED-6DD77696F39D}" type="slidenum">
              <a:rPr lang="ar-EG" altLang="en-US" smtClean="0"/>
              <a:pPr/>
              <a:t>‹#›</a:t>
            </a:fld>
            <a:endParaRPr lang="ar-EG" altLang="en-US"/>
          </a:p>
        </p:txBody>
      </p:sp>
    </p:spTree>
    <p:extLst>
      <p:ext uri="{BB962C8B-B14F-4D97-AF65-F5344CB8AC3E}">
        <p14:creationId xmlns:p14="http://schemas.microsoft.com/office/powerpoint/2010/main" val="2904329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E1139835-1FF1-F549-AEBB-268431CB2944}" type="datetimeFigureOut">
              <a:rPr lang="ar-EG" smtClean="0"/>
              <a:pPr>
                <a:defRPr/>
              </a:pPr>
              <a:t>20‏/5‏/1446</a:t>
            </a:fld>
            <a:endParaRPr lang="ar-EG"/>
          </a:p>
        </p:txBody>
      </p:sp>
      <p:sp>
        <p:nvSpPr>
          <p:cNvPr id="5" name="Footer Placeholder 4"/>
          <p:cNvSpPr>
            <a:spLocks noGrp="1"/>
          </p:cNvSpPr>
          <p:nvPr>
            <p:ph type="ftr" sz="quarter" idx="11"/>
          </p:nvPr>
        </p:nvSpPr>
        <p:spPr/>
        <p:txBody>
          <a:bodyPr/>
          <a:lstStyle/>
          <a:p>
            <a:pPr>
              <a:defRPr/>
            </a:pPr>
            <a:endParaRPr lang="ar-EG"/>
          </a:p>
        </p:txBody>
      </p:sp>
      <p:sp>
        <p:nvSpPr>
          <p:cNvPr id="6" name="Slide Number Placeholder 5"/>
          <p:cNvSpPr>
            <a:spLocks noGrp="1"/>
          </p:cNvSpPr>
          <p:nvPr>
            <p:ph type="sldNum" sz="quarter" idx="12"/>
          </p:nvPr>
        </p:nvSpPr>
        <p:spPr/>
        <p:txBody>
          <a:bodyPr/>
          <a:lstStyle/>
          <a:p>
            <a:fld id="{E1D26F84-6F3E-D74F-AA3A-86C7E3EF1747}" type="slidenum">
              <a:rPr lang="ar-EG" altLang="en-US" smtClean="0"/>
              <a:pPr/>
              <a:t>‹#›</a:t>
            </a:fld>
            <a:endParaRPr lang="ar-EG" altLang="en-US"/>
          </a:p>
        </p:txBody>
      </p:sp>
    </p:spTree>
    <p:extLst>
      <p:ext uri="{BB962C8B-B14F-4D97-AF65-F5344CB8AC3E}">
        <p14:creationId xmlns:p14="http://schemas.microsoft.com/office/powerpoint/2010/main" val="37483918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pPr>
              <a:defRPr/>
            </a:pPr>
            <a:fld id="{B2932C68-E8DC-0B4D-B859-D9CE07B9D246}" type="datetimeFigureOut">
              <a:rPr lang="ar-EG" smtClean="0"/>
              <a:pPr>
                <a:defRPr/>
              </a:pPr>
              <a:t>20‏/5‏/1446</a:t>
            </a:fld>
            <a:endParaRPr lang="ar-EG"/>
          </a:p>
        </p:txBody>
      </p:sp>
      <p:sp>
        <p:nvSpPr>
          <p:cNvPr id="5" name="Footer Placeholder 4"/>
          <p:cNvSpPr>
            <a:spLocks noGrp="1"/>
          </p:cNvSpPr>
          <p:nvPr>
            <p:ph type="ftr" sz="quarter" idx="11"/>
          </p:nvPr>
        </p:nvSpPr>
        <p:spPr>
          <a:xfrm>
            <a:off x="685800" y="381000"/>
            <a:ext cx="6991492" cy="365125"/>
          </a:xfrm>
        </p:spPr>
        <p:txBody>
          <a:bodyPr/>
          <a:lstStyle/>
          <a:p>
            <a:pPr>
              <a:defRPr/>
            </a:pPr>
            <a:endParaRPr lang="ar-EG"/>
          </a:p>
        </p:txBody>
      </p:sp>
      <p:sp>
        <p:nvSpPr>
          <p:cNvPr id="6" name="Slide Number Placeholder 5"/>
          <p:cNvSpPr>
            <a:spLocks noGrp="1"/>
          </p:cNvSpPr>
          <p:nvPr>
            <p:ph type="sldNum" sz="quarter" idx="12"/>
          </p:nvPr>
        </p:nvSpPr>
        <p:spPr>
          <a:xfrm>
            <a:off x="10862452" y="381000"/>
            <a:ext cx="643748" cy="365125"/>
          </a:xfrm>
        </p:spPr>
        <p:txBody>
          <a:bodyPr/>
          <a:lstStyle/>
          <a:p>
            <a:fld id="{BF9BBFBF-0DC8-144C-8186-CBDBC24409AD}" type="slidenum">
              <a:rPr lang="ar-EG" altLang="en-US" smtClean="0"/>
              <a:pPr/>
              <a:t>‹#›</a:t>
            </a:fld>
            <a:endParaRPr lang="ar-EG" altLang="en-US"/>
          </a:p>
        </p:txBody>
      </p:sp>
    </p:spTree>
    <p:extLst>
      <p:ext uri="{BB962C8B-B14F-4D97-AF65-F5344CB8AC3E}">
        <p14:creationId xmlns:p14="http://schemas.microsoft.com/office/powerpoint/2010/main" val="2002410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yDefault view">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9CCAECC1-E906-406D-8BD1-EE047D5C3FD4}"/>
              </a:ext>
            </a:extLst>
          </p:cNvPr>
          <p:cNvSpPr>
            <a:spLocks noGrp="1"/>
          </p:cNvSpPr>
          <p:nvPr>
            <p:ph type="body" sz="quarter" idx="10"/>
          </p:nvPr>
        </p:nvSpPr>
        <p:spPr>
          <a:xfrm>
            <a:off x="457200" y="304800"/>
            <a:ext cx="11266713" cy="819150"/>
          </a:xfrm>
        </p:spPr>
        <p:txBody>
          <a:bodyPr/>
          <a:lstStyle>
            <a:lvl1pPr marL="0" indent="0" algn="l" rtl="0">
              <a:buNone/>
              <a:defRPr lang="ar-EG" sz="3200" b="1" kern="1200" cap="none" dirty="0">
                <a:ln w="3175" cmpd="sng">
                  <a:noFill/>
                </a:ln>
                <a:solidFill>
                  <a:srgbClr val="FFFF00"/>
                </a:solidFill>
                <a:latin typeface="+mj-lt"/>
                <a:ea typeface="+mj-ea"/>
                <a:cs typeface="+mj-cs"/>
              </a:defRPr>
            </a:lvl1pPr>
            <a:lvl3pPr algn="l" rtl="0">
              <a:defRPr/>
            </a:lvl3pPr>
          </a:lstStyle>
          <a:p>
            <a:pPr lvl="0"/>
            <a:r>
              <a:rPr lang="en-US"/>
              <a:t>Edit Master text styles</a:t>
            </a:r>
          </a:p>
        </p:txBody>
      </p:sp>
      <p:sp>
        <p:nvSpPr>
          <p:cNvPr id="11" name="Content Placeholder 10">
            <a:extLst>
              <a:ext uri="{FF2B5EF4-FFF2-40B4-BE49-F238E27FC236}">
                <a16:creationId xmlns:a16="http://schemas.microsoft.com/office/drawing/2014/main" id="{76347079-D406-458B-8DE1-A1F342BC6609}"/>
              </a:ext>
            </a:extLst>
          </p:cNvPr>
          <p:cNvSpPr>
            <a:spLocks noGrp="1"/>
          </p:cNvSpPr>
          <p:nvPr>
            <p:ph sz="quarter" idx="11"/>
          </p:nvPr>
        </p:nvSpPr>
        <p:spPr>
          <a:xfrm>
            <a:off x="434974" y="1317625"/>
            <a:ext cx="11288939" cy="5202238"/>
          </a:xfrm>
        </p:spPr>
        <p:txBody>
          <a:bodyPr anchor="t"/>
          <a:lstStyle>
            <a:lvl1pPr algn="l" rtl="0">
              <a:defRPr lang="en-US" sz="2000" kern="1200" dirty="0" smtClean="0">
                <a:solidFill>
                  <a:schemeClr val="tx1"/>
                </a:solidFill>
                <a:latin typeface="+mn-lt"/>
                <a:ea typeface="+mn-ea"/>
                <a:cs typeface="+mn-cs"/>
              </a:defRPr>
            </a:lvl1pPr>
            <a:lvl2pPr algn="l" rtl="0">
              <a:defRPr lang="en-US" sz="2000" kern="1200" dirty="0" smtClean="0">
                <a:solidFill>
                  <a:schemeClr val="tx1"/>
                </a:solidFill>
                <a:latin typeface="+mn-lt"/>
                <a:ea typeface="+mn-ea"/>
                <a:cs typeface="+mn-cs"/>
              </a:defRPr>
            </a:lvl2pPr>
            <a:lvl3pPr algn="l" rtl="0">
              <a:defRPr lang="en-US" sz="2000" kern="1200" dirty="0" smtClean="0">
                <a:solidFill>
                  <a:schemeClr val="tx1"/>
                </a:solidFill>
                <a:latin typeface="+mn-lt"/>
                <a:ea typeface="+mn-ea"/>
                <a:cs typeface="+mn-cs"/>
              </a:defRPr>
            </a:lvl3pPr>
            <a:lvl4pPr algn="l" rtl="0">
              <a:defRPr lang="en-US" sz="2000" kern="1200" dirty="0" smtClean="0">
                <a:solidFill>
                  <a:schemeClr val="tx1"/>
                </a:solidFill>
                <a:latin typeface="+mn-lt"/>
                <a:ea typeface="+mn-ea"/>
                <a:cs typeface="+mn-cs"/>
              </a:defRPr>
            </a:lvl4pPr>
            <a:lvl5pPr algn="l" rtl="0">
              <a:defRPr lang="ar-EG" sz="2000" kern="1200" dirty="0">
                <a:solidFill>
                  <a:schemeClr val="tx1"/>
                </a:solidFill>
                <a:latin typeface="+mn-lt"/>
                <a:ea typeface="+mn-ea"/>
                <a:cs typeface="+mn-c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ar-EG" dirty="0"/>
          </a:p>
        </p:txBody>
      </p:sp>
    </p:spTree>
    <p:extLst>
      <p:ext uri="{BB962C8B-B14F-4D97-AF65-F5344CB8AC3E}">
        <p14:creationId xmlns:p14="http://schemas.microsoft.com/office/powerpoint/2010/main" val="32931706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2269C63-60FE-EFBF-7B1B-58A4622CF6EC}"/>
              </a:ext>
            </a:extLst>
          </p:cNvPr>
          <p:cNvSpPr>
            <a:spLocks noGrp="1"/>
          </p:cNvSpPr>
          <p:nvPr>
            <p:ph type="dt" sz="half" idx="10"/>
          </p:nvPr>
        </p:nvSpPr>
        <p:spPr/>
        <p:txBody>
          <a:bodyPr/>
          <a:lstStyle>
            <a:lvl1pPr>
              <a:defRPr/>
            </a:lvl1pPr>
          </a:lstStyle>
          <a:p>
            <a:pPr>
              <a:defRPr/>
            </a:pPr>
            <a:fld id="{C501FCDA-E2C0-8B43-8CCD-0485542B5DA4}" type="datetimeFigureOut">
              <a:rPr lang="ar-EG"/>
              <a:pPr>
                <a:defRPr/>
              </a:pPr>
              <a:t>20‏/5‏/1446</a:t>
            </a:fld>
            <a:endParaRPr lang="ar-EG"/>
          </a:p>
        </p:txBody>
      </p:sp>
      <p:sp>
        <p:nvSpPr>
          <p:cNvPr id="5" name="Footer Placeholder 4">
            <a:extLst>
              <a:ext uri="{FF2B5EF4-FFF2-40B4-BE49-F238E27FC236}">
                <a16:creationId xmlns:a16="http://schemas.microsoft.com/office/drawing/2014/main" id="{1270BB33-32B6-43B3-F3A6-F2E7C4EC2CFF}"/>
              </a:ext>
            </a:extLst>
          </p:cNvPr>
          <p:cNvSpPr>
            <a:spLocks noGrp="1"/>
          </p:cNvSpPr>
          <p:nvPr>
            <p:ph type="ftr" sz="quarter" idx="11"/>
          </p:nvPr>
        </p:nvSpPr>
        <p:spPr/>
        <p:txBody>
          <a:bodyPr/>
          <a:lstStyle>
            <a:lvl1pPr>
              <a:defRPr/>
            </a:lvl1pPr>
          </a:lstStyle>
          <a:p>
            <a:pPr>
              <a:defRPr/>
            </a:pPr>
            <a:endParaRPr lang="ar-EG"/>
          </a:p>
        </p:txBody>
      </p:sp>
      <p:sp>
        <p:nvSpPr>
          <p:cNvPr id="6" name="Slide Number Placeholder 5">
            <a:extLst>
              <a:ext uri="{FF2B5EF4-FFF2-40B4-BE49-F238E27FC236}">
                <a16:creationId xmlns:a16="http://schemas.microsoft.com/office/drawing/2014/main" id="{2CB67D9D-DE66-3FFC-8287-FBEBBD0ED8F7}"/>
              </a:ext>
            </a:extLst>
          </p:cNvPr>
          <p:cNvSpPr>
            <a:spLocks noGrp="1"/>
          </p:cNvSpPr>
          <p:nvPr>
            <p:ph type="sldNum" sz="quarter" idx="12"/>
          </p:nvPr>
        </p:nvSpPr>
        <p:spPr/>
        <p:txBody>
          <a:bodyPr/>
          <a:lstStyle>
            <a:lvl1pPr>
              <a:defRPr/>
            </a:lvl1pPr>
          </a:lstStyle>
          <a:p>
            <a:fld id="{5B2051FA-8551-5E4D-97AF-4E6A47EEFCD6}" type="slidenum">
              <a:rPr lang="ar-EG" altLang="en-US"/>
              <a:pPr/>
              <a:t>‹#›</a:t>
            </a:fld>
            <a:endParaRPr lang="ar-EG" altLang="en-US"/>
          </a:p>
        </p:txBody>
      </p:sp>
    </p:spTree>
    <p:extLst>
      <p:ext uri="{BB962C8B-B14F-4D97-AF65-F5344CB8AC3E}">
        <p14:creationId xmlns:p14="http://schemas.microsoft.com/office/powerpoint/2010/main" val="554443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86EF-F6AC-44D8-AD01-A5B7448D988F}"/>
              </a:ext>
            </a:extLst>
          </p:cNvPr>
          <p:cNvSpPr>
            <a:spLocks noGrp="1"/>
          </p:cNvSpPr>
          <p:nvPr>
            <p:ph type="title"/>
          </p:nvPr>
        </p:nvSpPr>
        <p:spPr>
          <a:xfrm>
            <a:off x="511629" y="140154"/>
            <a:ext cx="11244942" cy="817789"/>
          </a:xfrm>
        </p:spPr>
        <p:txBody>
          <a:bodyPr/>
          <a:lstStyle>
            <a:lvl1pPr>
              <a:defRPr cap="none" baseline="0"/>
            </a:lvl1pPr>
          </a:lstStyle>
          <a:p>
            <a:r>
              <a:rPr lang="en-US" dirty="0"/>
              <a:t>Click to edit Master title style</a:t>
            </a:r>
          </a:p>
        </p:txBody>
      </p:sp>
      <p:sp>
        <p:nvSpPr>
          <p:cNvPr id="8" name="Content Placeholder 2">
            <a:extLst>
              <a:ext uri="{FF2B5EF4-FFF2-40B4-BE49-F238E27FC236}">
                <a16:creationId xmlns:a16="http://schemas.microsoft.com/office/drawing/2014/main" id="{CCEFE598-A1D4-41BE-9C2E-C504FB3FA9A1}"/>
              </a:ext>
            </a:extLst>
          </p:cNvPr>
          <p:cNvSpPr>
            <a:spLocks noGrp="1"/>
          </p:cNvSpPr>
          <p:nvPr>
            <p:ph idx="1"/>
          </p:nvPr>
        </p:nvSpPr>
        <p:spPr>
          <a:xfrm>
            <a:off x="511629" y="1153886"/>
            <a:ext cx="11244942" cy="5529943"/>
          </a:xfrm>
        </p:spPr>
        <p:txBody>
          <a:bodyPr ancho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4704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a:defRPr/>
            </a:pPr>
            <a:fld id="{B1ABE8FF-F222-C543-B520-D3A66937B5B5}" type="datetimeFigureOut">
              <a:rPr lang="ar-EG" smtClean="0"/>
              <a:pPr>
                <a:defRPr/>
              </a:pPr>
              <a:t>20‏/5‏/1446</a:t>
            </a:fld>
            <a:endParaRPr lang="ar-EG"/>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a:defRPr/>
            </a:pPr>
            <a:endParaRPr lang="ar-EG"/>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55F3382-7328-D845-BAED-6DD77696F39D}" type="slidenum">
              <a:rPr lang="ar-EG" altLang="en-US" smtClean="0"/>
              <a:pPr/>
              <a:t>‹#›</a:t>
            </a:fld>
            <a:endParaRPr lang="ar-EG" altLang="en-US"/>
          </a:p>
        </p:txBody>
      </p:sp>
    </p:spTree>
    <p:extLst>
      <p:ext uri="{BB962C8B-B14F-4D97-AF65-F5344CB8AC3E}">
        <p14:creationId xmlns:p14="http://schemas.microsoft.com/office/powerpoint/2010/main" val="3554104681"/>
      </p:ext>
    </p:extLst>
  </p:cSld>
  <p:clrMap bg1="dk1" tx1="lt1" bg2="dk2" tx2="lt2" accent1="accent1" accent2="accent2" accent3="accent3" accent4="accent4" accent5="accent5" accent6="accent6" hlink="hlink" folHlink="folHlink"/>
  <p:sldLayoutIdLst>
    <p:sldLayoutId id="2147484513" r:id="rId1"/>
    <p:sldLayoutId id="2147484514" r:id="rId2"/>
    <p:sldLayoutId id="2147484515" r:id="rId3"/>
    <p:sldLayoutId id="2147484516" r:id="rId4"/>
    <p:sldLayoutId id="2147484517" r:id="rId5"/>
    <p:sldLayoutId id="2147484518" r:id="rId6"/>
    <p:sldLayoutId id="2147484519" r:id="rId7"/>
    <p:sldLayoutId id="2147484520" r:id="rId8"/>
    <p:sldLayoutId id="2147484521" r:id="rId9"/>
    <p:sldLayoutId id="2147484522" r:id="rId10"/>
    <p:sldLayoutId id="2147484523" r:id="rId11"/>
    <p:sldLayoutId id="2147484524" r:id="rId12"/>
    <p:sldLayoutId id="2147484525" r:id="rId13"/>
    <p:sldLayoutId id="2147484526" r:id="rId14"/>
    <p:sldLayoutId id="2147484527" r:id="rId15"/>
    <p:sldLayoutId id="2147484528" r:id="rId16"/>
    <p:sldLayoutId id="2147484529" r:id="rId17"/>
    <p:sldLayoutId id="2147484530" r:id="rId18"/>
    <p:sldLayoutId id="2147484531" r:id="rId19"/>
    <p:sldLayoutId id="2147484532" r:id="rId20"/>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hyperlink" Target="https://www.continuum.io/downloads" TargetMode="Externa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8.xml"/><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8.xml"/><Relationship Id="rId4" Type="http://schemas.openxmlformats.org/officeDocument/2006/relationships/image" Target="../media/image49.png"/></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8.xml"/><Relationship Id="rId5" Type="http://schemas.openxmlformats.org/officeDocument/2006/relationships/image" Target="../media/image57.png"/><Relationship Id="rId4" Type="http://schemas.openxmlformats.org/officeDocument/2006/relationships/image" Target="../media/image56.png"/></Relationships>
</file>

<file path=ppt/slides/_rels/slide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8.xml"/><Relationship Id="rId4" Type="http://schemas.openxmlformats.org/officeDocument/2006/relationships/image" Target="../media/image61.png"/></Relationships>
</file>

<file path=ppt/slides/_rels/slide7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8.xml"/><Relationship Id="rId5" Type="http://schemas.openxmlformats.org/officeDocument/2006/relationships/image" Target="../media/image80.png"/><Relationship Id="rId4" Type="http://schemas.openxmlformats.org/officeDocument/2006/relationships/image" Target="../media/image7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3" Type="http://schemas.openxmlformats.org/officeDocument/2006/relationships/hyperlink" Target="https://www.youtube.com/playlist?list=PLQVvvaa0QuDdttJXlLtAJxJetJcqmqlQq" TargetMode="External"/><Relationship Id="rId2" Type="http://schemas.openxmlformats.org/officeDocument/2006/relationships/hyperlink" Target="https://www.tutorialspoint.com/opencv/index.htm" TargetMode="External"/><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Layout" Target="../slideLayouts/slideLayout18.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png"/><Relationship Id="rId1" Type="http://schemas.openxmlformats.org/officeDocument/2006/relationships/slideLayout" Target="../slideLayouts/slideLayout18.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10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8.xml"/><Relationship Id="rId5" Type="http://schemas.openxmlformats.org/officeDocument/2006/relationships/image" Target="../media/image99.png"/><Relationship Id="rId4" Type="http://schemas.openxmlformats.org/officeDocument/2006/relationships/image" Target="../media/image9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8.xml"/></Relationships>
</file>

<file path=ppt/slides/_rels/slide110.xml.rels><?xml version="1.0" encoding="UTF-8" standalone="yes"?>
<Relationships xmlns="http://schemas.openxmlformats.org/package/2006/relationships"><Relationship Id="rId2" Type="http://schemas.openxmlformats.org/officeDocument/2006/relationships/hyperlink" Target="http://archive.ics.uci.edu/ml/machine-learning-databases/00331/" TargetMode="External"/><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hyperlink" Target="https://www.youtube.com/watch?v=0FW99AQmMc8" TargetMode="External"/><Relationship Id="rId2" Type="http://schemas.openxmlformats.org/officeDocument/2006/relationships/hyperlink" Target="https://www.youtube.com/watch?v=_MJU8VK2PI4" TargetMode="External"/><Relationship Id="rId1" Type="http://schemas.openxmlformats.org/officeDocument/2006/relationships/slideLayout" Target="../slideLayouts/slideLayout18.xml"/><Relationship Id="rId4" Type="http://schemas.openxmlformats.org/officeDocument/2006/relationships/hyperlink" Target="https://www.youtube.com/watch?v=TmPfTpjtdgg"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8.xml"/><Relationship Id="rId5" Type="http://schemas.openxmlformats.org/officeDocument/2006/relationships/image" Target="../media/image108.png"/><Relationship Id="rId4" Type="http://schemas.openxmlformats.org/officeDocument/2006/relationships/image" Target="../media/image10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3" Type="http://schemas.openxmlformats.org/officeDocument/2006/relationships/image" Target="../media/image110.gif"/><Relationship Id="rId2" Type="http://schemas.openxmlformats.org/officeDocument/2006/relationships/image" Target="../media/image109.gif"/><Relationship Id="rId1" Type="http://schemas.openxmlformats.org/officeDocument/2006/relationships/slideLayout" Target="../slideLayouts/slideLayout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F2BA90F8-8376-C3DB-8B82-47EDE9998764}"/>
              </a:ext>
            </a:extLst>
          </p:cNvPr>
          <p:cNvSpPr>
            <a:spLocks noGrp="1" noChangeArrowheads="1"/>
          </p:cNvSpPr>
          <p:nvPr>
            <p:ph type="ctrTitle"/>
          </p:nvPr>
        </p:nvSpPr>
        <p:spPr bwMode="auto">
          <a:xfrm>
            <a:off x="684213" y="685800"/>
            <a:ext cx="9858375" cy="2971800"/>
          </a:xfrm>
        </p:spPr>
        <p:txBody>
          <a:bodyPr wrap="square" numCol="1" anchorCtr="0" compatLnSpc="1">
            <a:prstTxWarp prst="textNoShape">
              <a:avLst/>
            </a:prstTxWarp>
          </a:bodyPr>
          <a:lstStyle/>
          <a:p>
            <a:pPr eaLnBrk="1" hangingPunct="1"/>
            <a:r>
              <a:rPr lang="en-US" altLang="ar-EG" cap="none">
                <a:ln>
                  <a:noFill/>
                </a:ln>
              </a:rPr>
              <a:t>Develop Machine Learning using Python</a:t>
            </a:r>
            <a:endParaRPr lang="ar-EG" altLang="ar-EG" cap="none">
              <a:ln>
                <a:noFill/>
              </a:ln>
            </a:endParaRPr>
          </a:p>
        </p:txBody>
      </p:sp>
      <p:sp>
        <p:nvSpPr>
          <p:cNvPr id="8195" name="Subtitle 2">
            <a:extLst>
              <a:ext uri="{FF2B5EF4-FFF2-40B4-BE49-F238E27FC236}">
                <a16:creationId xmlns:a16="http://schemas.microsoft.com/office/drawing/2014/main" id="{1590BFD4-5537-1811-9050-293FF584BD09}"/>
              </a:ext>
            </a:extLst>
          </p:cNvPr>
          <p:cNvSpPr>
            <a:spLocks noGrp="1" noChangeArrowheads="1"/>
          </p:cNvSpPr>
          <p:nvPr>
            <p:ph type="subTitle" idx="1"/>
          </p:nvPr>
        </p:nvSpPr>
        <p:spPr/>
        <p:txBody>
          <a:bodyPr>
            <a:normAutofit fontScale="70000" lnSpcReduction="20000"/>
          </a:bodyPr>
          <a:lstStyle/>
          <a:p>
            <a:pPr eaLnBrk="1" hangingPunct="1"/>
            <a:r>
              <a:rPr lang="en-US" altLang="ar-EG">
                <a:solidFill>
                  <a:srgbClr val="FFFF00"/>
                </a:solidFill>
              </a:rPr>
              <a:t>Rafie Tarabay</a:t>
            </a:r>
            <a:br>
              <a:rPr lang="ar-EG" altLang="ar-EG">
                <a:solidFill>
                  <a:srgbClr val="FFFF00"/>
                </a:solidFill>
              </a:rPr>
            </a:br>
            <a:br>
              <a:rPr lang="en-US" altLang="ar-EG">
                <a:solidFill>
                  <a:srgbClr val="FFFF00"/>
                </a:solidFill>
              </a:rPr>
            </a:br>
            <a:r>
              <a:rPr lang="en-US" altLang="ar-EG" sz="1600">
                <a:solidFill>
                  <a:srgbClr val="FFFF00"/>
                </a:solidFill>
              </a:rPr>
              <a:t>eng_rafie@mans.edu.eg</a:t>
            </a:r>
            <a:br>
              <a:rPr lang="en-US" altLang="ar-EG" sz="1600">
                <a:solidFill>
                  <a:srgbClr val="FFFF00"/>
                </a:solidFill>
              </a:rPr>
            </a:br>
            <a:r>
              <a:rPr lang="en-US" altLang="ar-EG" sz="1600">
                <a:solidFill>
                  <a:srgbClr val="FFFF00"/>
                </a:solidFill>
              </a:rPr>
              <a:t>mrafie@eg.ibm.com</a:t>
            </a:r>
            <a:endParaRPr lang="ar-EG" altLang="ar-EG">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918DA-5204-491E-B9BB-1648E8568853}"/>
              </a:ext>
            </a:extLst>
          </p:cNvPr>
          <p:cNvSpPr>
            <a:spLocks noGrp="1"/>
          </p:cNvSpPr>
          <p:nvPr>
            <p:ph type="title"/>
          </p:nvPr>
        </p:nvSpPr>
        <p:spPr/>
        <p:txBody>
          <a:bodyPr/>
          <a:lstStyle/>
          <a:p>
            <a:pPr>
              <a:defRPr/>
            </a:pPr>
            <a:r>
              <a:rPr lang="en-US" b="1" dirty="0"/>
              <a:t>Machine Learning</a:t>
            </a:r>
            <a:endParaRPr lang="ar-EG"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49CB25E9-01C8-CED5-495D-2A23D23DFA3E}"/>
              </a:ext>
            </a:extLst>
          </p:cNvPr>
          <p:cNvSpPr txBox="1">
            <a:spLocks noChangeArrowheads="1"/>
          </p:cNvSpPr>
          <p:nvPr/>
        </p:nvSpPr>
        <p:spPr bwMode="auto">
          <a:xfrm>
            <a:off x="469900" y="201613"/>
            <a:ext cx="113506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1">
              <a:spcBef>
                <a:spcPct val="20000"/>
              </a:spcBef>
              <a:spcAft>
                <a:spcPts val="600"/>
              </a:spcAft>
              <a:buClr>
                <a:schemeClr val="tx1"/>
              </a:buClr>
              <a:buSzPct val="80000"/>
              <a:buFont typeface="Wingdings 3" pitchFamily="2" charset="2"/>
              <a:buChar char=""/>
              <a:defRPr sz="2000">
                <a:solidFill>
                  <a:srgbClr val="0F496F"/>
                </a:solidFill>
                <a:latin typeface="Century Gothic" panose="020B0502020202020204" pitchFamily="34" charset="0"/>
              </a:defRPr>
            </a:lvl1pPr>
            <a:lvl2pPr marL="742950" indent="-285750" algn="r" rtl="1">
              <a:spcBef>
                <a:spcPct val="20000"/>
              </a:spcBef>
              <a:spcAft>
                <a:spcPts val="600"/>
              </a:spcAft>
              <a:buClr>
                <a:schemeClr val="tx1"/>
              </a:buClr>
              <a:buSzPct val="80000"/>
              <a:buFont typeface="Wingdings 3" pitchFamily="2" charset="2"/>
              <a:buChar char=""/>
              <a:defRPr>
                <a:solidFill>
                  <a:srgbClr val="0F496F"/>
                </a:solidFill>
                <a:latin typeface="Century Gothic" panose="020B0502020202020204" pitchFamily="34" charset="0"/>
              </a:defRPr>
            </a:lvl2pPr>
            <a:lvl3pPr marL="1200150" indent="-285750" algn="r" rtl="1">
              <a:spcBef>
                <a:spcPct val="20000"/>
              </a:spcBef>
              <a:spcAft>
                <a:spcPts val="600"/>
              </a:spcAft>
              <a:buClr>
                <a:schemeClr val="tx1"/>
              </a:buClr>
              <a:buSzPct val="80000"/>
              <a:buFont typeface="Wingdings 3" pitchFamily="2" charset="2"/>
              <a:buChar char=""/>
              <a:defRPr sz="1600">
                <a:solidFill>
                  <a:srgbClr val="0F496F"/>
                </a:solidFill>
                <a:latin typeface="Century Gothic" panose="020B0502020202020204" pitchFamily="34" charset="0"/>
              </a:defRPr>
            </a:lvl3pPr>
            <a:lvl4pPr marL="1543050" indent="-171450" algn="r" rtl="1">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4pPr>
            <a:lvl5pPr marL="2000250" indent="-171450" algn="r" rtl="1">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5pPr>
            <a:lvl6pPr marL="2457450" indent="-17145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6pPr>
            <a:lvl7pPr marL="2914650" indent="-17145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7pPr>
            <a:lvl8pPr marL="3371850" indent="-17145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8pPr>
            <a:lvl9pPr marL="3829050" indent="-17145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9pPr>
          </a:lstStyle>
          <a:p>
            <a:pPr algn="l">
              <a:spcBef>
                <a:spcPct val="0"/>
              </a:spcBef>
              <a:spcAft>
                <a:spcPct val="0"/>
              </a:spcAft>
              <a:buClrTx/>
              <a:buSzTx/>
              <a:buFontTx/>
              <a:buNone/>
            </a:pPr>
            <a:r>
              <a:rPr lang="en-US" altLang="ar-EG" sz="3200" b="1">
                <a:solidFill>
                  <a:srgbClr val="FFFF00"/>
                </a:solidFill>
              </a:rPr>
              <a:t>Machine Learning</a:t>
            </a:r>
            <a:endParaRPr lang="ar-EG" altLang="ar-EG" sz="3200" b="1">
              <a:solidFill>
                <a:srgbClr val="FFFF00"/>
              </a:solidFill>
            </a:endParaRPr>
          </a:p>
        </p:txBody>
      </p:sp>
      <p:sp>
        <p:nvSpPr>
          <p:cNvPr id="5" name="Content Placeholder 2">
            <a:extLst>
              <a:ext uri="{FF2B5EF4-FFF2-40B4-BE49-F238E27FC236}">
                <a16:creationId xmlns:a16="http://schemas.microsoft.com/office/drawing/2014/main" id="{294ACA40-03E6-4439-8345-CE7E46E44D26}"/>
              </a:ext>
            </a:extLst>
          </p:cNvPr>
          <p:cNvSpPr txBox="1">
            <a:spLocks/>
          </p:cNvSpPr>
          <p:nvPr/>
        </p:nvSpPr>
        <p:spPr>
          <a:xfrm>
            <a:off x="469900" y="1123950"/>
            <a:ext cx="11506200" cy="5567363"/>
          </a:xfrm>
          <a:prstGeom prst="rect">
            <a:avLst/>
          </a:prstGeom>
        </p:spPr>
        <p:txBody>
          <a:bodyPr/>
          <a:lstStyle>
            <a:lvl1pPr marL="285750" indent="-285750" algn="r" defTabSz="457200" rtl="1" eaLnBrk="0" fontAlgn="base" hangingPunct="0">
              <a:spcBef>
                <a:spcPct val="20000"/>
              </a:spcBef>
              <a:spcAft>
                <a:spcPts val="600"/>
              </a:spcAft>
              <a:buClr>
                <a:schemeClr val="tx1"/>
              </a:buClr>
              <a:buSzPct val="80000"/>
              <a:buFont typeface="Wingdings 3" panose="05040102010807070707" pitchFamily="18" charset="2"/>
              <a:buChar char=""/>
              <a:defRPr sz="2000" kern="1200">
                <a:solidFill>
                  <a:srgbClr val="0F496F"/>
                </a:solidFill>
                <a:latin typeface="+mn-lt"/>
                <a:ea typeface="+mn-ea"/>
                <a:cs typeface="+mn-cs"/>
              </a:defRPr>
            </a:lvl1pPr>
            <a:lvl2pPr marL="742950" indent="-285750" algn="r" defTabSz="457200" rtl="1" eaLnBrk="0" fontAlgn="base" hangingPunct="0">
              <a:spcBef>
                <a:spcPct val="20000"/>
              </a:spcBef>
              <a:spcAft>
                <a:spcPts val="600"/>
              </a:spcAft>
              <a:buClr>
                <a:schemeClr val="tx1"/>
              </a:buClr>
              <a:buSzPct val="80000"/>
              <a:buFont typeface="Wingdings 3" panose="05040102010807070707" pitchFamily="18" charset="2"/>
              <a:buChar char=""/>
              <a:defRPr kern="1200">
                <a:solidFill>
                  <a:srgbClr val="0F496F"/>
                </a:solidFill>
                <a:latin typeface="+mn-lt"/>
                <a:ea typeface="+mn-ea"/>
                <a:cs typeface="+mn-cs"/>
              </a:defRPr>
            </a:lvl2pPr>
            <a:lvl3pPr marL="1200150" indent="-285750" algn="r" defTabSz="457200" rtl="1" eaLnBrk="0" fontAlgn="base" hangingPunct="0">
              <a:spcBef>
                <a:spcPct val="20000"/>
              </a:spcBef>
              <a:spcAft>
                <a:spcPts val="600"/>
              </a:spcAft>
              <a:buClr>
                <a:schemeClr val="tx1"/>
              </a:buClr>
              <a:buSzPct val="80000"/>
              <a:buFont typeface="Wingdings 3" panose="05040102010807070707" pitchFamily="18" charset="2"/>
              <a:buChar char=""/>
              <a:defRPr sz="1600" kern="1200">
                <a:solidFill>
                  <a:srgbClr val="0F496F"/>
                </a:solidFill>
                <a:latin typeface="+mn-lt"/>
                <a:ea typeface="+mn-ea"/>
                <a:cs typeface="+mn-cs"/>
              </a:defRPr>
            </a:lvl3pPr>
            <a:lvl4pPr marL="1543050" indent="-171450" algn="r" defTabSz="457200" rtl="1" eaLnBrk="0" fontAlgn="base" hangingPunct="0">
              <a:spcBef>
                <a:spcPct val="20000"/>
              </a:spcBef>
              <a:spcAft>
                <a:spcPts val="600"/>
              </a:spcAft>
              <a:buClr>
                <a:schemeClr val="tx1"/>
              </a:buClr>
              <a:buSzPct val="80000"/>
              <a:buFont typeface="Wingdings 3" panose="05040102010807070707" pitchFamily="18" charset="2"/>
              <a:buChar char=""/>
              <a:defRPr sz="1400" kern="1200">
                <a:solidFill>
                  <a:srgbClr val="0F496F"/>
                </a:solidFill>
                <a:latin typeface="+mn-lt"/>
                <a:ea typeface="+mn-ea"/>
                <a:cs typeface="+mn-cs"/>
              </a:defRPr>
            </a:lvl4pPr>
            <a:lvl5pPr marL="2000250" indent="-171450" algn="r" defTabSz="457200" rtl="1" eaLnBrk="0" fontAlgn="base" hangingPunct="0">
              <a:spcBef>
                <a:spcPct val="20000"/>
              </a:spcBef>
              <a:spcAft>
                <a:spcPts val="600"/>
              </a:spcAft>
              <a:buClr>
                <a:schemeClr val="tx1"/>
              </a:buClr>
              <a:buSzPct val="80000"/>
              <a:buFont typeface="Wingdings 3" panose="05040102010807070707" pitchFamily="18" charset="2"/>
              <a:buChar char=""/>
              <a:defRPr sz="1400" kern="1200">
                <a:solidFill>
                  <a:srgbClr val="0F496F"/>
                </a:solidFill>
                <a:latin typeface="+mn-lt"/>
                <a:ea typeface="+mn-ea"/>
                <a:cs typeface="+mn-cs"/>
              </a:defRPr>
            </a:lvl5pPr>
            <a:lvl6pPr marL="25146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lgn="l" rtl="0">
              <a:defRPr/>
            </a:pPr>
            <a:r>
              <a:rPr lang="en-US" dirty="0">
                <a:solidFill>
                  <a:schemeClr val="tx1"/>
                </a:solidFill>
              </a:rPr>
              <a:t>a machine learning-based system is not explicitly programmed but learnt from data.</a:t>
            </a:r>
          </a:p>
          <a:p>
            <a:pPr algn="l" rtl="0">
              <a:defRPr/>
            </a:pPr>
            <a:r>
              <a:rPr lang="en-US" dirty="0">
                <a:solidFill>
                  <a:schemeClr val="tx1"/>
                </a:solidFill>
              </a:rPr>
              <a:t>a machine learning algorithm infers patterns and relationships between different variables in a dataset then uses that knowledge to generalize beyond the training dataset.</a:t>
            </a:r>
          </a:p>
          <a:p>
            <a:pPr marL="0" indent="0" algn="l" rtl="0">
              <a:buFont typeface="Wingdings 3" panose="05040102010807070707" pitchFamily="18" charset="2"/>
              <a:buNone/>
              <a:defRPr/>
            </a:pPr>
            <a:endParaRPr lang="en-US" b="1" dirty="0">
              <a:solidFill>
                <a:srgbClr val="FFFF00"/>
              </a:solidFill>
            </a:endParaRPr>
          </a:p>
          <a:p>
            <a:pPr marL="0" indent="0" algn="l" rtl="0">
              <a:buFont typeface="Wingdings 3" panose="05040102010807070707" pitchFamily="18" charset="2"/>
              <a:buNone/>
              <a:defRPr/>
            </a:pPr>
            <a:r>
              <a:rPr lang="en-US" b="1" dirty="0">
                <a:solidFill>
                  <a:srgbClr val="FFFF00"/>
                </a:solidFill>
              </a:rPr>
              <a:t>Terms used in the context of machine learning</a:t>
            </a:r>
          </a:p>
          <a:p>
            <a:pPr marL="457200" indent="-457200" algn="l" rtl="0">
              <a:buFont typeface="+mj-lt"/>
              <a:buAutoNum type="arabicPeriod"/>
              <a:defRPr/>
            </a:pPr>
            <a:r>
              <a:rPr lang="en-US" dirty="0">
                <a:solidFill>
                  <a:schemeClr val="tx1"/>
                </a:solidFill>
              </a:rPr>
              <a:t>Data mining</a:t>
            </a:r>
          </a:p>
          <a:p>
            <a:pPr marL="457200" indent="-457200" algn="l" rtl="0">
              <a:buFont typeface="+mj-lt"/>
              <a:buAutoNum type="arabicPeriod"/>
              <a:defRPr/>
            </a:pPr>
            <a:r>
              <a:rPr lang="en-US" dirty="0">
                <a:solidFill>
                  <a:schemeClr val="tx1"/>
                </a:solidFill>
              </a:rPr>
              <a:t>Features</a:t>
            </a:r>
          </a:p>
          <a:p>
            <a:pPr marL="457200" indent="-457200" algn="l" rtl="0">
              <a:buFont typeface="+mj-lt"/>
              <a:buAutoNum type="arabicPeriod"/>
              <a:defRPr/>
            </a:pPr>
            <a:r>
              <a:rPr lang="en-US" dirty="0">
                <a:solidFill>
                  <a:schemeClr val="tx1"/>
                </a:solidFill>
              </a:rPr>
              <a:t>Labels</a:t>
            </a:r>
          </a:p>
          <a:p>
            <a:pPr marL="457200" indent="-457200" algn="l" rtl="0">
              <a:buFont typeface="+mj-lt"/>
              <a:buAutoNum type="arabicPeriod"/>
              <a:defRPr/>
            </a:pPr>
            <a:r>
              <a:rPr lang="en-US" dirty="0">
                <a:solidFill>
                  <a:schemeClr val="tx1"/>
                </a:solidFill>
              </a:rPr>
              <a:t>Models</a:t>
            </a:r>
          </a:p>
          <a:p>
            <a:pPr marL="457200" indent="-457200" algn="l" rtl="0">
              <a:buFont typeface="+mj-lt"/>
              <a:buAutoNum type="arabicPeriod"/>
              <a:defRPr/>
            </a:pPr>
            <a:r>
              <a:rPr lang="en-US" altLang="en-US" dirty="0">
                <a:solidFill>
                  <a:schemeClr val="tx1"/>
                </a:solidFill>
              </a:rPr>
              <a:t>Accuracy, and Precision</a:t>
            </a:r>
          </a:p>
          <a:p>
            <a:pPr marL="457200" indent="-457200" algn="l" rtl="0">
              <a:buFont typeface="+mj-lt"/>
              <a:buAutoNum type="arabicPeriod"/>
              <a:defRPr/>
            </a:pPr>
            <a:endParaRPr lang="en-U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0CFAE4-A17B-4903-838C-99AF624B58B2}"/>
              </a:ext>
            </a:extLst>
          </p:cNvPr>
          <p:cNvSpPr>
            <a:spLocks noGrp="1"/>
          </p:cNvSpPr>
          <p:nvPr>
            <p:ph type="body" sz="quarter" idx="10"/>
          </p:nvPr>
        </p:nvSpPr>
        <p:spPr/>
        <p:txBody>
          <a:bodyPr/>
          <a:lstStyle/>
          <a:p>
            <a:pPr>
              <a:buFont typeface="Wingdings 3" panose="05040102010807070707" pitchFamily="18" charset="2"/>
              <a:buNone/>
              <a:defRPr/>
            </a:pPr>
            <a:r>
              <a:rPr lang="en-US"/>
              <a:t>Data Mining</a:t>
            </a:r>
            <a:endParaRPr/>
          </a:p>
        </p:txBody>
      </p:sp>
      <p:sp>
        <p:nvSpPr>
          <p:cNvPr id="3" name="Content Placeholder 2">
            <a:extLst>
              <a:ext uri="{FF2B5EF4-FFF2-40B4-BE49-F238E27FC236}">
                <a16:creationId xmlns:a16="http://schemas.microsoft.com/office/drawing/2014/main" id="{71E363C6-57D0-44E9-9F02-F49CAC20914E}"/>
              </a:ext>
            </a:extLst>
          </p:cNvPr>
          <p:cNvSpPr>
            <a:spLocks noGrp="1"/>
          </p:cNvSpPr>
          <p:nvPr>
            <p:ph sz="quarter" idx="11"/>
          </p:nvPr>
        </p:nvSpPr>
        <p:spPr>
          <a:xfrm>
            <a:off x="434975" y="1028700"/>
            <a:ext cx="9109075" cy="5491163"/>
          </a:xfrm>
        </p:spPr>
        <p:txBody>
          <a:bodyPr/>
          <a:lstStyle/>
          <a:p>
            <a:pPr>
              <a:buFont typeface="Wingdings 3" panose="05040102010807070707" pitchFamily="18" charset="2"/>
              <a:buChar char=""/>
              <a:defRPr/>
            </a:pPr>
            <a:r>
              <a:rPr sz="1600"/>
              <a:t>Definition: "the application of specific algorithms for extracting patterns from data." </a:t>
            </a:r>
          </a:p>
          <a:p>
            <a:pPr>
              <a:buFont typeface="Wingdings 3" panose="05040102010807070707" pitchFamily="18" charset="2"/>
              <a:buChar char=""/>
              <a:defRPr/>
            </a:pPr>
            <a:r>
              <a:rPr sz="1600" b="1"/>
              <a:t>data mining </a:t>
            </a:r>
            <a:r>
              <a:rPr sz="1600"/>
              <a:t>is a </a:t>
            </a:r>
            <a:r>
              <a:rPr sz="1600" b="1"/>
              <a:t>process</a:t>
            </a:r>
            <a:r>
              <a:rPr sz="1600"/>
              <a:t>, during which </a:t>
            </a:r>
            <a:r>
              <a:rPr sz="1600" b="1"/>
              <a:t>machine learning </a:t>
            </a:r>
            <a:r>
              <a:rPr sz="1600"/>
              <a:t>algorithms are utilized as </a:t>
            </a:r>
            <a:r>
              <a:rPr sz="1600" b="1"/>
              <a:t>tools</a:t>
            </a:r>
            <a:r>
              <a:rPr sz="1600"/>
              <a:t> to extract potentially-valuable patterns held within datasets.</a:t>
            </a:r>
          </a:p>
          <a:p>
            <a:pPr>
              <a:buFont typeface="Wingdings 3" panose="05040102010807070707" pitchFamily="18" charset="2"/>
              <a:buChar char=""/>
              <a:defRPr/>
            </a:pPr>
            <a:r>
              <a:rPr sz="1600"/>
              <a:t>Data mining is exploratory analysis with unsupervised machine learning algorithms </a:t>
            </a:r>
            <a:endParaRPr lang="ar-EG" sz="1600"/>
          </a:p>
          <a:p>
            <a:pPr marL="0" indent="0">
              <a:buFont typeface="Wingdings 3" panose="05040102010807070707" pitchFamily="18" charset="2"/>
              <a:buNone/>
              <a:defRPr/>
            </a:pPr>
            <a:br>
              <a:rPr sz="900"/>
            </a:br>
            <a:r>
              <a:rPr sz="1600"/>
              <a:t>The main application is text mining in a big data environment:</a:t>
            </a:r>
          </a:p>
          <a:p>
            <a:pPr marL="457200" indent="-457200">
              <a:buFont typeface="+mj-lt"/>
              <a:buAutoNum type="arabicPeriod"/>
              <a:defRPr/>
            </a:pPr>
            <a:r>
              <a:rPr sz="1600"/>
              <a:t>Text parsing</a:t>
            </a:r>
          </a:p>
          <a:p>
            <a:pPr marL="457200" indent="-457200">
              <a:buFont typeface="+mj-lt"/>
              <a:buAutoNum type="arabicPeriod"/>
              <a:defRPr/>
            </a:pPr>
            <a:r>
              <a:rPr sz="1600"/>
              <a:t>Sentiment analysis</a:t>
            </a:r>
          </a:p>
          <a:p>
            <a:pPr marL="457200" indent="-457200">
              <a:buFont typeface="+mj-lt"/>
              <a:buAutoNum type="arabicPeriod"/>
              <a:defRPr/>
            </a:pPr>
            <a:r>
              <a:rPr sz="1600"/>
              <a:t>Opinion mining </a:t>
            </a:r>
          </a:p>
          <a:p>
            <a:pPr marL="457200" indent="-457200">
              <a:buFont typeface="+mj-lt"/>
              <a:buAutoNum type="arabicPeriod"/>
              <a:defRPr/>
            </a:pPr>
            <a:r>
              <a:rPr sz="1600"/>
              <a:t>Natural language processing using *deep learning algorithm</a:t>
            </a:r>
          </a:p>
          <a:p>
            <a:pPr marL="457200" indent="-457200">
              <a:buFont typeface="+mj-lt"/>
              <a:buAutoNum type="arabicPeriod"/>
              <a:defRPr/>
            </a:pPr>
            <a:endParaRPr sz="1000"/>
          </a:p>
          <a:p>
            <a:pPr marL="0" indent="0">
              <a:buFont typeface="Wingdings 3" panose="05040102010807070707" pitchFamily="18" charset="2"/>
              <a:buNone/>
              <a:defRPr/>
            </a:pPr>
            <a:r>
              <a:rPr sz="1600">
                <a:solidFill>
                  <a:srgbClr val="FFFF00"/>
                </a:solidFill>
              </a:rPr>
              <a:t>* deep learning is the process of applying deep neural network technologies - that is, neural network architectures with multiple hidden layers - to solve problems. </a:t>
            </a:r>
            <a:br>
              <a:rPr sz="1600">
                <a:solidFill>
                  <a:srgbClr val="FFFF00"/>
                </a:solidFill>
              </a:rPr>
            </a:br>
            <a:r>
              <a:rPr sz="1600">
                <a:solidFill>
                  <a:srgbClr val="FFFF00"/>
                </a:solidFill>
              </a:rPr>
              <a:t>Deep learning is a process, like data mining, which employs deep neural network architectures, which are particular types of machine learning algorithms.</a:t>
            </a:r>
          </a:p>
          <a:p>
            <a:pPr marL="457200" indent="-457200">
              <a:buFont typeface="+mj-lt"/>
              <a:buAutoNum type="arabicPeriod"/>
              <a:defRPr/>
            </a:pPr>
            <a:endParaRPr sz="1600"/>
          </a:p>
        </p:txBody>
      </p:sp>
      <p:sp>
        <p:nvSpPr>
          <p:cNvPr id="11268" name="TextBox 3">
            <a:extLst>
              <a:ext uri="{FF2B5EF4-FFF2-40B4-BE49-F238E27FC236}">
                <a16:creationId xmlns:a16="http://schemas.microsoft.com/office/drawing/2014/main" id="{C5CC56A9-66A8-61DE-9383-00ACE2B5EF8A}"/>
              </a:ext>
            </a:extLst>
          </p:cNvPr>
          <p:cNvSpPr txBox="1">
            <a:spLocks noChangeArrowheads="1"/>
          </p:cNvSpPr>
          <p:nvPr/>
        </p:nvSpPr>
        <p:spPr bwMode="auto">
          <a:xfrm>
            <a:off x="8950325" y="2252663"/>
            <a:ext cx="3241675" cy="317023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sz="2000" b="1"/>
              <a:t>Data Mining algorithms:</a:t>
            </a:r>
          </a:p>
          <a:p>
            <a:r>
              <a:rPr lang="en-US" altLang="ar-EG"/>
              <a:t>1. C4.5</a:t>
            </a:r>
          </a:p>
          <a:p>
            <a:r>
              <a:rPr lang="en-US" altLang="ar-EG"/>
              <a:t>2. k-means</a:t>
            </a:r>
          </a:p>
          <a:p>
            <a:r>
              <a:rPr lang="en-US" altLang="ar-EG"/>
              <a:t>3. Support vector machines</a:t>
            </a:r>
          </a:p>
          <a:p>
            <a:r>
              <a:rPr lang="en-US" altLang="ar-EG"/>
              <a:t>4. Apriori</a:t>
            </a:r>
          </a:p>
          <a:p>
            <a:r>
              <a:rPr lang="en-US" altLang="ar-EG"/>
              <a:t>5. EM</a:t>
            </a:r>
          </a:p>
          <a:p>
            <a:r>
              <a:rPr lang="en-US" altLang="ar-EG"/>
              <a:t>6. PageRank</a:t>
            </a:r>
          </a:p>
          <a:p>
            <a:r>
              <a:rPr lang="en-US" altLang="ar-EG"/>
              <a:t>7. AdaBoost</a:t>
            </a:r>
          </a:p>
          <a:p>
            <a:r>
              <a:rPr lang="en-US" altLang="ar-EG"/>
              <a:t>8. kNN</a:t>
            </a:r>
          </a:p>
          <a:p>
            <a:r>
              <a:rPr lang="en-US" altLang="ar-EG"/>
              <a:t>9. Naive Bayes</a:t>
            </a:r>
          </a:p>
          <a:p>
            <a:r>
              <a:rPr lang="en-US" altLang="ar-EG"/>
              <a:t>10. CART</a:t>
            </a:r>
            <a:endParaRPr lang="ar-EG" altLang="ar-EG"/>
          </a:p>
        </p:txBody>
      </p:sp>
      <p:sp>
        <p:nvSpPr>
          <p:cNvPr id="11269" name="TextBox 4">
            <a:extLst>
              <a:ext uri="{FF2B5EF4-FFF2-40B4-BE49-F238E27FC236}">
                <a16:creationId xmlns:a16="http://schemas.microsoft.com/office/drawing/2014/main" id="{AF1ED555-EB70-B6FF-63C6-489DDF41D751}"/>
              </a:ext>
            </a:extLst>
          </p:cNvPr>
          <p:cNvSpPr txBox="1">
            <a:spLocks noChangeArrowheads="1"/>
          </p:cNvSpPr>
          <p:nvPr/>
        </p:nvSpPr>
        <p:spPr bwMode="auto">
          <a:xfrm>
            <a:off x="339725" y="6519863"/>
            <a:ext cx="8964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a:solidFill>
                  <a:srgbClr val="FFFF00"/>
                </a:solidFill>
              </a:rPr>
              <a:t>For more information          http://infolab.stanford.edu/~ullman/mmds/book.pdf</a:t>
            </a:r>
            <a:endParaRPr lang="ar-EG" altLang="ar-EG">
              <a:solidFill>
                <a:srgbClr val="FFFF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3582F4-3101-4F09-AB52-61F70623429D}"/>
              </a:ext>
            </a:extLst>
          </p:cNvPr>
          <p:cNvSpPr>
            <a:spLocks noGrp="1"/>
          </p:cNvSpPr>
          <p:nvPr>
            <p:ph type="body" sz="quarter" idx="10"/>
          </p:nvPr>
        </p:nvSpPr>
        <p:spPr/>
        <p:txBody>
          <a:bodyPr/>
          <a:lstStyle/>
          <a:p>
            <a:pPr>
              <a:buFont typeface="Wingdings 3" panose="05040102010807070707" pitchFamily="18" charset="2"/>
              <a:buNone/>
              <a:defRPr/>
            </a:pPr>
            <a:r>
              <a:rPr lang="en-US"/>
              <a:t>Features</a:t>
            </a:r>
            <a:endParaRPr/>
          </a:p>
        </p:txBody>
      </p:sp>
      <p:sp>
        <p:nvSpPr>
          <p:cNvPr id="3" name="Content Placeholder 2">
            <a:extLst>
              <a:ext uri="{FF2B5EF4-FFF2-40B4-BE49-F238E27FC236}">
                <a16:creationId xmlns:a16="http://schemas.microsoft.com/office/drawing/2014/main" id="{E90B2787-40CA-4E22-98E8-246494CF9279}"/>
              </a:ext>
            </a:extLst>
          </p:cNvPr>
          <p:cNvSpPr>
            <a:spLocks noGrp="1"/>
          </p:cNvSpPr>
          <p:nvPr>
            <p:ph sz="quarter" idx="11"/>
          </p:nvPr>
        </p:nvSpPr>
        <p:spPr/>
        <p:txBody>
          <a:bodyPr/>
          <a:lstStyle/>
          <a:p>
            <a:pPr>
              <a:buFont typeface="Wingdings 3" panose="05040102010807070707" pitchFamily="18" charset="2"/>
              <a:buChar char=""/>
              <a:defRPr/>
            </a:pPr>
            <a:r>
              <a:rPr sz="1600"/>
              <a:t>a feature represents an independent variable</a:t>
            </a:r>
          </a:p>
          <a:p>
            <a:pPr>
              <a:buFont typeface="Wingdings 3" panose="05040102010807070707" pitchFamily="18" charset="2"/>
              <a:buChar char=""/>
              <a:defRPr/>
            </a:pPr>
            <a:r>
              <a:rPr sz="1600"/>
              <a:t>In a tabular dataset, a row represents an observation and column represents a feature.</a:t>
            </a:r>
          </a:p>
          <a:p>
            <a:pPr>
              <a:buFont typeface="Wingdings 3" panose="05040102010807070707" pitchFamily="18" charset="2"/>
              <a:buChar char=""/>
              <a:defRPr/>
            </a:pPr>
            <a:r>
              <a:rPr sz="1600"/>
              <a:t>Features are also collectively referred to as dimensions.</a:t>
            </a:r>
          </a:p>
          <a:p>
            <a:pPr>
              <a:buFont typeface="Wingdings 3" panose="05040102010807070707" pitchFamily="18" charset="2"/>
              <a:buChar char=""/>
              <a:defRPr/>
            </a:pPr>
            <a:endParaRPr sz="1600"/>
          </a:p>
          <a:p>
            <a:pPr marL="0" indent="0">
              <a:buFont typeface="Wingdings 3" panose="05040102010807070707" pitchFamily="18" charset="2"/>
              <a:buNone/>
              <a:defRPr/>
            </a:pPr>
            <a:r>
              <a:rPr sz="1600" b="1"/>
              <a:t>Categorical Features</a:t>
            </a:r>
          </a:p>
          <a:p>
            <a:pPr>
              <a:buFont typeface="Wingdings 3" panose="05040102010807070707" pitchFamily="18" charset="2"/>
              <a:buChar char=""/>
              <a:defRPr/>
            </a:pPr>
            <a:r>
              <a:rPr sz="1600"/>
              <a:t>It can take on one of a fixed number of discrete values with name or a label.</a:t>
            </a:r>
          </a:p>
          <a:p>
            <a:pPr>
              <a:buFont typeface="Wingdings 3" panose="05040102010807070707" pitchFamily="18" charset="2"/>
              <a:buChar char=""/>
              <a:defRPr/>
            </a:pPr>
            <a:r>
              <a:rPr sz="1600"/>
              <a:t>The values of a categorical feature have no ordering.</a:t>
            </a:r>
          </a:p>
          <a:p>
            <a:pPr>
              <a:buFont typeface="Wingdings 3" panose="05040102010807070707" pitchFamily="18" charset="2"/>
              <a:buChar char=""/>
              <a:defRPr/>
            </a:pPr>
            <a:r>
              <a:rPr sz="1600"/>
              <a:t>gender is a categorical feature. It can take on only one of two values.</a:t>
            </a:r>
          </a:p>
          <a:p>
            <a:pPr>
              <a:buFont typeface="Wingdings 3" panose="05040102010807070707" pitchFamily="18" charset="2"/>
              <a:buChar char=""/>
              <a:defRPr/>
            </a:pPr>
            <a:endParaRPr sz="1600"/>
          </a:p>
          <a:p>
            <a:pPr marL="0" indent="0">
              <a:buFont typeface="Wingdings 3" panose="05040102010807070707" pitchFamily="18" charset="2"/>
              <a:buNone/>
              <a:defRPr/>
            </a:pPr>
            <a:r>
              <a:rPr sz="1600" b="1"/>
              <a:t>Numerical Features</a:t>
            </a:r>
          </a:p>
          <a:p>
            <a:pPr>
              <a:buFont typeface="Wingdings 3" panose="05040102010807070707" pitchFamily="18" charset="2"/>
              <a:buChar char=""/>
              <a:defRPr/>
            </a:pPr>
            <a:r>
              <a:rPr sz="1600"/>
              <a:t>It can take on any numerical value</a:t>
            </a:r>
          </a:p>
          <a:p>
            <a:pPr>
              <a:buFont typeface="Wingdings 3" panose="05040102010807070707" pitchFamily="18" charset="2"/>
              <a:buChar char=""/>
              <a:defRPr/>
            </a:pPr>
            <a:r>
              <a:rPr sz="1600"/>
              <a:t>numerical feature have mathematical ordering</a:t>
            </a:r>
          </a:p>
          <a:p>
            <a:pPr>
              <a:buFont typeface="Wingdings 3" panose="05040102010807070707" pitchFamily="18" charset="2"/>
              <a:buChar char=""/>
              <a:defRPr/>
            </a:pPr>
            <a:r>
              <a:rPr sz="1600"/>
              <a:t>discrete numerical feature : number of persons, number of rooms</a:t>
            </a:r>
          </a:p>
          <a:p>
            <a:pPr>
              <a:buFont typeface="Wingdings 3" panose="05040102010807070707" pitchFamily="18" charset="2"/>
              <a:buChar char=""/>
              <a:defRPr/>
            </a:pPr>
            <a:r>
              <a:rPr sz="1600"/>
              <a:t>continuous numerical feature: temperature value</a:t>
            </a:r>
            <a:endParaRPr lang="ar-EG"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F88CF7-A75F-48D0-992B-95E62B004BC5}"/>
              </a:ext>
            </a:extLst>
          </p:cNvPr>
          <p:cNvSpPr>
            <a:spLocks noGrp="1"/>
          </p:cNvSpPr>
          <p:nvPr>
            <p:ph type="body" sz="quarter" idx="10"/>
          </p:nvPr>
        </p:nvSpPr>
        <p:spPr/>
        <p:txBody>
          <a:bodyPr/>
          <a:lstStyle/>
          <a:p>
            <a:pPr>
              <a:buFont typeface="Wingdings 3" panose="05040102010807070707" pitchFamily="18" charset="2"/>
              <a:buNone/>
              <a:defRPr/>
            </a:pPr>
            <a:r>
              <a:rPr lang="en-US"/>
              <a:t>Labels</a:t>
            </a:r>
            <a:endParaRPr/>
          </a:p>
        </p:txBody>
      </p:sp>
      <p:sp>
        <p:nvSpPr>
          <p:cNvPr id="13315" name="Content Placeholder 2">
            <a:extLst>
              <a:ext uri="{FF2B5EF4-FFF2-40B4-BE49-F238E27FC236}">
                <a16:creationId xmlns:a16="http://schemas.microsoft.com/office/drawing/2014/main" id="{CD285B2F-0F0D-18CE-B48D-3C7DBCA40758}"/>
              </a:ext>
            </a:extLst>
          </p:cNvPr>
          <p:cNvSpPr>
            <a:spLocks noGrp="1" noChangeArrowheads="1"/>
          </p:cNvSpPr>
          <p:nvPr>
            <p:ph sz="quarter" idx="11"/>
          </p:nvPr>
        </p:nvSpPr>
        <p:spPr/>
        <p:txBody>
          <a:bodyPr/>
          <a:lstStyle/>
          <a:p>
            <a:endParaRPr altLang="ar-EG"/>
          </a:p>
          <a:p>
            <a:r>
              <a:rPr altLang="ar-EG"/>
              <a:t>label is a variable that a machine learning learns to predict</a:t>
            </a:r>
          </a:p>
          <a:p>
            <a:r>
              <a:rPr altLang="ar-EG"/>
              <a:t>categorical label: ex, category of a news article is a categorical label</a:t>
            </a:r>
          </a:p>
          <a:p>
            <a:r>
              <a:rPr altLang="ar-EG"/>
              <a:t>numerical label: ex, price is a numerical label</a:t>
            </a:r>
            <a:endParaRPr lang="ar-EG" altLang="ar-EG"/>
          </a:p>
        </p:txBody>
      </p:sp>
      <p:pic>
        <p:nvPicPr>
          <p:cNvPr id="13316" name="Picture 3">
            <a:extLst>
              <a:ext uri="{FF2B5EF4-FFF2-40B4-BE49-F238E27FC236}">
                <a16:creationId xmlns:a16="http://schemas.microsoft.com/office/drawing/2014/main" id="{1087BBCA-8651-0283-9DB2-94135CA1E5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1938" y="3535363"/>
            <a:ext cx="5359400"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186548-C333-4426-B0D2-10AFA9A1FDF1}"/>
              </a:ext>
            </a:extLst>
          </p:cNvPr>
          <p:cNvSpPr>
            <a:spLocks noGrp="1"/>
          </p:cNvSpPr>
          <p:nvPr>
            <p:ph type="body" sz="quarter" idx="10"/>
          </p:nvPr>
        </p:nvSpPr>
        <p:spPr/>
        <p:txBody>
          <a:bodyPr/>
          <a:lstStyle/>
          <a:p>
            <a:pPr>
              <a:buFont typeface="Wingdings 3" panose="05040102010807070707" pitchFamily="18" charset="2"/>
              <a:buNone/>
              <a:defRPr/>
            </a:pPr>
            <a:r>
              <a:rPr lang="en-US"/>
              <a:t>Models</a:t>
            </a:r>
            <a:endParaRPr/>
          </a:p>
        </p:txBody>
      </p:sp>
      <p:sp>
        <p:nvSpPr>
          <p:cNvPr id="3" name="Content Placeholder 2">
            <a:extLst>
              <a:ext uri="{FF2B5EF4-FFF2-40B4-BE49-F238E27FC236}">
                <a16:creationId xmlns:a16="http://schemas.microsoft.com/office/drawing/2014/main" id="{D1EA1316-C985-465B-8DEB-6D8E4ADAFCFD}"/>
              </a:ext>
            </a:extLst>
          </p:cNvPr>
          <p:cNvSpPr>
            <a:spLocks noGrp="1"/>
          </p:cNvSpPr>
          <p:nvPr>
            <p:ph sz="quarter" idx="11"/>
          </p:nvPr>
        </p:nvSpPr>
        <p:spPr/>
        <p:txBody>
          <a:bodyPr/>
          <a:lstStyle/>
          <a:p>
            <a:pPr>
              <a:buFont typeface="Wingdings 3" panose="05040102010807070707" pitchFamily="18" charset="2"/>
              <a:buChar char=""/>
              <a:defRPr/>
            </a:pPr>
            <a:r>
              <a:rPr sz="1800"/>
              <a:t>a mathematical construct for capturing patterns within a dataset and estimates the relationship between the dependent and independent variables and has predictive capability. and can calculate or predict the value for the dependent variable when get the values of the independent variables.</a:t>
            </a:r>
          </a:p>
          <a:p>
            <a:pPr>
              <a:buFont typeface="Wingdings 3" panose="05040102010807070707" pitchFamily="18" charset="2"/>
              <a:buChar char=""/>
              <a:defRPr/>
            </a:pPr>
            <a:endParaRPr sz="1800"/>
          </a:p>
          <a:p>
            <a:pPr>
              <a:buFont typeface="Wingdings 3" panose="05040102010807070707" pitchFamily="18" charset="2"/>
              <a:buChar char=""/>
              <a:defRPr/>
            </a:pPr>
            <a:r>
              <a:rPr sz="1800"/>
              <a:t>Training a model is a compute intensive task, while using it is not as compute intensive.</a:t>
            </a:r>
          </a:p>
          <a:p>
            <a:pPr>
              <a:buFont typeface="Wingdings 3" panose="05040102010807070707" pitchFamily="18" charset="2"/>
              <a:buChar char=""/>
              <a:defRPr/>
            </a:pPr>
            <a:r>
              <a:rPr sz="1800"/>
              <a:t>A model is generally saved to disk, so that it can be used without go to training step again.</a:t>
            </a:r>
          </a:p>
          <a:p>
            <a:pPr>
              <a:buFont typeface="Wingdings 3" panose="05040102010807070707" pitchFamily="18" charset="2"/>
              <a:buChar char=""/>
              <a:defRPr/>
            </a:pPr>
            <a:endParaRPr sz="1800"/>
          </a:p>
          <a:p>
            <a:pPr marL="0" indent="0">
              <a:buFont typeface="Wingdings 3" panose="05040102010807070707" pitchFamily="18" charset="2"/>
              <a:buNone/>
              <a:defRPr/>
            </a:pPr>
            <a:r>
              <a:rPr sz="1800" b="1"/>
              <a:t>Training Data (80% of data)</a:t>
            </a:r>
          </a:p>
          <a:p>
            <a:pPr>
              <a:buFont typeface="Wingdings 3" panose="05040102010807070707" pitchFamily="18" charset="2"/>
              <a:buChar char=""/>
              <a:defRPr/>
            </a:pPr>
            <a:r>
              <a:rPr sz="1800"/>
              <a:t>The data used by a machine learning algorithm to train a model</a:t>
            </a:r>
          </a:p>
          <a:p>
            <a:pPr>
              <a:buFont typeface="Wingdings 3" panose="05040102010807070707" pitchFamily="18" charset="2"/>
              <a:buChar char=""/>
              <a:defRPr/>
            </a:pPr>
            <a:endParaRPr sz="1800"/>
          </a:p>
          <a:p>
            <a:pPr marL="0" indent="0">
              <a:buFont typeface="Wingdings 3" panose="05040102010807070707" pitchFamily="18" charset="2"/>
              <a:buNone/>
              <a:defRPr/>
            </a:pPr>
            <a:r>
              <a:rPr sz="1800" b="1"/>
              <a:t>Test Data (20% of data)</a:t>
            </a:r>
          </a:p>
          <a:p>
            <a:pPr>
              <a:buFont typeface="Wingdings 3" panose="05040102010807070707" pitchFamily="18" charset="2"/>
              <a:buChar char=""/>
              <a:defRPr/>
            </a:pPr>
            <a:r>
              <a:rPr sz="1800"/>
              <a:t>The data used for evaluating the predictive performance of a model</a:t>
            </a:r>
            <a:endParaRPr lang="ar-EG"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0C6CF3D0-3BA0-60CF-C1A0-40A33253EF32}"/>
              </a:ext>
            </a:extLst>
          </p:cNvPr>
          <p:cNvSpPr txBox="1">
            <a:spLocks/>
          </p:cNvSpPr>
          <p:nvPr/>
        </p:nvSpPr>
        <p:spPr bwMode="auto">
          <a:xfrm>
            <a:off x="427038" y="369888"/>
            <a:ext cx="7432675" cy="159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20000"/>
              </a:spcBef>
              <a:spcAft>
                <a:spcPts val="600"/>
              </a:spcAft>
              <a:buClr>
                <a:schemeClr val="tx1"/>
              </a:buClr>
              <a:buSzPct val="80000"/>
              <a:buFont typeface="Wingdings 3" pitchFamily="2" charset="2"/>
              <a:buChar char=""/>
              <a:defRPr sz="2000">
                <a:solidFill>
                  <a:srgbClr val="0F496F"/>
                </a:solidFill>
                <a:latin typeface="Century Gothic" panose="020B0502020202020204" pitchFamily="34" charset="0"/>
              </a:defRPr>
            </a:lvl1pPr>
            <a:lvl2pPr marL="742950" indent="-285750" algn="r" rtl="1">
              <a:spcBef>
                <a:spcPct val="20000"/>
              </a:spcBef>
              <a:spcAft>
                <a:spcPts val="600"/>
              </a:spcAft>
              <a:buClr>
                <a:schemeClr val="tx1"/>
              </a:buClr>
              <a:buSzPct val="80000"/>
              <a:buFont typeface="Wingdings 3" pitchFamily="2" charset="2"/>
              <a:buChar char=""/>
              <a:defRPr>
                <a:solidFill>
                  <a:srgbClr val="0F496F"/>
                </a:solidFill>
                <a:latin typeface="Century Gothic" panose="020B0502020202020204" pitchFamily="34" charset="0"/>
              </a:defRPr>
            </a:lvl2pPr>
            <a:lvl3pPr marL="1200150" indent="-285750" algn="r" rtl="1">
              <a:spcBef>
                <a:spcPct val="20000"/>
              </a:spcBef>
              <a:spcAft>
                <a:spcPts val="600"/>
              </a:spcAft>
              <a:buClr>
                <a:schemeClr val="tx1"/>
              </a:buClr>
              <a:buSzPct val="80000"/>
              <a:buFont typeface="Wingdings 3" pitchFamily="2" charset="2"/>
              <a:buChar char=""/>
              <a:defRPr sz="1600">
                <a:solidFill>
                  <a:srgbClr val="0F496F"/>
                </a:solidFill>
                <a:latin typeface="Century Gothic" panose="020B0502020202020204" pitchFamily="34" charset="0"/>
              </a:defRPr>
            </a:lvl3pPr>
            <a:lvl4pPr marL="1543050" indent="-171450" algn="r" rtl="1">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4pPr>
            <a:lvl5pPr marL="2000250" indent="-171450" algn="r" rtl="1">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5pPr>
            <a:lvl6pPr marL="2457450" indent="-17145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6pPr>
            <a:lvl7pPr marL="2914650" indent="-17145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7pPr>
            <a:lvl8pPr marL="3371850" indent="-17145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8pPr>
            <a:lvl9pPr marL="3829050" indent="-17145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9pPr>
          </a:lstStyle>
          <a:p>
            <a:pPr algn="l" eaLnBrk="1" hangingPunct="1">
              <a:spcBef>
                <a:spcPct val="0"/>
              </a:spcBef>
              <a:spcAft>
                <a:spcPct val="0"/>
              </a:spcAft>
              <a:buClrTx/>
              <a:buSzTx/>
              <a:buFontTx/>
              <a:buNone/>
            </a:pPr>
            <a:r>
              <a:rPr lang="en-US" altLang="en-US" sz="4200" b="1">
                <a:solidFill>
                  <a:srgbClr val="FFFF00"/>
                </a:solidFill>
              </a:rPr>
              <a:t>Accuracy vs Precision</a:t>
            </a:r>
          </a:p>
        </p:txBody>
      </p:sp>
      <p:sp>
        <p:nvSpPr>
          <p:cNvPr id="15363" name="Content Placeholder 2">
            <a:extLst>
              <a:ext uri="{FF2B5EF4-FFF2-40B4-BE49-F238E27FC236}">
                <a16:creationId xmlns:a16="http://schemas.microsoft.com/office/drawing/2014/main" id="{B46C36A3-1249-ECA5-CC08-B8EF6DDAF9D3}"/>
              </a:ext>
            </a:extLst>
          </p:cNvPr>
          <p:cNvSpPr txBox="1">
            <a:spLocks/>
          </p:cNvSpPr>
          <p:nvPr/>
        </p:nvSpPr>
        <p:spPr bwMode="auto">
          <a:xfrm>
            <a:off x="427038" y="1450975"/>
            <a:ext cx="9217025" cy="490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r" rtl="1">
              <a:spcBef>
                <a:spcPct val="20000"/>
              </a:spcBef>
              <a:spcAft>
                <a:spcPts val="600"/>
              </a:spcAft>
              <a:buClr>
                <a:schemeClr val="tx1"/>
              </a:buClr>
              <a:buSzPct val="80000"/>
              <a:buFont typeface="Wingdings 3" pitchFamily="2" charset="2"/>
              <a:buChar char=""/>
              <a:defRPr sz="2000">
                <a:solidFill>
                  <a:srgbClr val="0F496F"/>
                </a:solidFill>
                <a:latin typeface="Century Gothic" panose="020B0502020202020204" pitchFamily="34" charset="0"/>
              </a:defRPr>
            </a:lvl1pPr>
            <a:lvl2pPr marL="742950" indent="-285750" algn="r" rtl="1">
              <a:spcBef>
                <a:spcPct val="20000"/>
              </a:spcBef>
              <a:spcAft>
                <a:spcPts val="600"/>
              </a:spcAft>
              <a:buClr>
                <a:schemeClr val="tx1"/>
              </a:buClr>
              <a:buSzPct val="80000"/>
              <a:buFont typeface="Wingdings 3" pitchFamily="2" charset="2"/>
              <a:buChar char=""/>
              <a:defRPr>
                <a:solidFill>
                  <a:srgbClr val="0F496F"/>
                </a:solidFill>
                <a:latin typeface="Century Gothic" panose="020B0502020202020204" pitchFamily="34" charset="0"/>
              </a:defRPr>
            </a:lvl2pPr>
            <a:lvl3pPr marL="1143000" indent="-228600" algn="r" rtl="1">
              <a:spcBef>
                <a:spcPct val="20000"/>
              </a:spcBef>
              <a:spcAft>
                <a:spcPts val="600"/>
              </a:spcAft>
              <a:buClr>
                <a:schemeClr val="tx1"/>
              </a:buClr>
              <a:buSzPct val="80000"/>
              <a:buFont typeface="Wingdings 3" pitchFamily="2" charset="2"/>
              <a:buChar char=""/>
              <a:defRPr sz="1600">
                <a:solidFill>
                  <a:srgbClr val="0F496F"/>
                </a:solidFill>
                <a:latin typeface="Century Gothic" panose="020B0502020202020204" pitchFamily="34" charset="0"/>
              </a:defRPr>
            </a:lvl3pPr>
            <a:lvl4pPr marL="1600200" indent="-228600" algn="r" rtl="1">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4pPr>
            <a:lvl5pPr marL="2057400" indent="-228600" algn="r" rtl="1">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5pPr>
            <a:lvl6pPr marL="2514600" indent="-22860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6pPr>
            <a:lvl7pPr marL="2971800" indent="-22860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7pPr>
            <a:lvl8pPr marL="3429000" indent="-22860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8pPr>
            <a:lvl9pPr marL="3886200" indent="-228600" algn="r" defTabSz="457200" rtl="1" eaLnBrk="0" fontAlgn="base" hangingPunct="0">
              <a:spcBef>
                <a:spcPct val="20000"/>
              </a:spcBef>
              <a:spcAft>
                <a:spcPts val="600"/>
              </a:spcAft>
              <a:buClr>
                <a:schemeClr val="tx1"/>
              </a:buClr>
              <a:buSzPct val="80000"/>
              <a:buFont typeface="Wingdings 3" pitchFamily="2" charset="2"/>
              <a:buChar char=""/>
              <a:defRPr sz="1400">
                <a:solidFill>
                  <a:srgbClr val="0F496F"/>
                </a:solidFill>
                <a:latin typeface="Century Gothic" panose="020B0502020202020204" pitchFamily="34" charset="0"/>
              </a:defRPr>
            </a:lvl9pPr>
          </a:lstStyle>
          <a:p>
            <a:pPr algn="l" rtl="0" eaLnBrk="1" hangingPunct="1">
              <a:spcBef>
                <a:spcPts val="1000"/>
              </a:spcBef>
              <a:spcAft>
                <a:spcPct val="0"/>
              </a:spcAft>
              <a:buClr>
                <a:srgbClr val="8AD0D6"/>
              </a:buClr>
              <a:buFont typeface="Wingdings 3" pitchFamily="2" charset="2"/>
              <a:buChar char=""/>
            </a:pPr>
            <a:r>
              <a:rPr lang="en-US" altLang="en-US" b="1">
                <a:solidFill>
                  <a:srgbClr val="FFFFFF"/>
                </a:solidFill>
              </a:rPr>
              <a:t>Accuracy</a:t>
            </a:r>
            <a:r>
              <a:rPr lang="en-US" altLang="en-US">
                <a:solidFill>
                  <a:srgbClr val="FFFFFF"/>
                </a:solidFill>
              </a:rPr>
              <a:t> is how close a measured value is to the actual (true) value.</a:t>
            </a:r>
          </a:p>
          <a:p>
            <a:pPr algn="l" rtl="0" eaLnBrk="1" hangingPunct="1">
              <a:spcBef>
                <a:spcPts val="1000"/>
              </a:spcBef>
              <a:spcAft>
                <a:spcPct val="0"/>
              </a:spcAft>
              <a:buClr>
                <a:srgbClr val="8AD0D6"/>
              </a:buClr>
              <a:buFont typeface="Wingdings 3" pitchFamily="2" charset="2"/>
              <a:buChar char=""/>
            </a:pPr>
            <a:r>
              <a:rPr lang="en-US" altLang="en-US" b="1">
                <a:solidFill>
                  <a:srgbClr val="FFFFFF"/>
                </a:solidFill>
              </a:rPr>
              <a:t>Precision</a:t>
            </a:r>
            <a:r>
              <a:rPr lang="en-US" altLang="en-US">
                <a:solidFill>
                  <a:srgbClr val="FFFFFF"/>
                </a:solidFill>
              </a:rPr>
              <a:t> is how close the measured values are to each other.</a:t>
            </a:r>
          </a:p>
        </p:txBody>
      </p:sp>
      <p:pic>
        <p:nvPicPr>
          <p:cNvPr id="15364" name="Picture 2">
            <a:extLst>
              <a:ext uri="{FF2B5EF4-FFF2-40B4-BE49-F238E27FC236}">
                <a16:creationId xmlns:a16="http://schemas.microsoft.com/office/drawing/2014/main" id="{5480320B-1A1C-C46F-DDB0-DB273BFBC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300" y="2674938"/>
            <a:ext cx="7920038" cy="368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04B2B4-383E-4AA1-915E-616598571A95}"/>
              </a:ext>
            </a:extLst>
          </p:cNvPr>
          <p:cNvSpPr>
            <a:spLocks noGrp="1"/>
          </p:cNvSpPr>
          <p:nvPr>
            <p:ph type="body" sz="quarter" idx="10"/>
          </p:nvPr>
        </p:nvSpPr>
        <p:spPr/>
        <p:txBody>
          <a:bodyPr/>
          <a:lstStyle/>
          <a:p>
            <a:pPr>
              <a:buFont typeface="Wingdings 3" panose="05040102010807070707" pitchFamily="18" charset="2"/>
              <a:buNone/>
              <a:defRPr/>
            </a:pPr>
            <a:r>
              <a:rPr lang="en-US"/>
              <a:t>Machine learning techniques</a:t>
            </a:r>
            <a:endParaRPr/>
          </a:p>
        </p:txBody>
      </p:sp>
      <p:sp>
        <p:nvSpPr>
          <p:cNvPr id="3" name="Content Placeholder 2">
            <a:extLst>
              <a:ext uri="{FF2B5EF4-FFF2-40B4-BE49-F238E27FC236}">
                <a16:creationId xmlns:a16="http://schemas.microsoft.com/office/drawing/2014/main" id="{F58411C8-812F-4D72-B680-0EC18314D02B}"/>
              </a:ext>
            </a:extLst>
          </p:cNvPr>
          <p:cNvSpPr>
            <a:spLocks noGrp="1"/>
          </p:cNvSpPr>
          <p:nvPr>
            <p:ph sz="quarter" idx="11"/>
          </p:nvPr>
        </p:nvSpPr>
        <p:spPr>
          <a:xfrm>
            <a:off x="434975" y="1317625"/>
            <a:ext cx="8224838" cy="5202238"/>
          </a:xfrm>
        </p:spPr>
        <p:txBody>
          <a:bodyPr/>
          <a:lstStyle/>
          <a:p>
            <a:pPr marL="0" indent="0">
              <a:buFont typeface="Wingdings 3" panose="05040102010807070707" pitchFamily="18" charset="2"/>
              <a:buNone/>
              <a:defRPr/>
            </a:pPr>
            <a:r>
              <a:t>Machine learning mainly has three types of learning techniques:</a:t>
            </a:r>
          </a:p>
          <a:p>
            <a:pPr>
              <a:buFont typeface="Wingdings 3" panose="05040102010807070707" pitchFamily="18" charset="2"/>
              <a:buChar char=""/>
              <a:defRPr/>
            </a:pPr>
            <a:r>
              <a:t>Supervised learning</a:t>
            </a:r>
          </a:p>
          <a:p>
            <a:pPr>
              <a:buFont typeface="Wingdings 3" panose="05040102010807070707" pitchFamily="18" charset="2"/>
              <a:buChar char=""/>
              <a:defRPr/>
            </a:pPr>
            <a:r>
              <a:t>Unsupervised learning</a:t>
            </a:r>
          </a:p>
          <a:p>
            <a:pPr>
              <a:buFont typeface="Wingdings 3" panose="05040102010807070707" pitchFamily="18" charset="2"/>
              <a:buChar char=""/>
              <a:defRPr/>
            </a:pPr>
            <a:r>
              <a:t>Reinforcement learning</a:t>
            </a:r>
            <a:endParaRPr lang="ar-EG"/>
          </a:p>
        </p:txBody>
      </p:sp>
      <p:pic>
        <p:nvPicPr>
          <p:cNvPr id="16388" name="Picture 4">
            <a:extLst>
              <a:ext uri="{FF2B5EF4-FFF2-40B4-BE49-F238E27FC236}">
                <a16:creationId xmlns:a16="http://schemas.microsoft.com/office/drawing/2014/main" id="{0AB1085C-91DE-9C87-57D3-63BCCB176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4113" y="1874838"/>
            <a:ext cx="7148512"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9EB863-7BA7-4730-8E7C-CEFCE8E567CC}"/>
              </a:ext>
            </a:extLst>
          </p:cNvPr>
          <p:cNvSpPr>
            <a:spLocks noGrp="1"/>
          </p:cNvSpPr>
          <p:nvPr>
            <p:ph type="body" sz="quarter" idx="10"/>
          </p:nvPr>
        </p:nvSpPr>
        <p:spPr/>
        <p:txBody>
          <a:bodyPr/>
          <a:lstStyle/>
          <a:p>
            <a:pPr>
              <a:buFont typeface="Wingdings 3" panose="05040102010807070707" pitchFamily="18" charset="2"/>
              <a:buNone/>
              <a:defRPr/>
            </a:pPr>
            <a:r>
              <a:rPr lang="en-US"/>
              <a:t>Machine Learning tasks categories</a:t>
            </a:r>
            <a:endParaRPr/>
          </a:p>
        </p:txBody>
      </p:sp>
      <p:sp>
        <p:nvSpPr>
          <p:cNvPr id="17411" name="Content Placeholder 2">
            <a:extLst>
              <a:ext uri="{FF2B5EF4-FFF2-40B4-BE49-F238E27FC236}">
                <a16:creationId xmlns:a16="http://schemas.microsoft.com/office/drawing/2014/main" id="{9A1EEFE2-3D4D-F50D-DB9B-6B2465027376}"/>
              </a:ext>
            </a:extLst>
          </p:cNvPr>
          <p:cNvSpPr>
            <a:spLocks noGrp="1" noChangeArrowheads="1"/>
          </p:cNvSpPr>
          <p:nvPr>
            <p:ph sz="quarter" idx="11"/>
          </p:nvPr>
        </p:nvSpPr>
        <p:spPr>
          <a:xfrm>
            <a:off x="434975" y="2136775"/>
            <a:ext cx="11288713" cy="4383088"/>
          </a:xfrm>
        </p:spPr>
        <p:txBody>
          <a:bodyPr/>
          <a:lstStyle/>
          <a:p>
            <a:pPr marL="914400" lvl="1" indent="-457200">
              <a:buFont typeface="Century Gothic" panose="020B0502020202020204" pitchFamily="34" charset="0"/>
              <a:buAutoNum type="arabicPeriod"/>
            </a:pPr>
            <a:r>
              <a:rPr altLang="ar-EG"/>
              <a:t>Classification </a:t>
            </a:r>
          </a:p>
          <a:p>
            <a:pPr marL="914400" lvl="1" indent="-457200">
              <a:buFont typeface="Century Gothic" panose="020B0502020202020204" pitchFamily="34" charset="0"/>
              <a:buAutoNum type="arabicPeriod"/>
            </a:pPr>
            <a:r>
              <a:rPr altLang="ar-EG"/>
              <a:t>Regression</a:t>
            </a:r>
          </a:p>
          <a:p>
            <a:pPr marL="914400" lvl="1" indent="-457200">
              <a:buFont typeface="Century Gothic" panose="020B0502020202020204" pitchFamily="34" charset="0"/>
              <a:buAutoNum type="arabicPeriod"/>
            </a:pPr>
            <a:r>
              <a:rPr altLang="ar-EG"/>
              <a:t>Clustering</a:t>
            </a:r>
          </a:p>
          <a:p>
            <a:pPr marL="914400" lvl="1" indent="-457200">
              <a:buFont typeface="Century Gothic" panose="020B0502020202020204" pitchFamily="34" charset="0"/>
              <a:buAutoNum type="arabicPeriod"/>
            </a:pPr>
            <a:r>
              <a:rPr altLang="ar-EG"/>
              <a:t>Anomaly detection</a:t>
            </a:r>
          </a:p>
          <a:p>
            <a:pPr marL="914400" lvl="1" indent="-457200">
              <a:buFont typeface="Century Gothic" panose="020B0502020202020204" pitchFamily="34" charset="0"/>
              <a:buAutoNum type="arabicPeriod"/>
            </a:pPr>
            <a:r>
              <a:rPr altLang="ar-EG"/>
              <a:t>Association</a:t>
            </a:r>
          </a:p>
          <a:p>
            <a:pPr marL="914400" lvl="1" indent="-457200">
              <a:buFont typeface="Century Gothic" panose="020B0502020202020204" pitchFamily="34" charset="0"/>
              <a:buAutoNum type="arabicPeriod"/>
            </a:pPr>
            <a:r>
              <a:rPr altLang="ar-EG"/>
              <a:t>Recommendation</a:t>
            </a:r>
          </a:p>
          <a:p>
            <a:pPr marL="914400" lvl="1" indent="-457200">
              <a:buFont typeface="Century Gothic" panose="020B0502020202020204" pitchFamily="34" charset="0"/>
              <a:buAutoNum type="arabicPeriod"/>
            </a:pPr>
            <a:r>
              <a:rPr altLang="ar-EG"/>
              <a:t>Dimensionality reduction</a:t>
            </a:r>
            <a:endParaRPr lang="ar-EG" altLang="ar-EG"/>
          </a:p>
          <a:p>
            <a:pPr marL="914400" lvl="1" indent="-457200">
              <a:buFont typeface="Century Gothic" panose="020B0502020202020204" pitchFamily="34" charset="0"/>
              <a:buAutoNum type="arabicPeriod"/>
            </a:pPr>
            <a:r>
              <a:rPr altLang="ar-EG"/>
              <a:t>Computer Vision</a:t>
            </a:r>
          </a:p>
          <a:p>
            <a:pPr marL="914400" lvl="1" indent="-457200">
              <a:buFont typeface="Century Gothic" panose="020B0502020202020204" pitchFamily="34" charset="0"/>
              <a:buAutoNum type="arabicPeriod"/>
            </a:pPr>
            <a:r>
              <a:rPr altLang="ar-EG"/>
              <a:t>Text Analytics</a:t>
            </a:r>
          </a:p>
        </p:txBody>
      </p:sp>
      <p:pic>
        <p:nvPicPr>
          <p:cNvPr id="17412" name="Picture 4">
            <a:extLst>
              <a:ext uri="{FF2B5EF4-FFF2-40B4-BE49-F238E27FC236}">
                <a16:creationId xmlns:a16="http://schemas.microsoft.com/office/drawing/2014/main" id="{2A705B54-775B-EE61-A8C7-6D08BBE315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096" b="68895"/>
          <a:stretch>
            <a:fillRect/>
          </a:stretch>
        </p:blipFill>
        <p:spPr bwMode="auto">
          <a:xfrm>
            <a:off x="3130550" y="1211263"/>
            <a:ext cx="591978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25BE5C-7AF7-4720-A041-B9043AB5461E}"/>
              </a:ext>
            </a:extLst>
          </p:cNvPr>
          <p:cNvSpPr>
            <a:spLocks noGrp="1"/>
          </p:cNvSpPr>
          <p:nvPr>
            <p:ph type="body" sz="quarter" idx="10"/>
          </p:nvPr>
        </p:nvSpPr>
        <p:spPr>
          <a:xfrm>
            <a:off x="457200" y="92075"/>
            <a:ext cx="11266488" cy="914400"/>
          </a:xfrm>
        </p:spPr>
        <p:txBody>
          <a:bodyPr/>
          <a:lstStyle/>
          <a:p>
            <a:pPr>
              <a:buFont typeface="Wingdings 3" panose="05040102010807070707" pitchFamily="18" charset="2"/>
              <a:buNone/>
              <a:defRPr/>
            </a:pPr>
            <a:r>
              <a:rPr lang="en-US"/>
              <a:t>Classification </a:t>
            </a:r>
            <a:r>
              <a:rPr lang="en-US">
                <a:solidFill>
                  <a:schemeClr val="tx1"/>
                </a:solidFill>
              </a:rPr>
              <a:t>[supervised learning]</a:t>
            </a:r>
            <a:endParaRPr>
              <a:solidFill>
                <a:schemeClr val="tx1"/>
              </a:solidFill>
            </a:endParaRPr>
          </a:p>
        </p:txBody>
      </p:sp>
      <p:sp>
        <p:nvSpPr>
          <p:cNvPr id="3" name="Content Placeholder 2">
            <a:extLst>
              <a:ext uri="{FF2B5EF4-FFF2-40B4-BE49-F238E27FC236}">
                <a16:creationId xmlns:a16="http://schemas.microsoft.com/office/drawing/2014/main" id="{AA8E4687-986B-4EC0-962E-95493EE6BBBA}"/>
              </a:ext>
            </a:extLst>
          </p:cNvPr>
          <p:cNvSpPr>
            <a:spLocks noGrp="1"/>
          </p:cNvSpPr>
          <p:nvPr>
            <p:ph sz="quarter" idx="11"/>
          </p:nvPr>
        </p:nvSpPr>
        <p:spPr>
          <a:xfrm>
            <a:off x="434975" y="914400"/>
            <a:ext cx="11288713" cy="5605463"/>
          </a:xfrm>
        </p:spPr>
        <p:txBody>
          <a:bodyPr/>
          <a:lstStyle/>
          <a:p>
            <a:pPr>
              <a:buFont typeface="Wingdings 3" panose="05040102010807070707" pitchFamily="18" charset="2"/>
              <a:buChar char=""/>
              <a:defRPr/>
            </a:pPr>
            <a:r>
              <a:t>Classification is concerned with building models that separate data into distinct classes. These models are built by inputting a set of training data for which the classes are pre-labelled in order for the algorithm to learn from. The model is then used by inputting a different dataset for which the classes are withheld, allowing the model to predict their class membership based on what it has learned from the training set. </a:t>
            </a:r>
          </a:p>
          <a:p>
            <a:pPr marL="0" indent="0">
              <a:buFont typeface="Wingdings 3" panose="05040102010807070707" pitchFamily="18" charset="2"/>
              <a:buNone/>
              <a:defRPr/>
            </a:pPr>
            <a:endParaRPr sz="700" b="1"/>
          </a:p>
          <a:p>
            <a:pPr marL="0" indent="0">
              <a:buFont typeface="Wingdings 3" panose="05040102010807070707" pitchFamily="18" charset="2"/>
              <a:buNone/>
              <a:defRPr/>
            </a:pPr>
            <a:r>
              <a:rPr sz="1800" b="1"/>
              <a:t>Binary classification examples (divide data to two options only)</a:t>
            </a:r>
          </a:p>
          <a:p>
            <a:pPr>
              <a:buFont typeface="Wingdings 3" panose="05040102010807070707" pitchFamily="18" charset="2"/>
              <a:buChar char=""/>
              <a:defRPr/>
            </a:pPr>
            <a:r>
              <a:rPr sz="1800"/>
              <a:t>spam filtering is a classification task</a:t>
            </a:r>
          </a:p>
          <a:p>
            <a:pPr>
              <a:buFont typeface="Wingdings 3" panose="05040102010807070707" pitchFamily="18" charset="2"/>
              <a:buChar char=""/>
              <a:defRPr/>
            </a:pPr>
            <a:r>
              <a:rPr sz="1800"/>
              <a:t>Tumor diagnosis can be treated as a classification problem.</a:t>
            </a:r>
          </a:p>
          <a:p>
            <a:pPr>
              <a:buFont typeface="Wingdings 3" panose="05040102010807070707" pitchFamily="18" charset="2"/>
              <a:buChar char=""/>
              <a:defRPr/>
            </a:pPr>
            <a:r>
              <a:rPr sz="1800"/>
              <a:t>determining credit risk using personal information such as income, outstanding debt</a:t>
            </a:r>
          </a:p>
          <a:p>
            <a:pPr>
              <a:buFont typeface="Wingdings 3" panose="05040102010807070707" pitchFamily="18" charset="2"/>
              <a:buChar char=""/>
              <a:defRPr/>
            </a:pPr>
            <a:endParaRPr sz="800"/>
          </a:p>
          <a:p>
            <a:pPr marL="0" indent="0">
              <a:buFont typeface="Wingdings 3" panose="05040102010807070707" pitchFamily="18" charset="2"/>
              <a:buNone/>
              <a:defRPr/>
            </a:pPr>
            <a:r>
              <a:rPr sz="1800" b="1"/>
              <a:t>Multi-class classification examples</a:t>
            </a:r>
          </a:p>
          <a:p>
            <a:pPr>
              <a:buFont typeface="Wingdings 3" panose="05040102010807070707" pitchFamily="18" charset="2"/>
              <a:buChar char=""/>
              <a:defRPr/>
            </a:pPr>
            <a:r>
              <a:rPr sz="1800"/>
              <a:t>handwritten recognition each character is a multi-class classification problem</a:t>
            </a:r>
          </a:p>
          <a:p>
            <a:pPr>
              <a:buFont typeface="Wingdings 3" panose="05040102010807070707" pitchFamily="18" charset="2"/>
              <a:buChar char=""/>
              <a:defRPr/>
            </a:pPr>
            <a:r>
              <a:rPr sz="1800"/>
              <a:t>image recognition is a multi-class classification task</a:t>
            </a:r>
          </a:p>
          <a:p>
            <a:pPr>
              <a:buFont typeface="Wingdings 3" panose="05040102010807070707" pitchFamily="18" charset="2"/>
              <a:buChar char=""/>
              <a:defRPr/>
            </a:pPr>
            <a:r>
              <a:rPr sz="1800"/>
              <a:t>Xbox Kinect360, which infers body parts and position</a:t>
            </a:r>
            <a:endParaRPr lang="ar-EG"/>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82D6B0-1A0B-4F88-8880-D3449525BC7B}"/>
              </a:ext>
            </a:extLst>
          </p:cNvPr>
          <p:cNvSpPr>
            <a:spLocks noGrp="1"/>
          </p:cNvSpPr>
          <p:nvPr>
            <p:ph type="body" sz="quarter" idx="10"/>
          </p:nvPr>
        </p:nvSpPr>
        <p:spPr/>
        <p:txBody>
          <a:bodyPr/>
          <a:lstStyle/>
          <a:p>
            <a:pPr>
              <a:buFont typeface="Wingdings 3" panose="05040102010807070707" pitchFamily="18" charset="2"/>
              <a:buNone/>
              <a:defRPr/>
            </a:pPr>
            <a:r>
              <a:rPr lang="en-US"/>
              <a:t>Regression </a:t>
            </a:r>
            <a:r>
              <a:rPr lang="en-US">
                <a:solidFill>
                  <a:schemeClr val="tx1"/>
                </a:solidFill>
              </a:rPr>
              <a:t>[ supervised learning]</a:t>
            </a:r>
            <a:endParaRPr>
              <a:solidFill>
                <a:schemeClr val="tx1"/>
              </a:solidFill>
            </a:endParaRPr>
          </a:p>
        </p:txBody>
      </p:sp>
      <p:sp>
        <p:nvSpPr>
          <p:cNvPr id="3" name="Content Placeholder 2">
            <a:extLst>
              <a:ext uri="{FF2B5EF4-FFF2-40B4-BE49-F238E27FC236}">
                <a16:creationId xmlns:a16="http://schemas.microsoft.com/office/drawing/2014/main" id="{8AC91C43-9792-4BFA-A482-FDA9A528AB1C}"/>
              </a:ext>
            </a:extLst>
          </p:cNvPr>
          <p:cNvSpPr>
            <a:spLocks noGrp="1"/>
          </p:cNvSpPr>
          <p:nvPr>
            <p:ph sz="quarter" idx="11"/>
          </p:nvPr>
        </p:nvSpPr>
        <p:spPr/>
        <p:txBody>
          <a:bodyPr/>
          <a:lstStyle/>
          <a:p>
            <a:pPr>
              <a:buFont typeface="Wingdings 3" panose="05040102010807070707" pitchFamily="18" charset="2"/>
              <a:buChar char=""/>
              <a:defRPr/>
            </a:pPr>
            <a:r>
              <a:t>The goal is to predict a numerical label for an unlabeled observation</a:t>
            </a:r>
          </a:p>
          <a:p>
            <a:pPr>
              <a:buFont typeface="Wingdings 3" panose="05040102010807070707" pitchFamily="18" charset="2"/>
              <a:buChar char=""/>
              <a:defRPr/>
            </a:pPr>
            <a:endParaRPr/>
          </a:p>
          <a:p>
            <a:pPr marL="0" indent="0">
              <a:buFont typeface="Wingdings 3" panose="05040102010807070707" pitchFamily="18" charset="2"/>
              <a:buNone/>
              <a:defRPr/>
            </a:pPr>
            <a:r>
              <a:rPr b="1">
                <a:solidFill>
                  <a:srgbClr val="FFFF00"/>
                </a:solidFill>
              </a:rPr>
              <a:t>Regression algorithms:</a:t>
            </a:r>
            <a:r>
              <a:t> Linear regression, Decision trees</a:t>
            </a:r>
          </a:p>
          <a:p>
            <a:pPr>
              <a:buFont typeface="Wingdings 3" panose="05040102010807070707" pitchFamily="18" charset="2"/>
              <a:buChar char=""/>
              <a:defRPr/>
            </a:pPr>
            <a:endParaRPr/>
          </a:p>
          <a:p>
            <a:pPr marL="0" indent="0">
              <a:buFont typeface="Wingdings 3" panose="05040102010807070707" pitchFamily="18" charset="2"/>
              <a:buNone/>
              <a:defRPr/>
            </a:pPr>
            <a:r>
              <a:t>Examples</a:t>
            </a:r>
          </a:p>
          <a:p>
            <a:pPr>
              <a:buFont typeface="Wingdings 3" panose="05040102010807070707" pitchFamily="18" charset="2"/>
              <a:buChar char=""/>
              <a:defRPr/>
            </a:pPr>
            <a:r>
              <a:t>home valuation</a:t>
            </a:r>
          </a:p>
          <a:p>
            <a:pPr>
              <a:buFont typeface="Wingdings 3" panose="05040102010807070707" pitchFamily="18" charset="2"/>
              <a:buChar char=""/>
              <a:defRPr/>
            </a:pPr>
            <a:r>
              <a:t>Asset trading, and forecasting</a:t>
            </a:r>
          </a:p>
          <a:p>
            <a:pPr>
              <a:buFont typeface="Wingdings 3" panose="05040102010807070707" pitchFamily="18" charset="2"/>
              <a:buChar char=""/>
              <a:defRPr/>
            </a:pPr>
            <a:r>
              <a:t>Sales or inventory forecasting</a:t>
            </a:r>
          </a:p>
          <a:p>
            <a:pPr>
              <a:buFont typeface="Wingdings 3" panose="05040102010807070707" pitchFamily="18" charset="2"/>
              <a:buChar char=""/>
              <a:defRPr/>
            </a:pPr>
            <a:endParaRPr lang="ar-EG"/>
          </a:p>
        </p:txBody>
      </p:sp>
      <p:pic>
        <p:nvPicPr>
          <p:cNvPr id="19460" name="Picture 3">
            <a:extLst>
              <a:ext uri="{FF2B5EF4-FFF2-40B4-BE49-F238E27FC236}">
                <a16:creationId xmlns:a16="http://schemas.microsoft.com/office/drawing/2014/main" id="{F4E347A6-B96B-B326-8610-CEDB82F55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3850" y="3535363"/>
            <a:ext cx="5359400"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7ADA85-3B11-428F-8C42-FFCF9DC0E816}"/>
              </a:ext>
            </a:extLst>
          </p:cNvPr>
          <p:cNvSpPr>
            <a:spLocks noGrp="1"/>
          </p:cNvSpPr>
          <p:nvPr>
            <p:ph type="body" sz="quarter" idx="10"/>
          </p:nvPr>
        </p:nvSpPr>
        <p:spPr/>
        <p:txBody>
          <a:bodyPr/>
          <a:lstStyle/>
          <a:p>
            <a:pPr>
              <a:buFont typeface="Wingdings 3" panose="05040102010807070707" pitchFamily="18" charset="2"/>
              <a:buNone/>
              <a:defRPr/>
            </a:pPr>
            <a:r>
              <a:rPr lang="en-US"/>
              <a:t>Anomaly Detection </a:t>
            </a:r>
            <a:r>
              <a:rPr lang="en-US">
                <a:solidFill>
                  <a:schemeClr val="tx1"/>
                </a:solidFill>
              </a:rPr>
              <a:t>[ supervised learning]</a:t>
            </a:r>
            <a:endParaRPr>
              <a:solidFill>
                <a:schemeClr val="tx1"/>
              </a:solidFill>
            </a:endParaRPr>
          </a:p>
        </p:txBody>
      </p:sp>
      <p:sp>
        <p:nvSpPr>
          <p:cNvPr id="3" name="Content Placeholder 2">
            <a:extLst>
              <a:ext uri="{FF2B5EF4-FFF2-40B4-BE49-F238E27FC236}">
                <a16:creationId xmlns:a16="http://schemas.microsoft.com/office/drawing/2014/main" id="{964938D0-57C0-41C9-B07B-1305F375845E}"/>
              </a:ext>
            </a:extLst>
          </p:cNvPr>
          <p:cNvSpPr>
            <a:spLocks noGrp="1"/>
          </p:cNvSpPr>
          <p:nvPr>
            <p:ph sz="quarter" idx="11"/>
          </p:nvPr>
        </p:nvSpPr>
        <p:spPr/>
        <p:txBody>
          <a:bodyPr/>
          <a:lstStyle/>
          <a:p>
            <a:pPr marL="0" indent="0">
              <a:buFont typeface="Wingdings 3" panose="05040102010807070707" pitchFamily="18" charset="2"/>
              <a:buNone/>
              <a:defRPr/>
            </a:pPr>
            <a:r>
              <a:t>the goal is to find outliers, noise, deviations in a dataset</a:t>
            </a:r>
          </a:p>
          <a:p>
            <a:pPr marL="0" indent="0">
              <a:buFont typeface="Wingdings 3" panose="05040102010807070707" pitchFamily="18" charset="2"/>
              <a:buNone/>
              <a:defRPr/>
            </a:pPr>
            <a:endParaRPr b="1"/>
          </a:p>
          <a:p>
            <a:pPr marL="0" indent="0">
              <a:buFont typeface="Wingdings 3" panose="05040102010807070707" pitchFamily="18" charset="2"/>
              <a:buNone/>
              <a:defRPr/>
            </a:pPr>
            <a:r>
              <a:rPr b="1"/>
              <a:t>Anomaly detection applications </a:t>
            </a:r>
          </a:p>
          <a:p>
            <a:pPr>
              <a:buFont typeface="Wingdings 3" panose="05040102010807070707" pitchFamily="18" charset="2"/>
              <a:buChar char=""/>
              <a:defRPr/>
            </a:pPr>
            <a:r>
              <a:t>In manufacturing, it is used for automatically finding defective products. </a:t>
            </a:r>
          </a:p>
          <a:p>
            <a:pPr>
              <a:buFont typeface="Wingdings 3" panose="05040102010807070707" pitchFamily="18" charset="2"/>
              <a:buChar char=""/>
              <a:defRPr/>
            </a:pPr>
            <a:r>
              <a:t>In data centers, it is used for detecting bad systems. </a:t>
            </a:r>
          </a:p>
          <a:p>
            <a:pPr>
              <a:buFont typeface="Wingdings 3" panose="05040102010807070707" pitchFamily="18" charset="2"/>
              <a:buChar char=""/>
              <a:defRPr/>
            </a:pPr>
            <a:r>
              <a:t>Websites use it for fraud detection. </a:t>
            </a:r>
          </a:p>
          <a:p>
            <a:pPr>
              <a:buFont typeface="Wingdings 3" panose="05040102010807070707" pitchFamily="18" charset="2"/>
              <a:buChar char=""/>
              <a:defRPr/>
            </a:pPr>
            <a:r>
              <a:t>Detecting security attacks. Network traffic associated with a security attack is unlike normal network traffic. Similarly, hacker activity on a machine will be different from a normal user activity.</a:t>
            </a:r>
            <a:endParaRPr lang="ar-E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3DCB21-0B74-431F-98E5-C03649094A67}"/>
              </a:ext>
            </a:extLst>
          </p:cNvPr>
          <p:cNvSpPr>
            <a:spLocks noGrp="1"/>
          </p:cNvSpPr>
          <p:nvPr>
            <p:ph type="body" sz="quarter" idx="10"/>
          </p:nvPr>
        </p:nvSpPr>
        <p:spPr/>
        <p:txBody>
          <a:bodyPr/>
          <a:lstStyle/>
          <a:p>
            <a:pPr>
              <a:buFont typeface="Wingdings 3" panose="05040102010807070707" pitchFamily="18" charset="2"/>
              <a:buNone/>
              <a:defRPr/>
            </a:pPr>
            <a:r>
              <a:rPr lang="en-US"/>
              <a:t>Clustering </a:t>
            </a:r>
            <a:r>
              <a:rPr lang="en-US">
                <a:solidFill>
                  <a:schemeClr val="tx1"/>
                </a:solidFill>
              </a:rPr>
              <a:t>[unsupervised learning]</a:t>
            </a:r>
            <a:endParaRPr>
              <a:solidFill>
                <a:schemeClr val="tx1"/>
              </a:solidFill>
            </a:endParaRPr>
          </a:p>
        </p:txBody>
      </p:sp>
      <p:sp>
        <p:nvSpPr>
          <p:cNvPr id="3" name="Content Placeholder 2">
            <a:extLst>
              <a:ext uri="{FF2B5EF4-FFF2-40B4-BE49-F238E27FC236}">
                <a16:creationId xmlns:a16="http://schemas.microsoft.com/office/drawing/2014/main" id="{2ED49A94-92A5-427C-B23E-9F6CB175A28B}"/>
              </a:ext>
            </a:extLst>
          </p:cNvPr>
          <p:cNvSpPr>
            <a:spLocks noGrp="1"/>
          </p:cNvSpPr>
          <p:nvPr>
            <p:ph sz="quarter" idx="11"/>
          </p:nvPr>
        </p:nvSpPr>
        <p:spPr>
          <a:xfrm>
            <a:off x="434975" y="1023938"/>
            <a:ext cx="9309100" cy="5495925"/>
          </a:xfrm>
        </p:spPr>
        <p:txBody>
          <a:bodyPr/>
          <a:lstStyle/>
          <a:p>
            <a:pPr>
              <a:buFont typeface="Wingdings 3" panose="05040102010807070707" pitchFamily="18" charset="2"/>
              <a:buChar char=""/>
              <a:defRPr/>
            </a:pPr>
            <a:r>
              <a:rPr sz="1600"/>
              <a:t>The aim is to split a dataset into a specified number of clusters or segments. </a:t>
            </a:r>
          </a:p>
          <a:p>
            <a:pPr>
              <a:buFont typeface="Wingdings 3" panose="05040102010807070707" pitchFamily="18" charset="2"/>
              <a:buChar char=""/>
              <a:defRPr/>
            </a:pPr>
            <a:r>
              <a:rPr sz="1600"/>
              <a:t>Elements in the same cluster are more similar to each other than to those in other clusters.</a:t>
            </a:r>
          </a:p>
          <a:p>
            <a:pPr>
              <a:buFont typeface="Wingdings 3" panose="05040102010807070707" pitchFamily="18" charset="2"/>
              <a:buChar char=""/>
              <a:defRPr/>
            </a:pPr>
            <a:endParaRPr sz="1600"/>
          </a:p>
          <a:p>
            <a:pPr marL="0" indent="0">
              <a:buFont typeface="Wingdings 3" panose="05040102010807070707" pitchFamily="18" charset="2"/>
              <a:buNone/>
              <a:defRPr/>
            </a:pPr>
            <a:r>
              <a:rPr b="1">
                <a:solidFill>
                  <a:srgbClr val="FFFF00"/>
                </a:solidFill>
              </a:rPr>
              <a:t>Clustering algorithms</a:t>
            </a:r>
            <a:endParaRPr sz="1600" b="1">
              <a:solidFill>
                <a:srgbClr val="FFFF00"/>
              </a:solidFill>
            </a:endParaRPr>
          </a:p>
          <a:p>
            <a:pPr marL="0" indent="0">
              <a:buFont typeface="Wingdings 3" panose="05040102010807070707" pitchFamily="18" charset="2"/>
              <a:buNone/>
              <a:defRPr/>
            </a:pPr>
            <a:r>
              <a:rPr sz="1600" b="1"/>
              <a:t>1) k-means</a:t>
            </a:r>
          </a:p>
          <a:p>
            <a:pPr>
              <a:buFont typeface="Wingdings 3" panose="05040102010807070707" pitchFamily="18" charset="2"/>
              <a:buChar char=""/>
              <a:defRPr/>
            </a:pPr>
            <a:r>
              <a:rPr sz="1600"/>
              <a:t>The number of clusters (k) must be given explicitly. </a:t>
            </a:r>
          </a:p>
          <a:p>
            <a:pPr>
              <a:buFont typeface="Wingdings 3" panose="05040102010807070707" pitchFamily="18" charset="2"/>
              <a:buChar char=""/>
              <a:defRPr/>
            </a:pPr>
            <a:r>
              <a:rPr sz="1600"/>
              <a:t>Identify the best k cluster centers in an iterative manner</a:t>
            </a:r>
          </a:p>
          <a:p>
            <a:pPr>
              <a:buFont typeface="Wingdings 3" panose="05040102010807070707" pitchFamily="18" charset="2"/>
              <a:buChar char=""/>
              <a:defRPr/>
            </a:pPr>
            <a:r>
              <a:rPr sz="1600"/>
              <a:t>Clusters are assumed to be spherical.</a:t>
            </a:r>
          </a:p>
          <a:p>
            <a:pPr>
              <a:buFont typeface="Wingdings 3" panose="05040102010807070707" pitchFamily="18" charset="2"/>
              <a:buChar char=""/>
              <a:defRPr/>
            </a:pPr>
            <a:endParaRPr sz="1600"/>
          </a:p>
          <a:p>
            <a:pPr marL="0" indent="0">
              <a:buFont typeface="Wingdings 3" panose="05040102010807070707" pitchFamily="18" charset="2"/>
              <a:buNone/>
              <a:defRPr/>
            </a:pPr>
            <a:r>
              <a:rPr sz="1600" b="1"/>
              <a:t>2) OPTICS</a:t>
            </a:r>
            <a:r>
              <a:rPr lang="ar-EG" sz="1600" b="1"/>
              <a:t> </a:t>
            </a:r>
            <a:r>
              <a:rPr sz="1600" b="1"/>
              <a:t>/DBSCAN</a:t>
            </a:r>
          </a:p>
          <a:p>
            <a:pPr>
              <a:buFont typeface="Wingdings 3" panose="05040102010807070707" pitchFamily="18" charset="2"/>
              <a:buChar char=""/>
              <a:defRPr/>
            </a:pPr>
            <a:r>
              <a:rPr sz="1600"/>
              <a:t> it is a density-based clustering algorithm. represents clusters by its nature</a:t>
            </a:r>
          </a:p>
          <a:p>
            <a:pPr>
              <a:buFont typeface="Wingdings 3" panose="05040102010807070707" pitchFamily="18" charset="2"/>
              <a:buChar char=""/>
              <a:defRPr/>
            </a:pPr>
            <a:endParaRPr sz="1600"/>
          </a:p>
          <a:p>
            <a:pPr marL="0" indent="0">
              <a:buFont typeface="Wingdings 3" panose="05040102010807070707" pitchFamily="18" charset="2"/>
              <a:buNone/>
              <a:defRPr/>
            </a:pPr>
            <a:r>
              <a:rPr sz="1600" b="1"/>
              <a:t>Example</a:t>
            </a:r>
          </a:p>
          <a:p>
            <a:pPr>
              <a:buFont typeface="Wingdings 3" panose="05040102010807070707" pitchFamily="18" charset="2"/>
              <a:buChar char=""/>
              <a:defRPr/>
            </a:pPr>
            <a:r>
              <a:rPr sz="1600"/>
              <a:t>creating customer segments, which can be targeted with different marketing programs</a:t>
            </a:r>
          </a:p>
          <a:p>
            <a:pPr>
              <a:buFont typeface="Wingdings 3" panose="05040102010807070707" pitchFamily="18" charset="2"/>
              <a:buChar char=""/>
              <a:defRPr/>
            </a:pPr>
            <a:endParaRPr lang="ar-EG" sz="1600"/>
          </a:p>
        </p:txBody>
      </p:sp>
      <p:pic>
        <p:nvPicPr>
          <p:cNvPr id="21508" name="Picture 2" descr="https://www.imperva.com/blog/wp-content/uploads/2017/07/k-means-clustering-on-spherical-data-1v2.png">
            <a:extLst>
              <a:ext uri="{FF2B5EF4-FFF2-40B4-BE49-F238E27FC236}">
                <a16:creationId xmlns:a16="http://schemas.microsoft.com/office/drawing/2014/main" id="{C3F6C26E-D225-F907-53B0-3EAE90C197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3913" y="482600"/>
            <a:ext cx="224472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3">
            <a:extLst>
              <a:ext uri="{FF2B5EF4-FFF2-40B4-BE49-F238E27FC236}">
                <a16:creationId xmlns:a16="http://schemas.microsoft.com/office/drawing/2014/main" id="{6E98D3F4-1D85-1189-ACF6-A7C5EA10D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363" y="2366963"/>
            <a:ext cx="550227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AB1054-B265-4C0B-8712-C64F0FD3AF40}"/>
              </a:ext>
            </a:extLst>
          </p:cNvPr>
          <p:cNvSpPr>
            <a:spLocks noGrp="1"/>
          </p:cNvSpPr>
          <p:nvPr>
            <p:ph type="body" sz="quarter" idx="10"/>
          </p:nvPr>
        </p:nvSpPr>
        <p:spPr>
          <a:xfrm>
            <a:off x="457200" y="217488"/>
            <a:ext cx="11266488" cy="792162"/>
          </a:xfrm>
        </p:spPr>
        <p:txBody>
          <a:bodyPr/>
          <a:lstStyle/>
          <a:p>
            <a:pPr>
              <a:buFont typeface="Wingdings 3" panose="05040102010807070707" pitchFamily="18" charset="2"/>
              <a:buNone/>
              <a:defRPr/>
            </a:pPr>
            <a:r>
              <a:rPr lang="en-US"/>
              <a:t>Association </a:t>
            </a:r>
            <a:r>
              <a:rPr lang="en-US">
                <a:solidFill>
                  <a:schemeClr val="tx1"/>
                </a:solidFill>
              </a:rPr>
              <a:t>[unsupervised learning]</a:t>
            </a:r>
            <a:endParaRPr>
              <a:solidFill>
                <a:schemeClr val="tx1"/>
              </a:solidFill>
            </a:endParaRPr>
          </a:p>
        </p:txBody>
      </p:sp>
      <p:sp>
        <p:nvSpPr>
          <p:cNvPr id="22531" name="Content Placeholder 2">
            <a:extLst>
              <a:ext uri="{FF2B5EF4-FFF2-40B4-BE49-F238E27FC236}">
                <a16:creationId xmlns:a16="http://schemas.microsoft.com/office/drawing/2014/main" id="{B34A72FD-8917-6A38-C90E-30FF03758E5C}"/>
              </a:ext>
            </a:extLst>
          </p:cNvPr>
          <p:cNvSpPr>
            <a:spLocks noGrp="1" noChangeArrowheads="1"/>
          </p:cNvSpPr>
          <p:nvPr>
            <p:ph sz="quarter" idx="11"/>
          </p:nvPr>
        </p:nvSpPr>
        <p:spPr>
          <a:xfrm>
            <a:off x="434975" y="1009650"/>
            <a:ext cx="11288713" cy="5727700"/>
          </a:xfrm>
        </p:spPr>
        <p:txBody>
          <a:bodyPr/>
          <a:lstStyle/>
          <a:p>
            <a:r>
              <a:rPr altLang="ar-EG"/>
              <a:t>Association is most easily explained by introducing market basket analysis, a typical task for which it is well-known. </a:t>
            </a:r>
          </a:p>
          <a:p>
            <a:r>
              <a:rPr altLang="ar-EG"/>
              <a:t>attempts to identify associations between the various items that have been chosen by a particular shopper and placed in their market basket and assigns support and confidence measures for comparison. </a:t>
            </a:r>
          </a:p>
          <a:p>
            <a:r>
              <a:rPr altLang="ar-EG"/>
              <a:t>The value of this lies in cross-marketing and customer behavior analysis. </a:t>
            </a:r>
          </a:p>
        </p:txBody>
      </p:sp>
      <p:pic>
        <p:nvPicPr>
          <p:cNvPr id="22532" name="Picture 3">
            <a:extLst>
              <a:ext uri="{FF2B5EF4-FFF2-40B4-BE49-F238E27FC236}">
                <a16:creationId xmlns:a16="http://schemas.microsoft.com/office/drawing/2014/main" id="{653E8A0F-19D7-40C6-46FD-2CB063742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388" y="3484563"/>
            <a:ext cx="902970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E4E02B-B0E0-44C9-94B7-AEFF48A5314B}"/>
              </a:ext>
            </a:extLst>
          </p:cNvPr>
          <p:cNvSpPr>
            <a:spLocks noGrp="1"/>
          </p:cNvSpPr>
          <p:nvPr>
            <p:ph type="body" sz="quarter" idx="10"/>
          </p:nvPr>
        </p:nvSpPr>
        <p:spPr/>
        <p:txBody>
          <a:bodyPr/>
          <a:lstStyle/>
          <a:p>
            <a:pPr>
              <a:buFont typeface="Wingdings 3" panose="05040102010807070707" pitchFamily="18" charset="2"/>
              <a:buNone/>
              <a:defRPr/>
            </a:pPr>
            <a:r>
              <a:rPr lang="en-US"/>
              <a:t>Dimensionality Reduction </a:t>
            </a:r>
            <a:r>
              <a:rPr lang="en-US">
                <a:solidFill>
                  <a:schemeClr val="tx1"/>
                </a:solidFill>
              </a:rPr>
              <a:t>[unsupervised learning]</a:t>
            </a:r>
            <a:endParaRPr/>
          </a:p>
        </p:txBody>
      </p:sp>
      <p:sp>
        <p:nvSpPr>
          <p:cNvPr id="23555" name="Content Placeholder 2">
            <a:extLst>
              <a:ext uri="{FF2B5EF4-FFF2-40B4-BE49-F238E27FC236}">
                <a16:creationId xmlns:a16="http://schemas.microsoft.com/office/drawing/2014/main" id="{91897665-7194-8862-650F-CBE4A90ABA65}"/>
              </a:ext>
            </a:extLst>
          </p:cNvPr>
          <p:cNvSpPr>
            <a:spLocks noGrp="1" noChangeArrowheads="1"/>
          </p:cNvSpPr>
          <p:nvPr>
            <p:ph sz="quarter" idx="11"/>
          </p:nvPr>
        </p:nvSpPr>
        <p:spPr/>
        <p:txBody>
          <a:bodyPr/>
          <a:lstStyle/>
          <a:p>
            <a:r>
              <a:rPr altLang="ar-EG"/>
              <a:t>The goal in dimensionality reduction is to reduce the number of features in a dataset without significantly impacting the predictive performance of a model and this will reduce the computational complexity and cost of machine learning.</a:t>
            </a:r>
            <a:endParaRPr lang="ar-EG" altLang="ar-EG"/>
          </a:p>
        </p:txBody>
      </p:sp>
      <p:pic>
        <p:nvPicPr>
          <p:cNvPr id="23556" name="Picture 3">
            <a:extLst>
              <a:ext uri="{FF2B5EF4-FFF2-40B4-BE49-F238E27FC236}">
                <a16:creationId xmlns:a16="http://schemas.microsoft.com/office/drawing/2014/main" id="{CD2A24C3-5307-EBCA-E500-FC74DD85E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8338" y="2959100"/>
            <a:ext cx="3732212"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544016-2DF3-439A-BCFE-E4DABFE303C2}"/>
              </a:ext>
            </a:extLst>
          </p:cNvPr>
          <p:cNvSpPr>
            <a:spLocks noGrp="1"/>
          </p:cNvSpPr>
          <p:nvPr>
            <p:ph type="body" sz="quarter" idx="10"/>
          </p:nvPr>
        </p:nvSpPr>
        <p:spPr/>
        <p:txBody>
          <a:bodyPr/>
          <a:lstStyle/>
          <a:p>
            <a:pPr>
              <a:buFont typeface="Wingdings 3" panose="05040102010807070707" pitchFamily="18" charset="2"/>
              <a:buNone/>
              <a:defRPr/>
            </a:pPr>
            <a:r>
              <a:rPr lang="en-US"/>
              <a:t>Recommendation </a:t>
            </a:r>
            <a:r>
              <a:rPr lang="en-US">
                <a:solidFill>
                  <a:schemeClr val="tx1"/>
                </a:solidFill>
              </a:rPr>
              <a:t>[Reinforcement]</a:t>
            </a:r>
            <a:endParaRPr>
              <a:solidFill>
                <a:schemeClr val="tx1"/>
              </a:solidFill>
            </a:endParaRPr>
          </a:p>
        </p:txBody>
      </p:sp>
      <p:sp>
        <p:nvSpPr>
          <p:cNvPr id="24579" name="Content Placeholder 2">
            <a:extLst>
              <a:ext uri="{FF2B5EF4-FFF2-40B4-BE49-F238E27FC236}">
                <a16:creationId xmlns:a16="http://schemas.microsoft.com/office/drawing/2014/main" id="{0E5F1183-9FD0-AAF8-1300-DF08B5E81ACF}"/>
              </a:ext>
            </a:extLst>
          </p:cNvPr>
          <p:cNvSpPr>
            <a:spLocks noGrp="1" noChangeArrowheads="1"/>
          </p:cNvSpPr>
          <p:nvPr>
            <p:ph sz="quarter" idx="11"/>
          </p:nvPr>
        </p:nvSpPr>
        <p:spPr/>
        <p:txBody>
          <a:bodyPr/>
          <a:lstStyle/>
          <a:p>
            <a:r>
              <a:rPr altLang="ar-EG"/>
              <a:t>The goal of a recommendation system is to recommend a product to a user based on past behavior to determine user preferences.</a:t>
            </a:r>
          </a:p>
          <a:p>
            <a:r>
              <a:rPr altLang="ar-EG"/>
              <a:t>Unlike Association, Recommendation focus on user behavior and suggest according to this user behavior.</a:t>
            </a:r>
          </a:p>
          <a:p>
            <a:r>
              <a:rPr altLang="ar-EG"/>
              <a:t>It is reinforcement because we not sure of result until user choose one of our recommendation, if not, then our recommendation was not correct.</a:t>
            </a:r>
            <a:endParaRPr lang="ar-EG" altLang="ar-E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4B2FC-9FC5-44D7-82E7-BFC05BF9848E}"/>
              </a:ext>
            </a:extLst>
          </p:cNvPr>
          <p:cNvSpPr>
            <a:spLocks noGrp="1"/>
          </p:cNvSpPr>
          <p:nvPr>
            <p:ph sz="quarter" idx="11"/>
          </p:nvPr>
        </p:nvSpPr>
        <p:spPr>
          <a:xfrm>
            <a:off x="561975" y="985838"/>
            <a:ext cx="4659313" cy="5470525"/>
          </a:xfrm>
        </p:spPr>
        <p:txBody>
          <a:bodyPr/>
          <a:lstStyle/>
          <a:p>
            <a:pPr marL="0" indent="0">
              <a:buFont typeface="Wingdings 3" panose="05040102010807070707" pitchFamily="18" charset="2"/>
              <a:buNone/>
              <a:defRPr/>
            </a:pPr>
            <a:r>
              <a:rPr sz="1600" b="1">
                <a:solidFill>
                  <a:srgbClr val="FFFF00"/>
                </a:solidFill>
              </a:rPr>
              <a:t>Classification</a:t>
            </a:r>
            <a:endParaRPr sz="1800" b="1">
              <a:solidFill>
                <a:srgbClr val="FFFF00"/>
              </a:solidFill>
            </a:endParaRPr>
          </a:p>
          <a:p>
            <a:pPr>
              <a:buFont typeface="Wingdings 3" panose="05040102010807070707" pitchFamily="18" charset="2"/>
              <a:buChar char=""/>
              <a:defRPr/>
            </a:pPr>
            <a:r>
              <a:rPr sz="1400" b="1">
                <a:solidFill>
                  <a:srgbClr val="FFFF00"/>
                </a:solidFill>
              </a:rPr>
              <a:t>Two Class Classification</a:t>
            </a:r>
          </a:p>
          <a:p>
            <a:pPr marL="457200" lvl="1" indent="0">
              <a:buFont typeface="Wingdings 3" panose="05040102010807070707" pitchFamily="18" charset="2"/>
              <a:buNone/>
              <a:defRPr/>
            </a:pPr>
            <a:r>
              <a:rPr sz="1400"/>
              <a:t>- Logistic Regression (Fast)</a:t>
            </a:r>
          </a:p>
          <a:p>
            <a:pPr marL="457200" lvl="1" indent="0">
              <a:buFont typeface="Wingdings 3" panose="05040102010807070707" pitchFamily="18" charset="2"/>
              <a:buNone/>
              <a:defRPr/>
            </a:pPr>
            <a:r>
              <a:rPr sz="1400"/>
              <a:t>- Decision Tree (Fast)</a:t>
            </a:r>
          </a:p>
          <a:p>
            <a:pPr marL="457200" lvl="1" indent="0">
              <a:buFont typeface="Wingdings 3" panose="05040102010807070707" pitchFamily="18" charset="2"/>
              <a:buNone/>
              <a:defRPr/>
            </a:pPr>
            <a:r>
              <a:rPr sz="1400"/>
              <a:t>- Decision jungle(Accurate)</a:t>
            </a:r>
          </a:p>
          <a:p>
            <a:pPr marL="457200" lvl="1" indent="0">
              <a:buFont typeface="Wingdings 3" panose="05040102010807070707" pitchFamily="18" charset="2"/>
              <a:buNone/>
              <a:defRPr/>
            </a:pPr>
            <a:r>
              <a:rPr sz="1400"/>
              <a:t>- SVM  (Accurate) (&gt;100 features)</a:t>
            </a:r>
          </a:p>
          <a:p>
            <a:pPr marL="457200" lvl="1" indent="0">
              <a:buFont typeface="Wingdings 3" panose="05040102010807070707" pitchFamily="18" charset="2"/>
              <a:buNone/>
              <a:defRPr/>
            </a:pPr>
            <a:r>
              <a:rPr sz="1400"/>
              <a:t>- Boosted Decision Tree (Fast - Large memory)</a:t>
            </a:r>
          </a:p>
          <a:p>
            <a:pPr marL="457200" lvl="1" indent="0">
              <a:buFont typeface="Wingdings 3" panose="05040102010807070707" pitchFamily="18" charset="2"/>
              <a:buNone/>
              <a:defRPr/>
            </a:pPr>
            <a:r>
              <a:rPr sz="1400"/>
              <a:t>- Bayes point machine (Fast)</a:t>
            </a:r>
          </a:p>
          <a:p>
            <a:pPr>
              <a:buFont typeface="Wingdings 3" panose="05040102010807070707" pitchFamily="18" charset="2"/>
              <a:buChar char=""/>
              <a:defRPr/>
            </a:pPr>
            <a:r>
              <a:rPr sz="1400" b="1">
                <a:solidFill>
                  <a:srgbClr val="FFFF00"/>
                </a:solidFill>
              </a:rPr>
              <a:t>Multi Class Classification</a:t>
            </a:r>
          </a:p>
          <a:p>
            <a:pPr marL="457200" lvl="1" indent="0">
              <a:buFont typeface="Wingdings 3" panose="05040102010807070707" pitchFamily="18" charset="2"/>
              <a:buNone/>
              <a:defRPr/>
            </a:pPr>
            <a:r>
              <a:rPr sz="1400"/>
              <a:t>- Decision Tree (Fast)</a:t>
            </a:r>
          </a:p>
          <a:p>
            <a:pPr marL="457200" lvl="1" indent="0">
              <a:buFont typeface="Wingdings 3" panose="05040102010807070707" pitchFamily="18" charset="2"/>
              <a:buNone/>
              <a:defRPr/>
            </a:pPr>
            <a:r>
              <a:rPr sz="1400"/>
              <a:t>- Logistic Regression  (Fast)</a:t>
            </a:r>
          </a:p>
          <a:p>
            <a:pPr marL="457200" lvl="1" indent="0">
              <a:buFont typeface="Wingdings 3" panose="05040102010807070707" pitchFamily="18" charset="2"/>
              <a:buNone/>
              <a:defRPr/>
            </a:pPr>
            <a:r>
              <a:rPr sz="1400"/>
              <a:t>- Random Forest (Accurate)</a:t>
            </a:r>
          </a:p>
          <a:p>
            <a:pPr marL="457200" lvl="1" indent="0">
              <a:buFont typeface="Wingdings 3" panose="05040102010807070707" pitchFamily="18" charset="2"/>
              <a:buNone/>
              <a:defRPr/>
            </a:pPr>
            <a:r>
              <a:rPr sz="1400"/>
              <a:t>- Gradient Boosting Tree (Accurate)</a:t>
            </a:r>
          </a:p>
          <a:p>
            <a:pPr marL="457200" lvl="1" indent="0">
              <a:buFont typeface="Wingdings 3" panose="05040102010807070707" pitchFamily="18" charset="2"/>
              <a:buNone/>
              <a:defRPr/>
            </a:pPr>
            <a:r>
              <a:rPr sz="1400"/>
              <a:t>- Naive Bayes (Big Data)</a:t>
            </a:r>
          </a:p>
          <a:p>
            <a:pPr marL="457200" lvl="1" indent="0">
              <a:buFont typeface="Wingdings 3" panose="05040102010807070707" pitchFamily="18" charset="2"/>
              <a:buNone/>
              <a:defRPr/>
            </a:pPr>
            <a:r>
              <a:rPr sz="1400"/>
              <a:t>- Decision jungle(Accurate)</a:t>
            </a:r>
          </a:p>
          <a:p>
            <a:pPr>
              <a:buFont typeface="Wingdings 3" panose="05040102010807070707" pitchFamily="18" charset="2"/>
              <a:buChar char=""/>
              <a:defRPr/>
            </a:pPr>
            <a:endParaRPr sz="1400"/>
          </a:p>
        </p:txBody>
      </p:sp>
      <p:sp>
        <p:nvSpPr>
          <p:cNvPr id="25603" name="TextBox 3">
            <a:extLst>
              <a:ext uri="{FF2B5EF4-FFF2-40B4-BE49-F238E27FC236}">
                <a16:creationId xmlns:a16="http://schemas.microsoft.com/office/drawing/2014/main" id="{0F191D7C-3205-766E-215C-3E11A7133139}"/>
              </a:ext>
            </a:extLst>
          </p:cNvPr>
          <p:cNvSpPr txBox="1">
            <a:spLocks noChangeArrowheads="1"/>
          </p:cNvSpPr>
          <p:nvPr/>
        </p:nvSpPr>
        <p:spPr bwMode="auto">
          <a:xfrm>
            <a:off x="198438" y="280988"/>
            <a:ext cx="7204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sz="2800"/>
              <a:t>Supervised </a:t>
            </a:r>
            <a:r>
              <a:rPr lang="en-US" altLang="ar-EG" sz="2800" b="1">
                <a:solidFill>
                  <a:srgbClr val="FFFF00"/>
                </a:solidFill>
              </a:rPr>
              <a:t>machine learning algorithms </a:t>
            </a:r>
          </a:p>
        </p:txBody>
      </p:sp>
      <p:sp>
        <p:nvSpPr>
          <p:cNvPr id="5" name="Content Placeholder 2">
            <a:extLst>
              <a:ext uri="{FF2B5EF4-FFF2-40B4-BE49-F238E27FC236}">
                <a16:creationId xmlns:a16="http://schemas.microsoft.com/office/drawing/2014/main" id="{AC628A8F-0535-48EA-973D-FEE824D6A1E4}"/>
              </a:ext>
            </a:extLst>
          </p:cNvPr>
          <p:cNvSpPr txBox="1">
            <a:spLocks/>
          </p:cNvSpPr>
          <p:nvPr/>
        </p:nvSpPr>
        <p:spPr bwMode="auto">
          <a:xfrm>
            <a:off x="6115050" y="985838"/>
            <a:ext cx="4659313" cy="587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1pPr>
            <a:lvl2pPr marL="7429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2pPr>
            <a:lvl3pPr marL="12001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3pPr>
            <a:lvl4pPr marL="1543050" indent="-1714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4pPr>
            <a:lvl5pPr marL="2000250" indent="-1714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ar-EG" sz="2000" kern="1200" dirty="0">
                <a:solidFill>
                  <a:schemeClr val="tx1"/>
                </a:solidFill>
                <a:latin typeface="+mn-lt"/>
                <a:ea typeface="+mn-ea"/>
                <a:cs typeface="+mn-cs"/>
              </a:defRPr>
            </a:lvl5pPr>
            <a:lvl6pPr marL="25146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defRPr/>
            </a:pPr>
            <a:r>
              <a:rPr sz="1600" b="1">
                <a:solidFill>
                  <a:srgbClr val="FFFF00"/>
                </a:solidFill>
              </a:rPr>
              <a:t>Regression</a:t>
            </a:r>
          </a:p>
          <a:p>
            <a:pPr marL="457200" lvl="1" indent="0">
              <a:buFont typeface="Wingdings 3" panose="05040102010807070707" pitchFamily="18" charset="2"/>
              <a:buNone/>
              <a:defRPr/>
            </a:pPr>
            <a:r>
              <a:rPr sz="1400"/>
              <a:t>- Linear Regression (Fast)</a:t>
            </a:r>
          </a:p>
          <a:p>
            <a:pPr marL="457200" lvl="1" indent="0">
              <a:buFont typeface="Wingdings 3" panose="05040102010807070707" pitchFamily="18" charset="2"/>
              <a:buNone/>
              <a:defRPr/>
            </a:pPr>
            <a:r>
              <a:rPr sz="1400"/>
              <a:t>- Decision Tree (Fast)</a:t>
            </a:r>
          </a:p>
          <a:p>
            <a:pPr marL="457200" lvl="1" indent="0">
              <a:buFont typeface="Wingdings 3" panose="05040102010807070707" pitchFamily="18" charset="2"/>
              <a:buNone/>
              <a:defRPr/>
            </a:pPr>
            <a:r>
              <a:rPr sz="1400"/>
              <a:t>- Random Forest (Accurate)</a:t>
            </a:r>
          </a:p>
          <a:p>
            <a:pPr marL="457200" lvl="1" indent="0">
              <a:buFont typeface="Wingdings 3" panose="05040102010807070707" pitchFamily="18" charset="2"/>
              <a:buNone/>
              <a:defRPr/>
            </a:pPr>
            <a:r>
              <a:rPr sz="1400"/>
              <a:t>- Gradient Boosting Tree (Accurate)</a:t>
            </a:r>
          </a:p>
          <a:p>
            <a:pPr marL="457200" lvl="1" indent="0">
              <a:buFont typeface="Wingdings 3" panose="05040102010807070707" pitchFamily="18" charset="2"/>
              <a:buNone/>
              <a:defRPr/>
            </a:pPr>
            <a:r>
              <a:rPr sz="1400"/>
              <a:t>- Ordinal regression</a:t>
            </a:r>
          </a:p>
          <a:p>
            <a:pPr marL="457200" lvl="1" indent="0">
              <a:buFont typeface="Wingdings 3" panose="05040102010807070707" pitchFamily="18" charset="2"/>
              <a:buNone/>
              <a:defRPr/>
            </a:pPr>
            <a:r>
              <a:rPr sz="1400"/>
              <a:t>- Bayesian linear regression </a:t>
            </a:r>
          </a:p>
          <a:p>
            <a:pPr marL="457200" lvl="1" indent="0">
              <a:buFont typeface="Wingdings 3" panose="05040102010807070707" pitchFamily="18" charset="2"/>
              <a:buNone/>
              <a:defRPr/>
            </a:pPr>
            <a:r>
              <a:rPr lang="ar-EG" sz="1400"/>
              <a:t>- </a:t>
            </a:r>
            <a:r>
              <a:rPr sz="1400"/>
              <a:t>Boosted Decision Tree (Fast - Large memory)</a:t>
            </a:r>
            <a:endParaRPr lang="ar-EG" sz="1400"/>
          </a:p>
          <a:p>
            <a:pPr marL="457200" lvl="1" indent="0">
              <a:buFont typeface="Wingdings 3" panose="05040102010807070707" pitchFamily="18" charset="2"/>
              <a:buNone/>
              <a:defRPr/>
            </a:pPr>
            <a:r>
              <a:rPr sz="1400"/>
              <a:t>- SGD Regressor (&lt;100K rows)</a:t>
            </a:r>
          </a:p>
          <a:p>
            <a:pPr marL="457200" lvl="1" indent="0">
              <a:buFont typeface="Wingdings 3" panose="05040102010807070707" pitchFamily="18" charset="2"/>
              <a:buNone/>
              <a:defRPr/>
            </a:pPr>
            <a:r>
              <a:rPr sz="1400"/>
              <a:t>- Lasso/ </a:t>
            </a:r>
            <a:r>
              <a:rPr sz="1400" err="1"/>
              <a:t>ElasticNet</a:t>
            </a:r>
            <a:r>
              <a:rPr sz="1400"/>
              <a:t> (Few Features)</a:t>
            </a:r>
          </a:p>
          <a:p>
            <a:pPr marL="457200" lvl="1" indent="0">
              <a:buFont typeface="Wingdings 3" panose="05040102010807070707" pitchFamily="18" charset="2"/>
              <a:buNone/>
              <a:defRPr/>
            </a:pPr>
            <a:r>
              <a:rPr sz="1400"/>
              <a:t>- </a:t>
            </a:r>
            <a:r>
              <a:rPr sz="1400" err="1"/>
              <a:t>RidgeRegression</a:t>
            </a:r>
            <a:endParaRPr sz="1400"/>
          </a:p>
          <a:p>
            <a:pPr marL="457200" lvl="1" indent="0">
              <a:buFont typeface="Wingdings 3" panose="05040102010807070707" pitchFamily="18" charset="2"/>
              <a:buNone/>
              <a:defRPr/>
            </a:pPr>
            <a:r>
              <a:rPr sz="1400"/>
              <a:t>- SVR(kernel=linear/ </a:t>
            </a:r>
            <a:r>
              <a:rPr sz="1400" err="1"/>
              <a:t>rbf</a:t>
            </a:r>
            <a:r>
              <a:rPr sz="1400"/>
              <a:t>)</a:t>
            </a:r>
          </a:p>
          <a:p>
            <a:pPr marL="457200" lvl="1" indent="0">
              <a:buFont typeface="Wingdings 3" panose="05040102010807070707" pitchFamily="18" charset="2"/>
              <a:buNone/>
              <a:defRPr/>
            </a:pPr>
            <a:r>
              <a:rPr sz="1400"/>
              <a:t>- </a:t>
            </a:r>
            <a:r>
              <a:rPr sz="1400" err="1"/>
              <a:t>EnsembleRegressors</a:t>
            </a:r>
            <a:endParaRPr sz="1400"/>
          </a:p>
          <a:p>
            <a:pPr marL="457200" lvl="1" indent="0">
              <a:buFont typeface="Wingdings 3" panose="05040102010807070707" pitchFamily="18" charset="2"/>
              <a:buNone/>
              <a:defRPr/>
            </a:pPr>
            <a:endParaRPr sz="100"/>
          </a:p>
          <a:p>
            <a:pPr marL="0" indent="0">
              <a:buFont typeface="Wingdings 3" panose="05040102010807070707" pitchFamily="18" charset="2"/>
              <a:buNone/>
              <a:defRPr/>
            </a:pPr>
            <a:r>
              <a:rPr sz="1600" b="1">
                <a:solidFill>
                  <a:srgbClr val="FFFF00"/>
                </a:solidFill>
              </a:rPr>
              <a:t>Anomaly Detection</a:t>
            </a:r>
          </a:p>
          <a:p>
            <a:pPr marL="457200" lvl="1" indent="0">
              <a:buFont typeface="Wingdings 3" panose="05040102010807070707" pitchFamily="18" charset="2"/>
              <a:buNone/>
              <a:defRPr/>
            </a:pPr>
            <a:r>
              <a:rPr sz="1400"/>
              <a:t>- One Class SVM (support vector machine)</a:t>
            </a:r>
          </a:p>
          <a:p>
            <a:pPr marL="457200" lvl="1" indent="0">
              <a:buFont typeface="Wingdings 3" panose="05040102010807070707" pitchFamily="18" charset="2"/>
              <a:buNone/>
              <a:defRPr/>
            </a:pPr>
            <a:r>
              <a:rPr sz="1400"/>
              <a:t>- PCA based Anomaly Detection</a:t>
            </a:r>
          </a:p>
          <a:p>
            <a:pPr marL="457200" lvl="1" indent="0">
              <a:buFont typeface="Wingdings 3" panose="05040102010807070707" pitchFamily="18" charset="2"/>
              <a:buNone/>
              <a:defRPr/>
            </a:pPr>
            <a:r>
              <a:rPr sz="1400"/>
              <a:t>- Time Series Anomaly Detection</a:t>
            </a:r>
          </a:p>
          <a:p>
            <a:pPr marL="457200" lvl="1" indent="0">
              <a:buFont typeface="Wingdings 3" panose="05040102010807070707" pitchFamily="18" charset="2"/>
              <a:buNone/>
              <a:defRPr/>
            </a:pPr>
            <a:endParaRPr sz="1400"/>
          </a:p>
          <a:p>
            <a:pPr>
              <a:defRPr/>
            </a:pP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3">
            <a:extLst>
              <a:ext uri="{FF2B5EF4-FFF2-40B4-BE49-F238E27FC236}">
                <a16:creationId xmlns:a16="http://schemas.microsoft.com/office/drawing/2014/main" id="{FD3CAD5F-1E1B-8D8F-4027-57DC7B9D18BE}"/>
              </a:ext>
            </a:extLst>
          </p:cNvPr>
          <p:cNvSpPr txBox="1">
            <a:spLocks noChangeArrowheads="1"/>
          </p:cNvSpPr>
          <p:nvPr/>
        </p:nvSpPr>
        <p:spPr bwMode="auto">
          <a:xfrm>
            <a:off x="198438" y="280988"/>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sz="2800"/>
              <a:t>Unsupervised</a:t>
            </a:r>
            <a:r>
              <a:rPr lang="en-US" altLang="ar-EG" sz="2800" b="1">
                <a:solidFill>
                  <a:srgbClr val="FFFF00"/>
                </a:solidFill>
              </a:rPr>
              <a:t> machine learning algorithms </a:t>
            </a:r>
          </a:p>
        </p:txBody>
      </p:sp>
      <p:sp>
        <p:nvSpPr>
          <p:cNvPr id="5" name="Content Placeholder 2">
            <a:extLst>
              <a:ext uri="{FF2B5EF4-FFF2-40B4-BE49-F238E27FC236}">
                <a16:creationId xmlns:a16="http://schemas.microsoft.com/office/drawing/2014/main" id="{AC628A8F-0535-48EA-973D-FEE824D6A1E4}"/>
              </a:ext>
            </a:extLst>
          </p:cNvPr>
          <p:cNvSpPr txBox="1">
            <a:spLocks/>
          </p:cNvSpPr>
          <p:nvPr/>
        </p:nvSpPr>
        <p:spPr bwMode="auto">
          <a:xfrm>
            <a:off x="495300" y="985838"/>
            <a:ext cx="5762625" cy="539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1pPr>
            <a:lvl2pPr marL="7429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2pPr>
            <a:lvl3pPr marL="12001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3pPr>
            <a:lvl4pPr marL="1543050" indent="-1714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4pPr>
            <a:lvl5pPr marL="2000250" indent="-1714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ar-EG" sz="2000" kern="1200" dirty="0">
                <a:solidFill>
                  <a:schemeClr val="tx1"/>
                </a:solidFill>
                <a:latin typeface="+mn-lt"/>
                <a:ea typeface="+mn-ea"/>
                <a:cs typeface="+mn-cs"/>
              </a:defRPr>
            </a:lvl5pPr>
            <a:lvl6pPr marL="25146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defRPr/>
            </a:pPr>
            <a:r>
              <a:rPr sz="1600" b="1">
                <a:solidFill>
                  <a:srgbClr val="FFFF00"/>
                </a:solidFill>
              </a:rPr>
              <a:t>Clustering</a:t>
            </a:r>
          </a:p>
          <a:p>
            <a:pPr marL="457200" lvl="1" indent="0">
              <a:buFont typeface="Wingdings 3" panose="05040102010807070707" pitchFamily="18" charset="2"/>
              <a:buNone/>
              <a:defRPr/>
            </a:pPr>
            <a:r>
              <a:rPr sz="1400"/>
              <a:t>- K-means Clustering</a:t>
            </a:r>
          </a:p>
          <a:p>
            <a:pPr marL="457200" lvl="1" indent="0">
              <a:buFont typeface="Wingdings 3" panose="05040102010807070707" pitchFamily="18" charset="2"/>
              <a:buNone/>
              <a:defRPr/>
            </a:pPr>
            <a:r>
              <a:rPr sz="1400"/>
              <a:t>- K-modes (Categorical variables)</a:t>
            </a:r>
          </a:p>
          <a:p>
            <a:pPr marL="457200" lvl="1" indent="0">
              <a:buFont typeface="Wingdings 3" panose="05040102010807070707" pitchFamily="18" charset="2"/>
              <a:buNone/>
              <a:defRPr/>
            </a:pPr>
            <a:r>
              <a:rPr sz="1400"/>
              <a:t>- </a:t>
            </a:r>
            <a:r>
              <a:rPr sz="1400" err="1"/>
              <a:t>DBScan</a:t>
            </a:r>
            <a:r>
              <a:rPr sz="1400"/>
              <a:t> (predict the number of clusters automatically)</a:t>
            </a:r>
          </a:p>
          <a:p>
            <a:pPr marL="457200" lvl="1" indent="0">
              <a:buFont typeface="Wingdings 3" panose="05040102010807070707" pitchFamily="18" charset="2"/>
              <a:buNone/>
              <a:defRPr/>
            </a:pPr>
            <a:r>
              <a:rPr sz="1400"/>
              <a:t>-</a:t>
            </a:r>
            <a:r>
              <a:rPr sz="1400" b="1"/>
              <a:t> </a:t>
            </a:r>
            <a:r>
              <a:rPr sz="1400"/>
              <a:t>OPTICS (predict the number of clusters automatically)</a:t>
            </a:r>
          </a:p>
          <a:p>
            <a:pPr marL="457200" lvl="1" indent="0">
              <a:buFont typeface="Wingdings 3" panose="05040102010807070707" pitchFamily="18" charset="2"/>
              <a:buNone/>
              <a:defRPr/>
            </a:pPr>
            <a:endParaRPr sz="1400"/>
          </a:p>
          <a:p>
            <a:pPr marL="0" indent="0">
              <a:buFont typeface="Wingdings 3" panose="05040102010807070707" pitchFamily="18" charset="2"/>
              <a:buNone/>
              <a:defRPr/>
            </a:pPr>
            <a:r>
              <a:rPr sz="1600" b="1">
                <a:solidFill>
                  <a:srgbClr val="FFFF00"/>
                </a:solidFill>
              </a:rPr>
              <a:t>Association </a:t>
            </a:r>
          </a:p>
          <a:p>
            <a:pPr marL="457200" lvl="1" indent="0">
              <a:buFont typeface="Wingdings 3" panose="05040102010807070707" pitchFamily="18" charset="2"/>
              <a:buNone/>
              <a:defRPr/>
            </a:pPr>
            <a:r>
              <a:rPr sz="1400" err="1"/>
              <a:t>Apriori</a:t>
            </a:r>
            <a:endParaRPr sz="1400"/>
          </a:p>
          <a:p>
            <a:pPr>
              <a:defRPr/>
            </a:pPr>
            <a:endParaRPr sz="1400"/>
          </a:p>
          <a:p>
            <a:pPr marL="0" indent="0">
              <a:buFont typeface="Wingdings 3" panose="05040102010807070707" pitchFamily="18" charset="2"/>
              <a:buNone/>
              <a:defRPr/>
            </a:pPr>
            <a:r>
              <a:rPr sz="1600" b="1">
                <a:solidFill>
                  <a:srgbClr val="FFFF00"/>
                </a:solidFill>
              </a:rPr>
              <a:t>Dimension Reduction</a:t>
            </a:r>
          </a:p>
          <a:p>
            <a:pPr marL="457200" lvl="1" indent="0">
              <a:buFont typeface="Wingdings 3" panose="05040102010807070707" pitchFamily="18" charset="2"/>
              <a:buNone/>
              <a:defRPr/>
            </a:pPr>
            <a:r>
              <a:rPr sz="1400"/>
              <a:t>- PCA</a:t>
            </a:r>
          </a:p>
          <a:p>
            <a:pPr marL="457200" lvl="1" indent="0">
              <a:buFont typeface="Wingdings 3" panose="05040102010807070707" pitchFamily="18" charset="2"/>
              <a:buNone/>
              <a:defRPr/>
            </a:pPr>
            <a:r>
              <a:rPr sz="1400"/>
              <a:t>- Singular value decomposition</a:t>
            </a:r>
          </a:p>
          <a:p>
            <a:pPr marL="457200" lvl="1" indent="0">
              <a:buFont typeface="Wingdings 3" panose="05040102010807070707" pitchFamily="18" charset="2"/>
              <a:buNone/>
              <a:defRPr/>
            </a:pPr>
            <a:endParaRPr sz="1400"/>
          </a:p>
          <a:p>
            <a:pPr marL="0" indent="0">
              <a:buFont typeface="Wingdings 3" panose="05040102010807070707" pitchFamily="18" charset="2"/>
              <a:buNone/>
              <a:defRPr/>
            </a:pPr>
            <a:r>
              <a:rPr sz="1600" b="1">
                <a:solidFill>
                  <a:srgbClr val="FFFF00"/>
                </a:solidFill>
              </a:rPr>
              <a:t>Recommendation</a:t>
            </a:r>
          </a:p>
          <a:p>
            <a:pPr marL="457200" lvl="1" indent="0">
              <a:buFont typeface="Wingdings 3" panose="05040102010807070707" pitchFamily="18" charset="2"/>
              <a:buNone/>
              <a:defRPr/>
            </a:pPr>
            <a:r>
              <a:rPr sz="1400"/>
              <a:t>- Matchbox Recommender</a:t>
            </a:r>
          </a:p>
          <a:p>
            <a:pPr marL="457200" lvl="1" indent="0">
              <a:buFont typeface="Wingdings 3" panose="05040102010807070707" pitchFamily="18" charset="2"/>
              <a:buNone/>
              <a:defRPr/>
            </a:pPr>
            <a:endParaRPr sz="1400"/>
          </a:p>
          <a:p>
            <a:pPr>
              <a:defRPr/>
            </a:pPr>
            <a:endParaRPr sz="1400"/>
          </a:p>
          <a:p>
            <a:pPr>
              <a:defRPr/>
            </a:pPr>
            <a:endParaRPr sz="1400"/>
          </a:p>
        </p:txBody>
      </p:sp>
      <p:sp>
        <p:nvSpPr>
          <p:cNvPr id="4" name="Content Placeholder 2">
            <a:extLst>
              <a:ext uri="{FF2B5EF4-FFF2-40B4-BE49-F238E27FC236}">
                <a16:creationId xmlns:a16="http://schemas.microsoft.com/office/drawing/2014/main" id="{6B06249A-EDCD-4954-8DA8-E0D6263FFC28}"/>
              </a:ext>
            </a:extLst>
          </p:cNvPr>
          <p:cNvSpPr txBox="1">
            <a:spLocks/>
          </p:cNvSpPr>
          <p:nvPr/>
        </p:nvSpPr>
        <p:spPr bwMode="auto">
          <a:xfrm>
            <a:off x="6257925" y="985838"/>
            <a:ext cx="5762625" cy="539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1pPr>
            <a:lvl2pPr marL="7429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2pPr>
            <a:lvl3pPr marL="12001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3pPr>
            <a:lvl4pPr marL="1543050" indent="-1714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4pPr>
            <a:lvl5pPr marL="2000250" indent="-1714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ar-EG" sz="2000" kern="1200" dirty="0">
                <a:solidFill>
                  <a:schemeClr val="tx1"/>
                </a:solidFill>
                <a:latin typeface="+mn-lt"/>
                <a:ea typeface="+mn-ea"/>
                <a:cs typeface="+mn-cs"/>
              </a:defRPr>
            </a:lvl5pPr>
            <a:lvl6pPr marL="25146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defRPr/>
            </a:pPr>
            <a:r>
              <a:rPr sz="1600" b="1">
                <a:solidFill>
                  <a:srgbClr val="FFFF00"/>
                </a:solidFill>
              </a:rPr>
              <a:t>Computer Vision</a:t>
            </a:r>
          </a:p>
          <a:p>
            <a:pPr marL="457200" lvl="1" indent="0">
              <a:buFont typeface="Wingdings 3" panose="05040102010807070707" pitchFamily="18" charset="2"/>
              <a:buNone/>
              <a:defRPr/>
            </a:pPr>
            <a:r>
              <a:rPr sz="1400"/>
              <a:t>- OpenCV Library</a:t>
            </a:r>
          </a:p>
          <a:p>
            <a:pPr>
              <a:defRPr/>
            </a:pPr>
            <a:endParaRPr sz="1400"/>
          </a:p>
          <a:p>
            <a:pPr marL="0" indent="0">
              <a:buFont typeface="Wingdings 3" panose="05040102010807070707" pitchFamily="18" charset="2"/>
              <a:buNone/>
              <a:defRPr/>
            </a:pPr>
            <a:r>
              <a:rPr sz="1600" b="1">
                <a:solidFill>
                  <a:srgbClr val="FFFF00"/>
                </a:solidFill>
              </a:rPr>
              <a:t>Text Analytics (Supervised Learning)</a:t>
            </a:r>
          </a:p>
          <a:p>
            <a:pPr marL="457200" lvl="1" indent="0">
              <a:buFont typeface="Wingdings 3" panose="05040102010807070707" pitchFamily="18" charset="2"/>
              <a:buNone/>
              <a:defRPr/>
            </a:pPr>
            <a:r>
              <a:rPr sz="1400"/>
              <a:t>- Named Entity Recognition</a:t>
            </a:r>
          </a:p>
          <a:p>
            <a:pPr marL="457200" lvl="1" indent="0">
              <a:buFont typeface="Wingdings 3" panose="05040102010807070707" pitchFamily="18" charset="2"/>
              <a:buNone/>
              <a:defRPr/>
            </a:pPr>
            <a:r>
              <a:rPr sz="1400"/>
              <a:t>-</a:t>
            </a:r>
            <a:r>
              <a:rPr lang="ar-EG" sz="1400"/>
              <a:t> </a:t>
            </a:r>
            <a:r>
              <a:rPr sz="1400"/>
              <a:t>Sentimental Analysis</a:t>
            </a:r>
          </a:p>
          <a:p>
            <a:pPr>
              <a:defRPr/>
            </a:pP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A2CDE5-EF46-4CE0-8F48-1F2455BE1489}"/>
              </a:ext>
            </a:extLst>
          </p:cNvPr>
          <p:cNvSpPr>
            <a:spLocks noGrp="1"/>
          </p:cNvSpPr>
          <p:nvPr>
            <p:ph type="body" sz="quarter" idx="10"/>
          </p:nvPr>
        </p:nvSpPr>
        <p:spPr/>
        <p:txBody>
          <a:bodyPr/>
          <a:lstStyle/>
          <a:p>
            <a:pPr>
              <a:buFont typeface="Wingdings 3" panose="05040102010807070707" pitchFamily="18" charset="2"/>
              <a:buNone/>
              <a:defRPr/>
            </a:pPr>
            <a:r>
              <a:rPr lang="en-US"/>
              <a:t>Linear regression </a:t>
            </a:r>
            <a:r>
              <a:rPr lang="en-US" altLang="ar-EG"/>
              <a:t>algorithms</a:t>
            </a:r>
            <a:endParaRPr lang="en-US"/>
          </a:p>
        </p:txBody>
      </p:sp>
      <p:sp>
        <p:nvSpPr>
          <p:cNvPr id="187395" name="Content Placeholder 2">
            <a:extLst>
              <a:ext uri="{FF2B5EF4-FFF2-40B4-BE49-F238E27FC236}">
                <a16:creationId xmlns:a16="http://schemas.microsoft.com/office/drawing/2014/main" id="{8EA505BA-E789-4E42-94E9-76D38C73AF5B}"/>
              </a:ext>
            </a:extLst>
          </p:cNvPr>
          <p:cNvSpPr>
            <a:spLocks noGrp="1" noChangeArrowheads="1"/>
          </p:cNvSpPr>
          <p:nvPr>
            <p:ph sz="quarter" idx="11"/>
          </p:nvPr>
        </p:nvSpPr>
        <p:spPr/>
        <p:txBody>
          <a:bodyPr/>
          <a:lstStyle/>
          <a:p>
            <a:pPr marL="0" indent="0">
              <a:buFont typeface="Wingdings 3" panose="05040102010807070707" pitchFamily="18" charset="2"/>
              <a:buNone/>
              <a:defRPr/>
            </a:pPr>
            <a:r>
              <a:rPr altLang="ar-EG"/>
              <a:t>Linear Regression is used in problems where the label is of continuous nature e.g. Sales of a retail chain. It consists of ordinary least squares method fitting the best line that minimizes the sum of squared errors between the predicted and actual data points. Such algorithms are mostly used to for decision-making process to solve problems like – What should be my best marketing mix to optimize sales given the investment in various marketing channels or maximizing sales based on store layouts or pricing and promotional offers.</a:t>
            </a:r>
          </a:p>
          <a:p>
            <a:pPr>
              <a:buFont typeface="Wingdings 3" panose="05040102010807070707" pitchFamily="18" charset="2"/>
              <a:buChar char=""/>
              <a:defRPr/>
            </a:pPr>
            <a:endParaRPr lang="ar-EG" altLang="ar-EG"/>
          </a:p>
        </p:txBody>
      </p:sp>
      <p:pic>
        <p:nvPicPr>
          <p:cNvPr id="27652" name="Picture 5">
            <a:extLst>
              <a:ext uri="{FF2B5EF4-FFF2-40B4-BE49-F238E27FC236}">
                <a16:creationId xmlns:a16="http://schemas.microsoft.com/office/drawing/2014/main" id="{92587AD2-6F2A-21D8-673C-365E53F1B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4400" y="3719513"/>
            <a:ext cx="6015038" cy="30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6DDA23-0DB4-4A35-A485-E553C2F4950F}"/>
              </a:ext>
            </a:extLst>
          </p:cNvPr>
          <p:cNvSpPr>
            <a:spLocks noGrp="1"/>
          </p:cNvSpPr>
          <p:nvPr>
            <p:ph type="body" sz="quarter" idx="10"/>
          </p:nvPr>
        </p:nvSpPr>
        <p:spPr/>
        <p:txBody>
          <a:bodyPr/>
          <a:lstStyle/>
          <a:p>
            <a:pPr>
              <a:buFont typeface="Wingdings 3" panose="05040102010807070707" pitchFamily="18" charset="2"/>
              <a:buNone/>
              <a:defRPr/>
            </a:pPr>
            <a:r>
              <a:rPr lang="en-US"/>
              <a:t>Logistic regression </a:t>
            </a:r>
            <a:r>
              <a:rPr lang="en-US" altLang="ar-EG"/>
              <a:t>algorithms</a:t>
            </a:r>
            <a:endParaRPr lang="en-US"/>
          </a:p>
        </p:txBody>
      </p:sp>
      <p:sp>
        <p:nvSpPr>
          <p:cNvPr id="188419" name="Content Placeholder 2">
            <a:extLst>
              <a:ext uri="{FF2B5EF4-FFF2-40B4-BE49-F238E27FC236}">
                <a16:creationId xmlns:a16="http://schemas.microsoft.com/office/drawing/2014/main" id="{35EF770E-E8C0-4CDF-BF79-46877BF6DDC0}"/>
              </a:ext>
            </a:extLst>
          </p:cNvPr>
          <p:cNvSpPr>
            <a:spLocks noGrp="1" noChangeArrowheads="1"/>
          </p:cNvSpPr>
          <p:nvPr>
            <p:ph sz="quarter" idx="11"/>
          </p:nvPr>
        </p:nvSpPr>
        <p:spPr>
          <a:xfrm>
            <a:off x="434975" y="1317625"/>
            <a:ext cx="6550025" cy="5202238"/>
          </a:xfrm>
        </p:spPr>
        <p:txBody>
          <a:bodyPr/>
          <a:lstStyle/>
          <a:p>
            <a:pPr marL="0" indent="0">
              <a:buFont typeface="Wingdings 3" panose="05040102010807070707" pitchFamily="18" charset="2"/>
              <a:buNone/>
              <a:defRPr/>
            </a:pPr>
            <a:r>
              <a:rPr altLang="ar-EG"/>
              <a:t>Logistic Regression: When the label is that of categorical or discrete nature, we use log odds ratio to optimize business problems such as – scoring customers and then predict those that are most likely to default on the loan payment, or predict higher response rates to a certain marketing strategy.</a:t>
            </a:r>
          </a:p>
          <a:p>
            <a:pPr>
              <a:buFont typeface="Wingdings 3" panose="05040102010807070707" pitchFamily="18" charset="2"/>
              <a:buChar char=""/>
              <a:defRPr/>
            </a:pPr>
            <a:endParaRPr lang="ar-EG" altLang="ar-EG"/>
          </a:p>
        </p:txBody>
      </p:sp>
      <p:pic>
        <p:nvPicPr>
          <p:cNvPr id="28676" name="Picture 3">
            <a:extLst>
              <a:ext uri="{FF2B5EF4-FFF2-40B4-BE49-F238E27FC236}">
                <a16:creationId xmlns:a16="http://schemas.microsoft.com/office/drawing/2014/main" id="{3CB91BE4-A218-18F0-EF51-A5994F6C1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9775" y="3552825"/>
            <a:ext cx="4913313"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4">
            <a:extLst>
              <a:ext uri="{FF2B5EF4-FFF2-40B4-BE49-F238E27FC236}">
                <a16:creationId xmlns:a16="http://schemas.microsoft.com/office/drawing/2014/main" id="{53438F95-1B4C-0B13-09DD-34E93389B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9775" y="123825"/>
            <a:ext cx="4924425"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59EC53-60DC-45CF-85C3-A91B50E2ABB3}"/>
              </a:ext>
            </a:extLst>
          </p:cNvPr>
          <p:cNvSpPr>
            <a:spLocks noGrp="1"/>
          </p:cNvSpPr>
          <p:nvPr>
            <p:ph type="body" sz="quarter" idx="10"/>
          </p:nvPr>
        </p:nvSpPr>
        <p:spPr>
          <a:xfrm>
            <a:off x="457200" y="77788"/>
            <a:ext cx="11266488" cy="1046162"/>
          </a:xfrm>
        </p:spPr>
        <p:txBody>
          <a:bodyPr/>
          <a:lstStyle/>
          <a:p>
            <a:pPr>
              <a:buFont typeface="Wingdings 3" panose="05040102010807070707" pitchFamily="18" charset="2"/>
              <a:buNone/>
              <a:defRPr/>
            </a:pPr>
            <a:r>
              <a:rPr lang="en-US"/>
              <a:t>Ridge, Lasso, and </a:t>
            </a:r>
            <a:r>
              <a:rPr lang="en-US" err="1"/>
              <a:t>Elasticnet</a:t>
            </a:r>
            <a:r>
              <a:rPr lang="en-US"/>
              <a:t> </a:t>
            </a:r>
            <a:r>
              <a:rPr lang="en-US" altLang="ar-EG"/>
              <a:t>algorithms</a:t>
            </a:r>
            <a:r>
              <a:rPr lang="en-US"/>
              <a:t>  </a:t>
            </a:r>
            <a:endParaRPr lang="en-US">
              <a:solidFill>
                <a:schemeClr val="tx1"/>
              </a:solidFill>
            </a:endParaRPr>
          </a:p>
        </p:txBody>
      </p:sp>
      <p:sp>
        <p:nvSpPr>
          <p:cNvPr id="3" name="Content Placeholder 2">
            <a:extLst>
              <a:ext uri="{FF2B5EF4-FFF2-40B4-BE49-F238E27FC236}">
                <a16:creationId xmlns:a16="http://schemas.microsoft.com/office/drawing/2014/main" id="{B3C2A3C9-BADD-4398-9A94-8B8A099A118A}"/>
              </a:ext>
            </a:extLst>
          </p:cNvPr>
          <p:cNvSpPr>
            <a:spLocks noGrp="1"/>
          </p:cNvSpPr>
          <p:nvPr>
            <p:ph sz="quarter" idx="11"/>
          </p:nvPr>
        </p:nvSpPr>
        <p:spPr>
          <a:xfrm>
            <a:off x="434975" y="925513"/>
            <a:ext cx="11757025" cy="5594350"/>
          </a:xfrm>
        </p:spPr>
        <p:txBody>
          <a:bodyPr/>
          <a:lstStyle/>
          <a:p>
            <a:pPr marL="0" indent="0">
              <a:buFont typeface="Wingdings 3" panose="05040102010807070707" pitchFamily="18" charset="2"/>
              <a:buNone/>
              <a:defRPr/>
            </a:pPr>
            <a:r>
              <a:rPr sz="1400"/>
              <a:t>Ridge, Lasso, and </a:t>
            </a:r>
            <a:r>
              <a:rPr sz="1400" err="1"/>
              <a:t>Elasticnet</a:t>
            </a:r>
            <a:r>
              <a:rPr sz="1400"/>
              <a:t> are Best Linear Unbiased Estimator (BLUE)</a:t>
            </a:r>
          </a:p>
          <a:p>
            <a:pPr>
              <a:buFont typeface="Wingdings 3" panose="05040102010807070707" pitchFamily="18" charset="2"/>
              <a:buChar char=""/>
              <a:defRPr/>
            </a:pPr>
            <a:r>
              <a:rPr sz="1400"/>
              <a:t>To find a BLUE estimator just need mean and variance</a:t>
            </a:r>
          </a:p>
          <a:p>
            <a:pPr>
              <a:buFont typeface="Wingdings 3" panose="05040102010807070707" pitchFamily="18" charset="2"/>
              <a:buChar char=""/>
              <a:defRPr/>
            </a:pPr>
            <a:r>
              <a:rPr sz="1400"/>
              <a:t>BLUE restricts the estimator to be linear</a:t>
            </a:r>
            <a:endParaRPr lang="ar-EG" sz="1400"/>
          </a:p>
          <a:p>
            <a:pPr>
              <a:buFont typeface="Wingdings 3" panose="05040102010807070707" pitchFamily="18" charset="2"/>
              <a:buChar char=""/>
              <a:defRPr/>
            </a:pPr>
            <a:r>
              <a:rPr sz="1400"/>
              <a:t>BLUE  use norms, norms play a vital role in reducing the Mean Squared Error (MSE)</a:t>
            </a:r>
          </a:p>
          <a:p>
            <a:pPr marL="0" indent="0">
              <a:buFont typeface="Wingdings 3" panose="05040102010807070707" pitchFamily="18" charset="2"/>
              <a:buNone/>
              <a:defRPr/>
            </a:pPr>
            <a:endParaRPr sz="1400"/>
          </a:p>
          <a:p>
            <a:pPr marL="0" indent="0">
              <a:buFont typeface="Wingdings 3" panose="05040102010807070707" pitchFamily="18" charset="2"/>
              <a:buNone/>
              <a:defRPr/>
            </a:pPr>
            <a:r>
              <a:rPr sz="1400"/>
              <a:t>Ridge vs Lasso vs </a:t>
            </a:r>
            <a:r>
              <a:rPr sz="1400" err="1"/>
              <a:t>Elasticnet</a:t>
            </a:r>
            <a:endParaRPr sz="1400"/>
          </a:p>
          <a:p>
            <a:pPr>
              <a:buFont typeface="Wingdings 3" panose="05040102010807070707" pitchFamily="18" charset="2"/>
              <a:buChar char=""/>
              <a:defRPr/>
            </a:pPr>
            <a:r>
              <a:rPr sz="1400" b="1"/>
              <a:t>Ridge</a:t>
            </a:r>
            <a:r>
              <a:rPr sz="1400"/>
              <a:t> uses L2 Norm penalty term which limits the size of the coefficient vector.</a:t>
            </a:r>
          </a:p>
          <a:p>
            <a:pPr>
              <a:buFont typeface="Wingdings 3" panose="05040102010807070707" pitchFamily="18" charset="2"/>
              <a:buChar char=""/>
              <a:defRPr/>
            </a:pPr>
            <a:r>
              <a:rPr sz="1400" b="1"/>
              <a:t>Lasso</a:t>
            </a:r>
            <a:r>
              <a:rPr sz="1400"/>
              <a:t> uses L1 Norm penalty which imposes sparsity among the coefficients and thus, makes the fitted model more interpretable. </a:t>
            </a:r>
          </a:p>
          <a:p>
            <a:pPr>
              <a:buFont typeface="Wingdings 3" panose="05040102010807070707" pitchFamily="18" charset="2"/>
              <a:buChar char=""/>
              <a:defRPr/>
            </a:pPr>
            <a:r>
              <a:rPr sz="1400" b="1" err="1"/>
              <a:t>Elasticnet</a:t>
            </a:r>
            <a:r>
              <a:rPr sz="1400"/>
              <a:t>  has a penalty which is a mix of L1  and L2 norms.</a:t>
            </a:r>
          </a:p>
          <a:p>
            <a:pPr>
              <a:buFont typeface="Wingdings 3" panose="05040102010807070707" pitchFamily="18" charset="2"/>
              <a:buChar char=""/>
              <a:defRPr/>
            </a:pPr>
            <a:endParaRPr sz="1400"/>
          </a:p>
        </p:txBody>
      </p:sp>
      <p:pic>
        <p:nvPicPr>
          <p:cNvPr id="29700" name="Picture 3">
            <a:extLst>
              <a:ext uri="{FF2B5EF4-FFF2-40B4-BE49-F238E27FC236}">
                <a16:creationId xmlns:a16="http://schemas.microsoft.com/office/drawing/2014/main" id="{EC13E1A6-9DBD-3FFA-0CFA-32115F88B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7300" y="4000500"/>
            <a:ext cx="71247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6621B0-3054-432A-B582-7042A7D0BBE7}"/>
              </a:ext>
            </a:extLst>
          </p:cNvPr>
          <p:cNvSpPr>
            <a:spLocks noGrp="1"/>
          </p:cNvSpPr>
          <p:nvPr>
            <p:ph type="body" sz="quarter" idx="10"/>
          </p:nvPr>
        </p:nvSpPr>
        <p:spPr/>
        <p:txBody>
          <a:bodyPr/>
          <a:lstStyle/>
          <a:p>
            <a:pPr>
              <a:buFont typeface="Wingdings 3" panose="05040102010807070707" pitchFamily="18" charset="2"/>
              <a:buNone/>
              <a:defRPr/>
            </a:pPr>
            <a:r>
              <a:rPr lang="en-US" altLang="ar-EG"/>
              <a:t>Decision </a:t>
            </a:r>
            <a:r>
              <a:rPr lang="en-US"/>
              <a:t>Trees, forests, and jungles</a:t>
            </a:r>
          </a:p>
        </p:txBody>
      </p:sp>
      <p:sp>
        <p:nvSpPr>
          <p:cNvPr id="30723" name="Content Placeholder 2">
            <a:extLst>
              <a:ext uri="{FF2B5EF4-FFF2-40B4-BE49-F238E27FC236}">
                <a16:creationId xmlns:a16="http://schemas.microsoft.com/office/drawing/2014/main" id="{CCB1EB42-3D78-6F6D-9F69-8F16146EBE51}"/>
              </a:ext>
            </a:extLst>
          </p:cNvPr>
          <p:cNvSpPr>
            <a:spLocks noGrp="1" noChangeArrowheads="1"/>
          </p:cNvSpPr>
          <p:nvPr>
            <p:ph sz="quarter" idx="11"/>
          </p:nvPr>
        </p:nvSpPr>
        <p:spPr>
          <a:xfrm>
            <a:off x="434975" y="1317625"/>
            <a:ext cx="11507788" cy="5202238"/>
          </a:xfrm>
        </p:spPr>
        <p:txBody>
          <a:bodyPr/>
          <a:lstStyle/>
          <a:p>
            <a:pPr marL="0" indent="0">
              <a:buFont typeface="Wingdings 3" pitchFamily="2" charset="2"/>
              <a:buNone/>
            </a:pPr>
            <a:r>
              <a:rPr altLang="ar-EG" b="1"/>
              <a:t>Decision Trees </a:t>
            </a:r>
            <a:r>
              <a:rPr altLang="ar-EG"/>
              <a:t>methods construct a tree of predictive decisions made based on actual values of attributes in the data. It used for classification and regression problems.</a:t>
            </a:r>
          </a:p>
          <a:p>
            <a:pPr marL="0" indent="0">
              <a:buFont typeface="Wingdings 3" pitchFamily="2" charset="2"/>
              <a:buNone/>
            </a:pPr>
            <a:br>
              <a:rPr lang="ar-EG" altLang="ar-EG"/>
            </a:br>
            <a:r>
              <a:rPr altLang="ar-EG"/>
              <a:t>Decision Trees, forests, and jungles: all do the same thing - subdivide the feature space into regions with mostly the same label. These can be regions of consistent category or of constant value, depending on whether you are doing classification or regression.</a:t>
            </a:r>
          </a:p>
        </p:txBody>
      </p:sp>
      <p:pic>
        <p:nvPicPr>
          <p:cNvPr id="30724" name="Picture 3">
            <a:extLst>
              <a:ext uri="{FF2B5EF4-FFF2-40B4-BE49-F238E27FC236}">
                <a16:creationId xmlns:a16="http://schemas.microsoft.com/office/drawing/2014/main" id="{A751E5D3-11BE-81FC-5BAF-6F9024D17A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1763" y="3689350"/>
            <a:ext cx="3971925"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4">
            <a:extLst>
              <a:ext uri="{FF2B5EF4-FFF2-40B4-BE49-F238E27FC236}">
                <a16:creationId xmlns:a16="http://schemas.microsoft.com/office/drawing/2014/main" id="{ACF58FE2-7558-C234-39CF-67D83FC102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500" y="3689350"/>
            <a:ext cx="4052888"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A0C2CE-0DC3-4DD9-B2E6-5D372FC6720B}"/>
              </a:ext>
            </a:extLst>
          </p:cNvPr>
          <p:cNvSpPr>
            <a:spLocks noGrp="1"/>
          </p:cNvSpPr>
          <p:nvPr>
            <p:ph type="body" sz="quarter" idx="10"/>
          </p:nvPr>
        </p:nvSpPr>
        <p:spPr/>
        <p:txBody>
          <a:bodyPr/>
          <a:lstStyle/>
          <a:p>
            <a:pPr>
              <a:buFont typeface="Wingdings 3" panose="05040102010807070707" pitchFamily="18" charset="2"/>
              <a:buNone/>
              <a:defRPr/>
            </a:pPr>
            <a:r>
              <a:rPr lang="en-US" altLang="ar-EG"/>
              <a:t>Ensemble Learning Algorithms </a:t>
            </a:r>
            <a:r>
              <a:rPr lang="en-US" sz="2000">
                <a:solidFill>
                  <a:schemeClr val="tx1"/>
                </a:solidFill>
              </a:rPr>
              <a:t>(Gradient-Boosted/ Random Forests )</a:t>
            </a:r>
            <a:endParaRPr lang="en-US">
              <a:solidFill>
                <a:schemeClr val="tx1"/>
              </a:solidFill>
            </a:endParaRPr>
          </a:p>
        </p:txBody>
      </p:sp>
      <p:sp>
        <p:nvSpPr>
          <p:cNvPr id="191491" name="Content Placeholder 2">
            <a:extLst>
              <a:ext uri="{FF2B5EF4-FFF2-40B4-BE49-F238E27FC236}">
                <a16:creationId xmlns:a16="http://schemas.microsoft.com/office/drawing/2014/main" id="{889D9E53-90B0-463B-A28C-37EC308FD9DC}"/>
              </a:ext>
            </a:extLst>
          </p:cNvPr>
          <p:cNvSpPr>
            <a:spLocks noGrp="1" noChangeArrowheads="1"/>
          </p:cNvSpPr>
          <p:nvPr>
            <p:ph sz="quarter" idx="11"/>
          </p:nvPr>
        </p:nvSpPr>
        <p:spPr>
          <a:xfrm>
            <a:off x="434975" y="1317625"/>
            <a:ext cx="11374438" cy="5202238"/>
          </a:xfrm>
        </p:spPr>
        <p:txBody>
          <a:bodyPr/>
          <a:lstStyle/>
          <a:p>
            <a:pPr marL="0" indent="0">
              <a:buFont typeface="Wingdings 3" panose="05040102010807070707" pitchFamily="18" charset="2"/>
              <a:buNone/>
              <a:defRPr/>
            </a:pPr>
            <a:r>
              <a:rPr altLang="ar-EG" sz="1800"/>
              <a:t>Decision trees do not have the same level of predictive accuracy. </a:t>
            </a:r>
          </a:p>
          <a:p>
            <a:pPr marL="0" indent="0">
              <a:buFont typeface="Wingdings 3" panose="05040102010807070707" pitchFamily="18" charset="2"/>
              <a:buNone/>
              <a:defRPr/>
            </a:pPr>
            <a:r>
              <a:rPr altLang="ar-EG" sz="1800"/>
              <a:t>This problem is addressed by using a collection of decision trees instead of just one decision tree. </a:t>
            </a:r>
          </a:p>
          <a:p>
            <a:pPr marL="0" indent="0">
              <a:buFont typeface="Wingdings 3" panose="05040102010807070707" pitchFamily="18" charset="2"/>
              <a:buNone/>
              <a:defRPr/>
            </a:pPr>
            <a:r>
              <a:rPr altLang="ar-EG" sz="1800"/>
              <a:t>this algorithm called ensemble learning algorithms and it is one of top performers for classification and regression tasks.</a:t>
            </a:r>
          </a:p>
          <a:p>
            <a:pPr marL="0" indent="0">
              <a:buFont typeface="Wingdings 3" panose="05040102010807070707" pitchFamily="18" charset="2"/>
              <a:buNone/>
              <a:defRPr/>
            </a:pPr>
            <a:r>
              <a:rPr sz="1800"/>
              <a:t>The commonly used ensemble algorithms are Random Forests and Gradient-Boosted Trees</a:t>
            </a:r>
            <a:endParaRPr altLang="ar-EG" sz="1800"/>
          </a:p>
          <a:p>
            <a:pPr>
              <a:buFont typeface="Wingdings 3" panose="05040102010807070707" pitchFamily="18" charset="2"/>
              <a:buChar char=""/>
              <a:defRPr/>
            </a:pPr>
            <a:endParaRPr lang="ar-EG" altLang="ar-EG" sz="1800"/>
          </a:p>
        </p:txBody>
      </p:sp>
      <p:grpSp>
        <p:nvGrpSpPr>
          <p:cNvPr id="31748" name="Group 2">
            <a:extLst>
              <a:ext uri="{FF2B5EF4-FFF2-40B4-BE49-F238E27FC236}">
                <a16:creationId xmlns:a16="http://schemas.microsoft.com/office/drawing/2014/main" id="{6874A5DD-DD4E-A447-B1A4-BDC364810B89}"/>
              </a:ext>
            </a:extLst>
          </p:cNvPr>
          <p:cNvGrpSpPr>
            <a:grpSpLocks/>
          </p:cNvGrpSpPr>
          <p:nvPr/>
        </p:nvGrpSpPr>
        <p:grpSpPr bwMode="auto">
          <a:xfrm>
            <a:off x="831850" y="4116388"/>
            <a:ext cx="10344150" cy="2119312"/>
            <a:chOff x="434975" y="3432864"/>
            <a:chExt cx="10344837" cy="2119638"/>
          </a:xfrm>
        </p:grpSpPr>
        <p:pic>
          <p:nvPicPr>
            <p:cNvPr id="31749" name="Picture 2" descr="https://sebastianraschka.com/images/faq/bagging-boosting-rf/boosting.png">
              <a:extLst>
                <a:ext uri="{FF2B5EF4-FFF2-40B4-BE49-F238E27FC236}">
                  <a16:creationId xmlns:a16="http://schemas.microsoft.com/office/drawing/2014/main" id="{050AA724-291E-03F5-C3B9-70AFC2953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7125"/>
            <a:stretch>
              <a:fillRect/>
            </a:stretch>
          </p:blipFill>
          <p:spPr bwMode="auto">
            <a:xfrm>
              <a:off x="5612902" y="3432864"/>
              <a:ext cx="5166910" cy="21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2" descr="https://sebastianraschka.com/images/faq/bagging-boosting-rf/boosting.png">
              <a:extLst>
                <a:ext uri="{FF2B5EF4-FFF2-40B4-BE49-F238E27FC236}">
                  <a16:creationId xmlns:a16="http://schemas.microsoft.com/office/drawing/2014/main" id="{32A58703-049D-A812-0713-0A8D46B83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3119"/>
            <a:stretch>
              <a:fillRect/>
            </a:stretch>
          </p:blipFill>
          <p:spPr bwMode="auto">
            <a:xfrm>
              <a:off x="434975" y="3432864"/>
              <a:ext cx="5166910" cy="21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02B51B-AD6B-4035-9DAE-D1BEB3FBE4CA}"/>
              </a:ext>
            </a:extLst>
          </p:cNvPr>
          <p:cNvSpPr>
            <a:spLocks noGrp="1"/>
          </p:cNvSpPr>
          <p:nvPr>
            <p:ph type="body" sz="quarter" idx="10"/>
          </p:nvPr>
        </p:nvSpPr>
        <p:spPr/>
        <p:txBody>
          <a:bodyPr/>
          <a:lstStyle/>
          <a:p>
            <a:pPr>
              <a:buFont typeface="Wingdings 3" panose="05040102010807070707" pitchFamily="18" charset="2"/>
              <a:buNone/>
              <a:defRPr/>
            </a:pPr>
            <a:r>
              <a:rPr lang="en-US"/>
              <a:t>Random Forests</a:t>
            </a:r>
          </a:p>
        </p:txBody>
      </p:sp>
      <p:sp>
        <p:nvSpPr>
          <p:cNvPr id="32771" name="Content Placeholder 2">
            <a:extLst>
              <a:ext uri="{FF2B5EF4-FFF2-40B4-BE49-F238E27FC236}">
                <a16:creationId xmlns:a16="http://schemas.microsoft.com/office/drawing/2014/main" id="{20E803AA-76D0-09E9-1E53-2EC643A0A07A}"/>
              </a:ext>
            </a:extLst>
          </p:cNvPr>
          <p:cNvSpPr>
            <a:spLocks noGrp="1" noChangeArrowheads="1"/>
          </p:cNvSpPr>
          <p:nvPr>
            <p:ph sz="quarter" idx="11"/>
          </p:nvPr>
        </p:nvSpPr>
        <p:spPr/>
        <p:txBody>
          <a:bodyPr/>
          <a:lstStyle/>
          <a:p>
            <a:pPr marL="0" indent="0">
              <a:buFont typeface="Wingdings 3" pitchFamily="2" charset="2"/>
              <a:buNone/>
            </a:pPr>
            <a:r>
              <a:rPr altLang="ar-EG"/>
              <a:t>Random Forest algorithm trains each decision tree in an ensemble independently using a random sample of data. In addition, each decision tree is trained using a subset of the features. The number of trees in an ensemble is of the order of hundreds. </a:t>
            </a:r>
          </a:p>
          <a:p>
            <a:pPr marL="0" indent="0">
              <a:buFont typeface="Wingdings 3" pitchFamily="2" charset="2"/>
              <a:buNone/>
            </a:pPr>
            <a:r>
              <a:rPr altLang="ar-EG"/>
              <a:t>Random Forest creates an ensemble model that has a better predictive performance than that of a single decision tree model.</a:t>
            </a:r>
          </a:p>
          <a:p>
            <a:pPr marL="0" indent="0">
              <a:buFont typeface="Wingdings 3" pitchFamily="2" charset="2"/>
              <a:buNone/>
            </a:pPr>
            <a:r>
              <a:rPr altLang="ar-EG"/>
              <a:t>For a regression task, a Random Forest model takes an input feature vector and gets a prediction from each decision tree in the ensemble. It averages the numeric labels return by all the trees and returns the average as its prediction.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60D102-C878-4729-AF98-FDA9900BA3F8}"/>
              </a:ext>
            </a:extLst>
          </p:cNvPr>
          <p:cNvSpPr>
            <a:spLocks noGrp="1"/>
          </p:cNvSpPr>
          <p:nvPr>
            <p:ph type="body" sz="quarter" idx="10"/>
          </p:nvPr>
        </p:nvSpPr>
        <p:spPr/>
        <p:txBody>
          <a:bodyPr/>
          <a:lstStyle/>
          <a:p>
            <a:pPr>
              <a:buFont typeface="Wingdings 3" panose="05040102010807070707" pitchFamily="18" charset="2"/>
              <a:buNone/>
              <a:defRPr/>
            </a:pPr>
            <a:r>
              <a:rPr lang="en-US"/>
              <a:t>Gradient-Boosted Trees</a:t>
            </a:r>
          </a:p>
        </p:txBody>
      </p:sp>
      <p:sp>
        <p:nvSpPr>
          <p:cNvPr id="33795" name="Content Placeholder 2">
            <a:extLst>
              <a:ext uri="{FF2B5EF4-FFF2-40B4-BE49-F238E27FC236}">
                <a16:creationId xmlns:a16="http://schemas.microsoft.com/office/drawing/2014/main" id="{D5C806D5-54F8-CBF4-F1AA-D3A990AB5ED9}"/>
              </a:ext>
            </a:extLst>
          </p:cNvPr>
          <p:cNvSpPr>
            <a:spLocks noGrp="1" noChangeArrowheads="1"/>
          </p:cNvSpPr>
          <p:nvPr>
            <p:ph sz="quarter" idx="11"/>
          </p:nvPr>
        </p:nvSpPr>
        <p:spPr/>
        <p:txBody>
          <a:bodyPr/>
          <a:lstStyle/>
          <a:p>
            <a:pPr marL="0" indent="0">
              <a:buFont typeface="Wingdings 3" pitchFamily="2" charset="2"/>
              <a:buNone/>
            </a:pPr>
            <a:r>
              <a:rPr altLang="ar-EG"/>
              <a:t>Gradient-Boosted Trees (GBTs) algorithm also trains an ensemble of decision trees. However, it sequentially trains each decision tree.</a:t>
            </a:r>
          </a:p>
          <a:p>
            <a:pPr marL="0" indent="0">
              <a:buFont typeface="Wingdings 3" pitchFamily="2" charset="2"/>
              <a:buNone/>
            </a:pPr>
            <a:r>
              <a:rPr altLang="ar-EG"/>
              <a:t>It optimizes each new tree using information from previously trained trees. Thus, the model becomes better with each new tree.</a:t>
            </a:r>
          </a:p>
          <a:p>
            <a:pPr marL="0" indent="0">
              <a:buFont typeface="Wingdings 3" pitchFamily="2" charset="2"/>
              <a:buNone/>
            </a:pPr>
            <a:r>
              <a:rPr altLang="ar-EG"/>
              <a:t>GBT can take longer to train a model since it trains one tree at a time. In addition, it is prone to overfitting if a large number of trees are used in an ensemble.</a:t>
            </a:r>
          </a:p>
          <a:p>
            <a:pPr marL="0" indent="0">
              <a:buFont typeface="Wingdings 3" pitchFamily="2" charset="2"/>
              <a:buNone/>
            </a:pPr>
            <a:r>
              <a:rPr altLang="ar-EG"/>
              <a:t>However, each tree in a GBT ensemble can be shallow, which are faster to train.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3AC875-A82A-4520-956A-58A7ED823C1D}"/>
              </a:ext>
            </a:extLst>
          </p:cNvPr>
          <p:cNvSpPr>
            <a:spLocks noGrp="1"/>
          </p:cNvSpPr>
          <p:nvPr>
            <p:ph type="body" sz="quarter" idx="10"/>
          </p:nvPr>
        </p:nvSpPr>
        <p:spPr/>
        <p:txBody>
          <a:bodyPr/>
          <a:lstStyle/>
          <a:p>
            <a:pPr>
              <a:buFont typeface="Wingdings 3" panose="05040102010807070707" pitchFamily="18" charset="2"/>
              <a:buNone/>
              <a:defRPr/>
            </a:pPr>
            <a:r>
              <a:rPr lang="en-US" sz="2800"/>
              <a:t>Random Forests vs Gradient-Boosted Trees (GBTs)</a:t>
            </a:r>
          </a:p>
        </p:txBody>
      </p:sp>
      <p:sp>
        <p:nvSpPr>
          <p:cNvPr id="3" name="Content Placeholder 2">
            <a:extLst>
              <a:ext uri="{FF2B5EF4-FFF2-40B4-BE49-F238E27FC236}">
                <a16:creationId xmlns:a16="http://schemas.microsoft.com/office/drawing/2014/main" id="{1E896A95-E86D-4F25-9FEF-C0FCF423DDF8}"/>
              </a:ext>
            </a:extLst>
          </p:cNvPr>
          <p:cNvSpPr>
            <a:spLocks noGrp="1"/>
          </p:cNvSpPr>
          <p:nvPr>
            <p:ph sz="quarter" idx="11"/>
          </p:nvPr>
        </p:nvSpPr>
        <p:spPr/>
        <p:txBody>
          <a:bodyPr/>
          <a:lstStyle/>
          <a:p>
            <a:pPr>
              <a:buFont typeface="Wingdings 3" panose="05040102010807070707" pitchFamily="18" charset="2"/>
              <a:buChar char=""/>
              <a:defRPr/>
            </a:pPr>
            <a:r>
              <a:rPr sz="1600"/>
              <a:t>Random Forests can train multiple trees in parallel, but GBTs train one tree at a time</a:t>
            </a:r>
          </a:p>
          <a:p>
            <a:pPr>
              <a:buFont typeface="Wingdings 3" panose="05040102010807070707" pitchFamily="18" charset="2"/>
              <a:buChar char=""/>
              <a:defRPr/>
            </a:pPr>
            <a:r>
              <a:rPr sz="1600"/>
              <a:t>Random Forest reduces the likelihood of overfitting</a:t>
            </a:r>
          </a:p>
          <a:p>
            <a:pPr>
              <a:buFont typeface="Wingdings 3" panose="05040102010807070707" pitchFamily="18" charset="2"/>
              <a:buChar char=""/>
              <a:defRPr/>
            </a:pPr>
            <a:r>
              <a:rPr sz="1600"/>
              <a:t>Random Forests reduce variance by using more trees, whereas GBTs reduce bias by using more trees</a:t>
            </a:r>
          </a:p>
          <a:p>
            <a:pPr marL="0" indent="0">
              <a:buFont typeface="Wingdings 3" panose="05040102010807070707" pitchFamily="18" charset="2"/>
              <a:buNone/>
              <a:defRPr/>
            </a:pPr>
            <a:endParaRPr lang="ar-EG" sz="1600"/>
          </a:p>
          <a:p>
            <a:pPr marL="0" indent="0">
              <a:buFont typeface="Wingdings 3" panose="05040102010807070707" pitchFamily="18" charset="2"/>
              <a:buNone/>
              <a:defRPr/>
            </a:pPr>
            <a:r>
              <a:rPr sz="1600"/>
              <a:t>To make a prediction on a new instance, a random forest must aggregate the predictions from its set of decision trees. This aggregation is done differently for classification and regression.</a:t>
            </a:r>
          </a:p>
          <a:p>
            <a:pPr>
              <a:buFont typeface="Wingdings 3" panose="05040102010807070707" pitchFamily="18" charset="2"/>
              <a:buChar char=""/>
              <a:defRPr/>
            </a:pPr>
            <a:r>
              <a:rPr sz="1600" i="1"/>
              <a:t>Classification</a:t>
            </a:r>
            <a:r>
              <a:rPr sz="1600"/>
              <a:t>: Majority vote. Each tree’s prediction is counted as a vote for one class. The label is predicted to be the class which receives the most votes.</a:t>
            </a:r>
          </a:p>
          <a:p>
            <a:pPr>
              <a:buFont typeface="Wingdings 3" panose="05040102010807070707" pitchFamily="18" charset="2"/>
              <a:buChar char=""/>
              <a:defRPr/>
            </a:pPr>
            <a:r>
              <a:rPr sz="1600" i="1"/>
              <a:t>Regression</a:t>
            </a:r>
            <a:r>
              <a:rPr sz="1600"/>
              <a:t>: Averaging. Each tree predicts a real value. The label is predicted to be the average of the tree predictions.</a:t>
            </a:r>
          </a:p>
          <a:p>
            <a:pPr>
              <a:buFont typeface="Wingdings 3" panose="05040102010807070707" pitchFamily="18" charset="2"/>
              <a:buChar char=""/>
              <a:defRPr/>
            </a:pPr>
            <a:endParaRPr sz="16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AEB03C-478F-4358-9022-74884C527FCA}"/>
              </a:ext>
            </a:extLst>
          </p:cNvPr>
          <p:cNvSpPr>
            <a:spLocks noGrp="1"/>
          </p:cNvSpPr>
          <p:nvPr>
            <p:ph type="body" sz="quarter" idx="10"/>
          </p:nvPr>
        </p:nvSpPr>
        <p:spPr/>
        <p:txBody>
          <a:bodyPr/>
          <a:lstStyle/>
          <a:p>
            <a:pPr>
              <a:buFont typeface="Wingdings 3" panose="05040102010807070707" pitchFamily="18" charset="2"/>
              <a:buNone/>
              <a:defRPr/>
            </a:pPr>
            <a:r>
              <a:rPr lang="en-US"/>
              <a:t>SVM</a:t>
            </a:r>
          </a:p>
        </p:txBody>
      </p:sp>
      <p:pic>
        <p:nvPicPr>
          <p:cNvPr id="35843" name="Content Placeholder 4">
            <a:extLst>
              <a:ext uri="{FF2B5EF4-FFF2-40B4-BE49-F238E27FC236}">
                <a16:creationId xmlns:a16="http://schemas.microsoft.com/office/drawing/2014/main" id="{F87F407C-0066-F3B1-F749-1C8FF3448470}"/>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tretch>
            <a:fillRect/>
          </a:stretch>
        </p:blipFill>
        <p:spPr>
          <a:xfrm>
            <a:off x="2688942" y="1317625"/>
            <a:ext cx="6780779" cy="5202238"/>
          </a:xfrm>
        </p:spPr>
      </p:pic>
      <p:sp>
        <p:nvSpPr>
          <p:cNvPr id="35844" name="AutoShape 2" descr="Support vector machine class boundary">
            <a:extLst>
              <a:ext uri="{FF2B5EF4-FFF2-40B4-BE49-F238E27FC236}">
                <a16:creationId xmlns:a16="http://schemas.microsoft.com/office/drawing/2014/main" id="{38598CEF-295A-1088-2689-CF5C430178D8}"/>
              </a:ext>
            </a:extLst>
          </p:cNvPr>
          <p:cNvSpPr>
            <a:spLocks noChangeAspect="1" noChangeArrowheads="1"/>
          </p:cNvSpPr>
          <p:nvPr/>
        </p:nvSpPr>
        <p:spPr bwMode="auto">
          <a:xfrm>
            <a:off x="5943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endParaRPr lang="ar-EG" altLang="ar-EG"/>
          </a:p>
        </p:txBody>
      </p:sp>
      <p:sp>
        <p:nvSpPr>
          <p:cNvPr id="35845" name="TextBox 2">
            <a:extLst>
              <a:ext uri="{FF2B5EF4-FFF2-40B4-BE49-F238E27FC236}">
                <a16:creationId xmlns:a16="http://schemas.microsoft.com/office/drawing/2014/main" id="{217F4671-566D-27EB-2361-06DBDDC19389}"/>
              </a:ext>
            </a:extLst>
          </p:cNvPr>
          <p:cNvSpPr txBox="1">
            <a:spLocks noChangeArrowheads="1"/>
          </p:cNvSpPr>
          <p:nvPr/>
        </p:nvSpPr>
        <p:spPr bwMode="auto">
          <a:xfrm>
            <a:off x="457200" y="1255713"/>
            <a:ext cx="110664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a:t>Support Vector Machines (SVM) are most popularly used in ML to deal with problems related to image segmentation, the stock market, text categorization and biological sciences, it try to find the line that give largest margin between two classes of observations.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331521-22E5-45E2-BE75-F18121960F19}"/>
              </a:ext>
            </a:extLst>
          </p:cNvPr>
          <p:cNvSpPr>
            <a:spLocks noGrp="1"/>
          </p:cNvSpPr>
          <p:nvPr>
            <p:ph type="body" sz="quarter" idx="10"/>
          </p:nvPr>
        </p:nvSpPr>
        <p:spPr/>
        <p:txBody>
          <a:bodyPr/>
          <a:lstStyle/>
          <a:p>
            <a:pPr>
              <a:buFont typeface="Wingdings 3" panose="05040102010807070707" pitchFamily="18" charset="2"/>
              <a:buNone/>
              <a:defRPr/>
            </a:pPr>
            <a:r>
              <a:rPr lang="en-US" err="1"/>
              <a:t>DBScan</a:t>
            </a:r>
            <a:r>
              <a:rPr lang="en-US"/>
              <a:t> / Optics</a:t>
            </a:r>
          </a:p>
        </p:txBody>
      </p:sp>
      <p:sp>
        <p:nvSpPr>
          <p:cNvPr id="36867" name="Content Placeholder 2">
            <a:extLst>
              <a:ext uri="{FF2B5EF4-FFF2-40B4-BE49-F238E27FC236}">
                <a16:creationId xmlns:a16="http://schemas.microsoft.com/office/drawing/2014/main" id="{A092C0DC-7FFD-D0E3-29EB-1E4297E6C2FD}"/>
              </a:ext>
            </a:extLst>
          </p:cNvPr>
          <p:cNvSpPr>
            <a:spLocks noGrp="1" noChangeArrowheads="1"/>
          </p:cNvSpPr>
          <p:nvPr>
            <p:ph sz="quarter" idx="11"/>
          </p:nvPr>
        </p:nvSpPr>
        <p:spPr>
          <a:xfrm>
            <a:off x="434975" y="1317625"/>
            <a:ext cx="9590088" cy="5202238"/>
          </a:xfrm>
        </p:spPr>
        <p:txBody>
          <a:bodyPr/>
          <a:lstStyle/>
          <a:p>
            <a:r>
              <a:rPr altLang="ar-EG"/>
              <a:t>It is a Clustering algorithm that detect the continues patterns</a:t>
            </a:r>
          </a:p>
          <a:p>
            <a:r>
              <a:rPr altLang="ar-EG"/>
              <a:t>The distance between points in DBScan are fixed. So, it is fast but not work well with Clusters with different densities. </a:t>
            </a:r>
          </a:p>
          <a:p>
            <a:r>
              <a:rPr altLang="ar-EG"/>
              <a:t>Optics slower than DB Scan, identify clusters with different densities </a:t>
            </a:r>
            <a:endParaRPr lang="ar-EG" altLang="ar-EG"/>
          </a:p>
        </p:txBody>
      </p:sp>
      <p:pic>
        <p:nvPicPr>
          <p:cNvPr id="36868" name="Picture 3">
            <a:extLst>
              <a:ext uri="{FF2B5EF4-FFF2-40B4-BE49-F238E27FC236}">
                <a16:creationId xmlns:a16="http://schemas.microsoft.com/office/drawing/2014/main" id="{1AB8617E-7EA6-54AF-8FE2-A0BDF4B63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5063" y="1123950"/>
            <a:ext cx="1698625" cy="539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52A835-A281-40A2-BE38-8482E452A4B6}"/>
              </a:ext>
            </a:extLst>
          </p:cNvPr>
          <p:cNvSpPr>
            <a:spLocks noGrp="1"/>
          </p:cNvSpPr>
          <p:nvPr>
            <p:ph type="body" sz="quarter" idx="10"/>
          </p:nvPr>
        </p:nvSpPr>
        <p:spPr/>
        <p:txBody>
          <a:bodyPr/>
          <a:lstStyle/>
          <a:p>
            <a:pPr>
              <a:buFont typeface="Wingdings 3" panose="05040102010807070707" pitchFamily="18" charset="2"/>
              <a:buNone/>
              <a:defRPr/>
            </a:pPr>
            <a:r>
              <a:rPr lang="en-US"/>
              <a:t> K-means</a:t>
            </a:r>
          </a:p>
        </p:txBody>
      </p:sp>
      <p:sp>
        <p:nvSpPr>
          <p:cNvPr id="37891" name="Content Placeholder 2">
            <a:extLst>
              <a:ext uri="{FF2B5EF4-FFF2-40B4-BE49-F238E27FC236}">
                <a16:creationId xmlns:a16="http://schemas.microsoft.com/office/drawing/2014/main" id="{81505D01-2305-542D-9BD0-67B1262A0D6F}"/>
              </a:ext>
            </a:extLst>
          </p:cNvPr>
          <p:cNvSpPr>
            <a:spLocks noGrp="1" noChangeArrowheads="1"/>
          </p:cNvSpPr>
          <p:nvPr>
            <p:ph sz="quarter" idx="11"/>
          </p:nvPr>
        </p:nvSpPr>
        <p:spPr/>
        <p:txBody>
          <a:bodyPr/>
          <a:lstStyle/>
          <a:p>
            <a:r>
              <a:rPr altLang="ar-EG"/>
              <a:t>Clustering/ K-Means: This is a undirected or unsupervised data mining activity typically seen to be used in problems that involve market segmentation, fraud detection, recommendation engines, clustering web pages by similarity.</a:t>
            </a:r>
          </a:p>
          <a:p>
            <a:endParaRPr lang="ar-EG" altLang="ar-EG"/>
          </a:p>
        </p:txBody>
      </p:sp>
      <p:pic>
        <p:nvPicPr>
          <p:cNvPr id="37892" name="Picture 4">
            <a:extLst>
              <a:ext uri="{FF2B5EF4-FFF2-40B4-BE49-F238E27FC236}">
                <a16:creationId xmlns:a16="http://schemas.microsoft.com/office/drawing/2014/main" id="{F6D7BF1D-1820-FEF1-09A8-7BE2493B3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638" y="3271838"/>
            <a:ext cx="8105775"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3">
            <a:extLst>
              <a:ext uri="{FF2B5EF4-FFF2-40B4-BE49-F238E27FC236}">
                <a16:creationId xmlns:a16="http://schemas.microsoft.com/office/drawing/2014/main" id="{52EBFB33-E406-BD04-981C-7F1D147DEC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6338" y="3271838"/>
            <a:ext cx="3087687"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041B34-5E33-4BA9-B1F9-90659459C1E7}"/>
              </a:ext>
            </a:extLst>
          </p:cNvPr>
          <p:cNvSpPr>
            <a:spLocks noGrp="1"/>
          </p:cNvSpPr>
          <p:nvPr>
            <p:ph type="body" sz="quarter" idx="10"/>
          </p:nvPr>
        </p:nvSpPr>
        <p:spPr/>
        <p:txBody>
          <a:bodyPr/>
          <a:lstStyle/>
          <a:p>
            <a:pPr>
              <a:buFont typeface="Wingdings 3" panose="05040102010807070707" pitchFamily="18" charset="2"/>
              <a:buNone/>
              <a:defRPr/>
            </a:pPr>
            <a:r>
              <a:rPr lang="en-US"/>
              <a:t>PCA</a:t>
            </a:r>
          </a:p>
        </p:txBody>
      </p:sp>
      <p:sp>
        <p:nvSpPr>
          <p:cNvPr id="38915" name="Content Placeholder 2">
            <a:extLst>
              <a:ext uri="{FF2B5EF4-FFF2-40B4-BE49-F238E27FC236}">
                <a16:creationId xmlns:a16="http://schemas.microsoft.com/office/drawing/2014/main" id="{2F223A1F-C48A-D1FA-220D-52C49E62A4FD}"/>
              </a:ext>
            </a:extLst>
          </p:cNvPr>
          <p:cNvSpPr>
            <a:spLocks noGrp="1" noChangeArrowheads="1"/>
          </p:cNvSpPr>
          <p:nvPr>
            <p:ph sz="quarter" idx="11"/>
          </p:nvPr>
        </p:nvSpPr>
        <p:spPr/>
        <p:txBody>
          <a:bodyPr/>
          <a:lstStyle/>
          <a:p>
            <a:r>
              <a:rPr altLang="ar-EG"/>
              <a:t>Used for dimension reduction </a:t>
            </a:r>
            <a:endParaRPr lang="ar-EG" altLang="ar-EG"/>
          </a:p>
        </p:txBody>
      </p:sp>
      <p:pic>
        <p:nvPicPr>
          <p:cNvPr id="38916" name="Picture 3">
            <a:extLst>
              <a:ext uri="{FF2B5EF4-FFF2-40B4-BE49-F238E27FC236}">
                <a16:creationId xmlns:a16="http://schemas.microsoft.com/office/drawing/2014/main" id="{A8C02554-26C6-1C43-F481-C61A5D675A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938" y="2309813"/>
            <a:ext cx="9810750"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88B584-A0F2-4805-A8E4-80B9CF1C5856}"/>
              </a:ext>
            </a:extLst>
          </p:cNvPr>
          <p:cNvSpPr>
            <a:spLocks noGrp="1"/>
          </p:cNvSpPr>
          <p:nvPr>
            <p:ph type="body" sz="quarter" idx="10"/>
          </p:nvPr>
        </p:nvSpPr>
        <p:spPr>
          <a:xfrm>
            <a:off x="457200" y="0"/>
            <a:ext cx="11266488" cy="914400"/>
          </a:xfrm>
        </p:spPr>
        <p:txBody>
          <a:bodyPr/>
          <a:lstStyle/>
          <a:p>
            <a:pPr>
              <a:buFont typeface="Wingdings 3" panose="05040102010807070707" pitchFamily="18" charset="2"/>
              <a:buNone/>
              <a:defRPr/>
            </a:pPr>
            <a:r>
              <a:rPr lang="en-US" altLang="ar-EG"/>
              <a:t>Naïve Bayes</a:t>
            </a:r>
            <a:endParaRPr lang="en-US"/>
          </a:p>
        </p:txBody>
      </p:sp>
      <p:sp>
        <p:nvSpPr>
          <p:cNvPr id="217091" name="Content Placeholder 2">
            <a:extLst>
              <a:ext uri="{FF2B5EF4-FFF2-40B4-BE49-F238E27FC236}">
                <a16:creationId xmlns:a16="http://schemas.microsoft.com/office/drawing/2014/main" id="{A8305004-5007-4D7A-AFF2-8E01B90725ED}"/>
              </a:ext>
            </a:extLst>
          </p:cNvPr>
          <p:cNvSpPr>
            <a:spLocks noGrp="1" noChangeArrowheads="1"/>
          </p:cNvSpPr>
          <p:nvPr>
            <p:ph sz="quarter" idx="11"/>
          </p:nvPr>
        </p:nvSpPr>
        <p:spPr>
          <a:xfrm>
            <a:off x="434975" y="914400"/>
            <a:ext cx="11288713" cy="5605463"/>
          </a:xfrm>
        </p:spPr>
        <p:txBody>
          <a:bodyPr/>
          <a:lstStyle/>
          <a:p>
            <a:pPr>
              <a:buFont typeface="Wingdings 3" panose="05040102010807070707" pitchFamily="18" charset="2"/>
              <a:buChar char=""/>
              <a:defRPr/>
            </a:pPr>
            <a:r>
              <a:rPr altLang="ar-EG" sz="1200"/>
              <a:t>Naïve Bayes</a:t>
            </a:r>
            <a:r>
              <a:rPr lang="ar-EG" altLang="ar-EG" sz="1200"/>
              <a:t> </a:t>
            </a:r>
            <a:r>
              <a:rPr altLang="ar-EG" sz="1200"/>
              <a:t>mostly used in </a:t>
            </a:r>
            <a:r>
              <a:rPr sz="1200"/>
              <a:t>Real time Prediction , Multi class Prediction , Text classification</a:t>
            </a:r>
            <a:r>
              <a:rPr altLang="ar-EG" sz="1200"/>
              <a:t>, sentiment analysis, document categorization, spam filtering, disease prediction, </a:t>
            </a:r>
            <a:r>
              <a:rPr sz="1200"/>
              <a:t>Recommendation System</a:t>
            </a:r>
            <a:r>
              <a:rPr altLang="ar-EG" sz="1200"/>
              <a:t>. </a:t>
            </a:r>
            <a:endParaRPr lang="ar-EG" altLang="ar-EG" sz="1200"/>
          </a:p>
          <a:p>
            <a:pPr>
              <a:buFont typeface="Wingdings 3" panose="05040102010807070707" pitchFamily="18" charset="2"/>
              <a:buChar char=""/>
              <a:defRPr/>
            </a:pPr>
            <a:r>
              <a:rPr altLang="ar-EG" sz="1200"/>
              <a:t>Naïve Bayes Classifier is based on the Bayes Theorem of Probability and assumes independence of attributes</a:t>
            </a:r>
            <a:r>
              <a:rPr lang="ar-EG" altLang="ar-EG" sz="1200"/>
              <a:t>.</a:t>
            </a:r>
          </a:p>
          <a:p>
            <a:pPr>
              <a:buFont typeface="Wingdings 3" panose="05040102010807070707" pitchFamily="18" charset="2"/>
              <a:buChar char=""/>
              <a:defRPr/>
            </a:pPr>
            <a:r>
              <a:rPr altLang="ar-EG" sz="1200"/>
              <a:t>Independence of attributes </a:t>
            </a:r>
            <a:r>
              <a:rPr sz="1200"/>
              <a:t>example:</a:t>
            </a:r>
            <a:br>
              <a:rPr sz="1200"/>
            </a:br>
            <a:r>
              <a:rPr sz="1200"/>
              <a:t>a fruit may be considered to be an apple if it is red, round, and about 3 inches in diameter. all of these properties independently contribute to the probability that this fruit is an apple and that is why it is known as ‘Naive’ =(child like/inexperienced).</a:t>
            </a:r>
            <a:br>
              <a:rPr sz="1200"/>
            </a:br>
            <a:endParaRPr sz="600"/>
          </a:p>
          <a:p>
            <a:pPr marL="0" indent="0">
              <a:buFont typeface="Wingdings 3" panose="05040102010807070707" pitchFamily="18" charset="2"/>
              <a:buNone/>
              <a:defRPr/>
            </a:pPr>
            <a:r>
              <a:rPr altLang="ar-EG" sz="1200" b="1"/>
              <a:t>Naive Bayes Pros</a:t>
            </a:r>
            <a:r>
              <a:rPr altLang="ar-EG" sz="1200"/>
              <a:t>:</a:t>
            </a:r>
          </a:p>
          <a:p>
            <a:pPr>
              <a:buFont typeface="Wingdings 3" panose="05040102010807070707" pitchFamily="18" charset="2"/>
              <a:buChar char=""/>
              <a:defRPr/>
            </a:pPr>
            <a:r>
              <a:rPr altLang="ar-EG" sz="1200"/>
              <a:t>It is easy and fast to predict class/multi class prediction</a:t>
            </a:r>
          </a:p>
          <a:p>
            <a:pPr>
              <a:buFont typeface="Wingdings 3" panose="05040102010807070707" pitchFamily="18" charset="2"/>
              <a:buChar char=""/>
              <a:defRPr/>
            </a:pPr>
            <a:r>
              <a:rPr altLang="ar-EG" sz="1200"/>
              <a:t>Performs better compare to other models, need less training data.</a:t>
            </a:r>
          </a:p>
          <a:p>
            <a:pPr>
              <a:buFont typeface="Wingdings 3" panose="05040102010807070707" pitchFamily="18" charset="2"/>
              <a:buChar char=""/>
              <a:defRPr/>
            </a:pPr>
            <a:r>
              <a:rPr altLang="ar-EG" sz="1200"/>
              <a:t>It perform well in case of categorical input variables compared to numerical variable(s). For numerical variable, normal distribution is assumed </a:t>
            </a:r>
          </a:p>
          <a:p>
            <a:pPr marL="0" indent="0">
              <a:buFont typeface="Wingdings 3" panose="05040102010807070707" pitchFamily="18" charset="2"/>
              <a:buNone/>
              <a:defRPr/>
            </a:pPr>
            <a:endParaRPr altLang="ar-EG" sz="500" b="1"/>
          </a:p>
          <a:p>
            <a:pPr marL="0" indent="0">
              <a:buFont typeface="Wingdings 3" panose="05040102010807070707" pitchFamily="18" charset="2"/>
              <a:buNone/>
              <a:defRPr/>
            </a:pPr>
            <a:r>
              <a:rPr altLang="ar-EG" sz="1200" b="1"/>
              <a:t>Naive Bayes Cons</a:t>
            </a:r>
            <a:r>
              <a:rPr altLang="ar-EG" sz="1200"/>
              <a:t>:</a:t>
            </a:r>
          </a:p>
          <a:p>
            <a:pPr>
              <a:buFont typeface="Wingdings 3" panose="05040102010807070707" pitchFamily="18" charset="2"/>
              <a:buChar char=""/>
              <a:defRPr/>
            </a:pPr>
            <a:r>
              <a:rPr altLang="ar-EG" sz="1200"/>
              <a:t>If categorical variable has a category (in test data set), which was not observed in training data set, then model will assign a 0 (zero) probability and will be unable to make a prediction. </a:t>
            </a:r>
          </a:p>
          <a:p>
            <a:pPr>
              <a:buFont typeface="Wingdings 3" panose="05040102010807070707" pitchFamily="18" charset="2"/>
              <a:buChar char=""/>
              <a:defRPr/>
            </a:pPr>
            <a:r>
              <a:rPr altLang="ar-EG" sz="1200"/>
              <a:t>Naive Bayes is also known as a bad estimator, so the probability outputs from </a:t>
            </a:r>
            <a:r>
              <a:rPr altLang="ar-EG" sz="1200" err="1"/>
              <a:t>predict_proba</a:t>
            </a:r>
            <a:r>
              <a:rPr altLang="ar-EG" sz="1200"/>
              <a:t> are not to be taken too seriously.</a:t>
            </a:r>
          </a:p>
          <a:p>
            <a:pPr>
              <a:buFont typeface="Wingdings 3" panose="05040102010807070707" pitchFamily="18" charset="2"/>
              <a:buChar char=""/>
              <a:defRPr/>
            </a:pPr>
            <a:r>
              <a:rPr altLang="ar-EG" sz="1200"/>
              <a:t>In real life, it is almost impossible to get a set of predictors which are completely independent.</a:t>
            </a:r>
          </a:p>
          <a:p>
            <a:pPr marL="0" indent="0">
              <a:buFont typeface="Wingdings 3" panose="05040102010807070707" pitchFamily="18" charset="2"/>
              <a:buNone/>
              <a:defRPr/>
            </a:pPr>
            <a:endParaRPr altLang="ar-EG" sz="600" b="1"/>
          </a:p>
          <a:p>
            <a:pPr marL="0" indent="0">
              <a:buFont typeface="Wingdings 3" panose="05040102010807070707" pitchFamily="18" charset="2"/>
              <a:buNone/>
              <a:defRPr/>
            </a:pPr>
            <a:r>
              <a:rPr altLang="ar-EG" sz="1200" b="1"/>
              <a:t>There are three types of Naive Bayes model </a:t>
            </a:r>
          </a:p>
          <a:p>
            <a:pPr marL="0" indent="0">
              <a:buFont typeface="Wingdings 3" panose="05040102010807070707" pitchFamily="18" charset="2"/>
              <a:buNone/>
              <a:defRPr/>
            </a:pPr>
            <a:r>
              <a:rPr altLang="ar-EG" sz="1200"/>
              <a:t>- </a:t>
            </a:r>
            <a:r>
              <a:rPr altLang="ar-EG" sz="1200" b="1"/>
              <a:t>Gaussian</a:t>
            </a:r>
            <a:r>
              <a:rPr altLang="ar-EG" sz="1200"/>
              <a:t>: It is used in classification and it assumes that features follow a normal distribution.</a:t>
            </a:r>
          </a:p>
          <a:p>
            <a:pPr marL="0" indent="0">
              <a:buFont typeface="Wingdings 3" panose="05040102010807070707" pitchFamily="18" charset="2"/>
              <a:buNone/>
              <a:defRPr/>
            </a:pPr>
            <a:r>
              <a:rPr altLang="ar-EG" sz="1200"/>
              <a:t>- </a:t>
            </a:r>
            <a:r>
              <a:rPr altLang="ar-EG" sz="1200" b="1"/>
              <a:t>Multinomial</a:t>
            </a:r>
            <a:r>
              <a:rPr altLang="ar-EG" sz="1200"/>
              <a:t>: It is used for discrete counts. For example, in text classification problem.  “count how often negative word occurs in the document”</a:t>
            </a:r>
          </a:p>
          <a:p>
            <a:pPr marL="0" indent="0">
              <a:buFont typeface="Wingdings 3" panose="05040102010807070707" pitchFamily="18" charset="2"/>
              <a:buNone/>
              <a:defRPr/>
            </a:pPr>
            <a:r>
              <a:rPr altLang="ar-EG" sz="1200"/>
              <a:t>- </a:t>
            </a:r>
            <a:r>
              <a:rPr altLang="ar-EG" sz="1200" b="1"/>
              <a:t>Bernoulli</a:t>
            </a:r>
            <a:r>
              <a:rPr altLang="ar-EG" sz="1200"/>
              <a:t>: The binomial model is useful if your feature vectors are binary (i.e. zeros and ones). </a:t>
            </a:r>
            <a:endParaRPr lang="ar-EG" altLang="ar-EG"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DF8D7A-7FF3-487B-BA06-8E081C1BFAEA}"/>
              </a:ext>
            </a:extLst>
          </p:cNvPr>
          <p:cNvSpPr>
            <a:spLocks noGrp="1"/>
          </p:cNvSpPr>
          <p:nvPr>
            <p:ph type="body" sz="quarter" idx="10"/>
          </p:nvPr>
        </p:nvSpPr>
        <p:spPr/>
        <p:txBody>
          <a:bodyPr/>
          <a:lstStyle/>
          <a:p>
            <a:pPr>
              <a:buFont typeface="Wingdings 3" panose="05040102010807070707" pitchFamily="18" charset="2"/>
              <a:buNone/>
              <a:defRPr/>
            </a:pPr>
            <a:r>
              <a:rPr lang="en-US" altLang="ar-EG"/>
              <a:t>Neural Network</a:t>
            </a:r>
            <a:endParaRPr lang="en-US"/>
          </a:p>
        </p:txBody>
      </p:sp>
      <p:sp>
        <p:nvSpPr>
          <p:cNvPr id="40963" name="Content Placeholder 2">
            <a:extLst>
              <a:ext uri="{FF2B5EF4-FFF2-40B4-BE49-F238E27FC236}">
                <a16:creationId xmlns:a16="http://schemas.microsoft.com/office/drawing/2014/main" id="{AF8670BD-10C7-BCF7-4E33-928906400327}"/>
              </a:ext>
            </a:extLst>
          </p:cNvPr>
          <p:cNvSpPr>
            <a:spLocks noGrp="1" noChangeArrowheads="1"/>
          </p:cNvSpPr>
          <p:nvPr>
            <p:ph sz="quarter" idx="11"/>
          </p:nvPr>
        </p:nvSpPr>
        <p:spPr/>
        <p:txBody>
          <a:bodyPr/>
          <a:lstStyle/>
          <a:p>
            <a:r>
              <a:rPr altLang="ar-EG"/>
              <a:t>The feedforward neural network algorithm uses a technique known as backpropagation to train a model. During the training phase, prediction errors are fed back to the network. The algorithm uses this information for adjusting the weights of the edges connecting the nodes to minimize prediction errors. This process is repeated until the prediction errors converge to value less than a predefined threshold.</a:t>
            </a:r>
            <a:br>
              <a:rPr altLang="ar-EG"/>
            </a:br>
            <a:r>
              <a:rPr altLang="ar-EG"/>
              <a:t>Generally, a neural network with one layer is sufficient in most cases. If more than one hidden layers are used, it is recommended to have the same number of nodes in each hidden layer.</a:t>
            </a:r>
            <a:br>
              <a:rPr altLang="ar-EG"/>
            </a:br>
            <a:r>
              <a:rPr altLang="ar-EG"/>
              <a:t>Neural networks are better suited for classifying data that is not linearly separable.</a:t>
            </a:r>
          </a:p>
          <a:p>
            <a:endParaRPr altLang="ar-EG"/>
          </a:p>
        </p:txBody>
      </p:sp>
      <p:pic>
        <p:nvPicPr>
          <p:cNvPr id="40964" name="Picture 4">
            <a:extLst>
              <a:ext uri="{FF2B5EF4-FFF2-40B4-BE49-F238E27FC236}">
                <a16:creationId xmlns:a16="http://schemas.microsoft.com/office/drawing/2014/main" id="{2D4021D9-F068-9A78-DF3E-5C4FACC05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250" y="4305300"/>
            <a:ext cx="3854450" cy="240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C39C9D-F9D0-4390-9319-0830A3072C4C}"/>
              </a:ext>
            </a:extLst>
          </p:cNvPr>
          <p:cNvSpPr>
            <a:spLocks noGrp="1"/>
          </p:cNvSpPr>
          <p:nvPr>
            <p:ph type="body" sz="quarter" idx="10"/>
          </p:nvPr>
        </p:nvSpPr>
        <p:spPr>
          <a:xfrm>
            <a:off x="457200" y="77788"/>
            <a:ext cx="11266488" cy="869950"/>
          </a:xfrm>
        </p:spPr>
        <p:txBody>
          <a:bodyPr/>
          <a:lstStyle/>
          <a:p>
            <a:pPr>
              <a:buFont typeface="Wingdings 3" panose="05040102010807070707" pitchFamily="18" charset="2"/>
              <a:buNone/>
              <a:defRPr/>
            </a:pPr>
            <a:r>
              <a:rPr lang="en-US"/>
              <a:t>Deep learning</a:t>
            </a:r>
          </a:p>
        </p:txBody>
      </p:sp>
      <p:sp>
        <p:nvSpPr>
          <p:cNvPr id="41987" name="Content Placeholder 2">
            <a:extLst>
              <a:ext uri="{FF2B5EF4-FFF2-40B4-BE49-F238E27FC236}">
                <a16:creationId xmlns:a16="http://schemas.microsoft.com/office/drawing/2014/main" id="{F53EE86C-8CEC-F5BC-DFC2-DCDAF1C0C97F}"/>
              </a:ext>
            </a:extLst>
          </p:cNvPr>
          <p:cNvSpPr>
            <a:spLocks noGrp="1" noChangeArrowheads="1"/>
          </p:cNvSpPr>
          <p:nvPr>
            <p:ph sz="quarter" idx="11"/>
          </p:nvPr>
        </p:nvSpPr>
        <p:spPr>
          <a:xfrm>
            <a:off x="434975" y="1035050"/>
            <a:ext cx="11650663" cy="5484813"/>
          </a:xfrm>
        </p:spPr>
        <p:txBody>
          <a:bodyPr/>
          <a:lstStyle/>
          <a:p>
            <a:r>
              <a:rPr altLang="ar-EG"/>
              <a:t>It is consists of many layers/nodes of neural networks. </a:t>
            </a:r>
          </a:p>
          <a:p>
            <a:r>
              <a:rPr altLang="ar-EG"/>
              <a:t>Deep learning automatically finds out the features which are important for classification, but in Machine Learning we had to manually give the features</a:t>
            </a:r>
          </a:p>
          <a:p>
            <a:r>
              <a:rPr altLang="ar-EG"/>
              <a:t>deep learning algorithms need a large amount of data to work perfect.</a:t>
            </a:r>
          </a:p>
        </p:txBody>
      </p:sp>
      <p:pic>
        <p:nvPicPr>
          <p:cNvPr id="41988" name="Picture 4">
            <a:extLst>
              <a:ext uri="{FF2B5EF4-FFF2-40B4-BE49-F238E27FC236}">
                <a16:creationId xmlns:a16="http://schemas.microsoft.com/office/drawing/2014/main" id="{346A005B-0E33-4F4C-FFE1-15DB04CC2B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3238" y="2924175"/>
            <a:ext cx="6226175" cy="378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5">
            <a:extLst>
              <a:ext uri="{FF2B5EF4-FFF2-40B4-BE49-F238E27FC236}">
                <a16:creationId xmlns:a16="http://schemas.microsoft.com/office/drawing/2014/main" id="{83E0DA47-2760-9F69-E466-8D97A3755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549" r="6499" b="12100"/>
          <a:stretch>
            <a:fillRect/>
          </a:stretch>
        </p:blipFill>
        <p:spPr bwMode="auto">
          <a:xfrm>
            <a:off x="434975" y="2924175"/>
            <a:ext cx="4891088" cy="378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Placeholder 2">
            <a:extLst>
              <a:ext uri="{FF2B5EF4-FFF2-40B4-BE49-F238E27FC236}">
                <a16:creationId xmlns:a16="http://schemas.microsoft.com/office/drawing/2014/main" id="{EB69CB90-9826-4E7C-03DE-D4B4838227FD}"/>
              </a:ext>
            </a:extLst>
          </p:cNvPr>
          <p:cNvSpPr>
            <a:spLocks noGrp="1" noChangeArrowheads="1"/>
          </p:cNvSpPr>
          <p:nvPr>
            <p:ph type="body" idx="1"/>
          </p:nvPr>
        </p:nvSpPr>
        <p:spPr>
          <a:xfrm>
            <a:off x="354013" y="190500"/>
            <a:ext cx="5278437" cy="576263"/>
          </a:xfrm>
        </p:spPr>
        <p:txBody>
          <a:bodyPr/>
          <a:lstStyle/>
          <a:p>
            <a:pPr algn="l" rtl="0"/>
            <a:r>
              <a:rPr lang="en-US" altLang="ar-EG" b="1">
                <a:solidFill>
                  <a:srgbClr val="FFFF00"/>
                </a:solidFill>
              </a:rPr>
              <a:t>Traditional ML Algorithms</a:t>
            </a:r>
          </a:p>
        </p:txBody>
      </p:sp>
      <p:sp>
        <p:nvSpPr>
          <p:cNvPr id="43011" name="Content Placeholder 3">
            <a:extLst>
              <a:ext uri="{FF2B5EF4-FFF2-40B4-BE49-F238E27FC236}">
                <a16:creationId xmlns:a16="http://schemas.microsoft.com/office/drawing/2014/main" id="{10353719-FA29-66F9-46F0-6701B84976A3}"/>
              </a:ext>
            </a:extLst>
          </p:cNvPr>
          <p:cNvSpPr>
            <a:spLocks noGrp="1" noChangeArrowheads="1"/>
          </p:cNvSpPr>
          <p:nvPr>
            <p:ph sz="half" idx="2"/>
          </p:nvPr>
        </p:nvSpPr>
        <p:spPr>
          <a:xfrm>
            <a:off x="354013" y="774700"/>
            <a:ext cx="5634037" cy="5900738"/>
          </a:xfrm>
        </p:spPr>
        <p:txBody>
          <a:bodyPr/>
          <a:lstStyle/>
          <a:p>
            <a:pPr algn="l" rtl="0"/>
            <a:endParaRPr lang="en-US" altLang="ar-EG" sz="1800">
              <a:solidFill>
                <a:schemeClr val="tx1"/>
              </a:solidFill>
            </a:endParaRPr>
          </a:p>
          <a:p>
            <a:pPr algn="l" rtl="0"/>
            <a:r>
              <a:rPr lang="en-US" altLang="ar-EG" sz="1800">
                <a:solidFill>
                  <a:schemeClr val="tx1"/>
                </a:solidFill>
              </a:rPr>
              <a:t>can work on low-end machines</a:t>
            </a:r>
          </a:p>
          <a:p>
            <a:pPr algn="l" rtl="0"/>
            <a:r>
              <a:rPr lang="en-US" altLang="ar-EG" sz="1800">
                <a:solidFill>
                  <a:schemeClr val="tx1"/>
                </a:solidFill>
              </a:rPr>
              <a:t>break the problem down into different parts, solve them individually and combine them to get the result. </a:t>
            </a:r>
          </a:p>
          <a:p>
            <a:pPr algn="l" rtl="0"/>
            <a:r>
              <a:rPr lang="en-US" altLang="ar-EG" sz="1800">
                <a:solidFill>
                  <a:schemeClr val="tx1"/>
                </a:solidFill>
              </a:rPr>
              <a:t>takes much less time to train, ranging from a few seconds to a few hours.</a:t>
            </a:r>
          </a:p>
          <a:p>
            <a:pPr algn="l" rtl="0"/>
            <a:r>
              <a:rPr lang="en-US" altLang="ar-EG" sz="1800">
                <a:solidFill>
                  <a:schemeClr val="tx1"/>
                </a:solidFill>
              </a:rPr>
              <a:t>gives us the selection rules, so it is easy to interpret, safe to use in industry for interpretability.</a:t>
            </a:r>
          </a:p>
        </p:txBody>
      </p:sp>
      <p:sp>
        <p:nvSpPr>
          <p:cNvPr id="43012" name="Text Placeholder 4">
            <a:extLst>
              <a:ext uri="{FF2B5EF4-FFF2-40B4-BE49-F238E27FC236}">
                <a16:creationId xmlns:a16="http://schemas.microsoft.com/office/drawing/2014/main" id="{BF68AC9F-FBB3-08B5-9256-89D68C574F44}"/>
              </a:ext>
            </a:extLst>
          </p:cNvPr>
          <p:cNvSpPr>
            <a:spLocks noGrp="1" noChangeArrowheads="1"/>
          </p:cNvSpPr>
          <p:nvPr>
            <p:ph type="body" sz="quarter" idx="3"/>
          </p:nvPr>
        </p:nvSpPr>
        <p:spPr>
          <a:xfrm>
            <a:off x="5818188" y="190500"/>
            <a:ext cx="5926137" cy="576263"/>
          </a:xfrm>
        </p:spPr>
        <p:txBody>
          <a:bodyPr/>
          <a:lstStyle/>
          <a:p>
            <a:pPr algn="l" rtl="0"/>
            <a:r>
              <a:rPr lang="en-US" altLang="ar-EG" b="1">
                <a:solidFill>
                  <a:srgbClr val="FFFF00"/>
                </a:solidFill>
              </a:rPr>
              <a:t>Deep learning algorithms</a:t>
            </a:r>
          </a:p>
        </p:txBody>
      </p:sp>
      <p:sp>
        <p:nvSpPr>
          <p:cNvPr id="43013" name="Content Placeholder 5">
            <a:extLst>
              <a:ext uri="{FF2B5EF4-FFF2-40B4-BE49-F238E27FC236}">
                <a16:creationId xmlns:a16="http://schemas.microsoft.com/office/drawing/2014/main" id="{A87C3E14-FF91-79FF-2D7C-2864BDBED2D4}"/>
              </a:ext>
            </a:extLst>
          </p:cNvPr>
          <p:cNvSpPr>
            <a:spLocks noGrp="1" noChangeArrowheads="1"/>
          </p:cNvSpPr>
          <p:nvPr>
            <p:ph sz="quarter" idx="4"/>
          </p:nvPr>
        </p:nvSpPr>
        <p:spPr>
          <a:xfrm>
            <a:off x="6103938" y="766763"/>
            <a:ext cx="5640387" cy="5910262"/>
          </a:xfrm>
        </p:spPr>
        <p:txBody>
          <a:bodyPr/>
          <a:lstStyle/>
          <a:p>
            <a:pPr algn="l" rtl="0"/>
            <a:r>
              <a:rPr lang="en-US" altLang="ar-EG" sz="1800">
                <a:solidFill>
                  <a:schemeClr val="tx1"/>
                </a:solidFill>
              </a:rPr>
              <a:t>need a large amount of data to work perfect</a:t>
            </a:r>
          </a:p>
          <a:p>
            <a:pPr algn="l" rtl="0"/>
            <a:r>
              <a:rPr lang="en-US" altLang="ar-EG" sz="1800">
                <a:solidFill>
                  <a:schemeClr val="tx1"/>
                </a:solidFill>
              </a:rPr>
              <a:t>heavily depend on GPUs</a:t>
            </a:r>
          </a:p>
          <a:p>
            <a:pPr algn="l" rtl="0"/>
            <a:r>
              <a:rPr lang="en-US" altLang="ar-EG" sz="1800">
                <a:solidFill>
                  <a:schemeClr val="tx1"/>
                </a:solidFill>
              </a:rPr>
              <a:t>solve the problem end-to-end.</a:t>
            </a:r>
          </a:p>
          <a:p>
            <a:pPr algn="l" rtl="0"/>
            <a:endParaRPr lang="en-US" altLang="ar-EG" sz="1800">
              <a:solidFill>
                <a:schemeClr val="tx1"/>
              </a:solidFill>
            </a:endParaRPr>
          </a:p>
          <a:p>
            <a:pPr algn="l" rtl="0"/>
            <a:r>
              <a:rPr lang="en-US" altLang="ar-EG" sz="1800">
                <a:solidFill>
                  <a:schemeClr val="tx1"/>
                </a:solidFill>
              </a:rPr>
              <a:t> takes a long time to train. (like two weeks)</a:t>
            </a:r>
          </a:p>
          <a:p>
            <a:pPr algn="l" rtl="0"/>
            <a:endParaRPr lang="en-US" altLang="ar-EG" sz="1800">
              <a:solidFill>
                <a:schemeClr val="tx1"/>
              </a:solidFill>
            </a:endParaRPr>
          </a:p>
          <a:p>
            <a:pPr algn="l" rtl="0"/>
            <a:r>
              <a:rPr lang="en-US" altLang="ar-EG" sz="1800">
                <a:solidFill>
                  <a:schemeClr val="tx1"/>
                </a:solidFill>
              </a:rPr>
              <a:t>It is excellent and is near human performance, but no guarantee to be always like this!, because most of operations are hidden and we can’t review selection logic!</a:t>
            </a:r>
          </a:p>
        </p:txBody>
      </p:sp>
      <p:pic>
        <p:nvPicPr>
          <p:cNvPr id="43014" name="Picture 6">
            <a:extLst>
              <a:ext uri="{FF2B5EF4-FFF2-40B4-BE49-F238E27FC236}">
                <a16:creationId xmlns:a16="http://schemas.microsoft.com/office/drawing/2014/main" id="{81BB704A-75EA-34C3-CFB8-82F9A3E65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0976"/>
          <a:stretch>
            <a:fillRect/>
          </a:stretch>
        </p:blipFill>
        <p:spPr bwMode="auto">
          <a:xfrm>
            <a:off x="5818188" y="4667250"/>
            <a:ext cx="6040437"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3">
            <a:extLst>
              <a:ext uri="{FF2B5EF4-FFF2-40B4-BE49-F238E27FC236}">
                <a16:creationId xmlns:a16="http://schemas.microsoft.com/office/drawing/2014/main" id="{C3018CD1-2946-D9FE-1C43-802982C606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15BC2-3169-43E5-87FF-2C6963E24DC2}"/>
              </a:ext>
            </a:extLst>
          </p:cNvPr>
          <p:cNvSpPr>
            <a:spLocks noGrp="1"/>
          </p:cNvSpPr>
          <p:nvPr>
            <p:ph type="ctrTitle"/>
          </p:nvPr>
        </p:nvSpPr>
        <p:spPr/>
        <p:txBody>
          <a:bodyPr/>
          <a:lstStyle/>
          <a:p>
            <a:pPr>
              <a:defRPr/>
            </a:pPr>
            <a:r>
              <a:rPr lang="en-US" dirty="0"/>
              <a:t>Python Machine learning</a:t>
            </a:r>
            <a:endParaRPr lang="ar-EG" dirty="0"/>
          </a:p>
        </p:txBody>
      </p:sp>
      <p:sp>
        <p:nvSpPr>
          <p:cNvPr id="3" name="Subtitle 2">
            <a:extLst>
              <a:ext uri="{FF2B5EF4-FFF2-40B4-BE49-F238E27FC236}">
                <a16:creationId xmlns:a16="http://schemas.microsoft.com/office/drawing/2014/main" id="{5A01DA13-63A5-4B72-83EE-8C37EF5DA68B}"/>
              </a:ext>
            </a:extLst>
          </p:cNvPr>
          <p:cNvSpPr>
            <a:spLocks noGrp="1"/>
          </p:cNvSpPr>
          <p:nvPr>
            <p:ph type="subTitle" idx="1"/>
          </p:nvPr>
        </p:nvSpPr>
        <p:spPr/>
        <p:txBody>
          <a:bodyPr/>
          <a:lstStyle/>
          <a:p>
            <a:pPr>
              <a:buFont typeface="Wingdings 3" panose="05040102010807070707" pitchFamily="18" charset="2"/>
              <a:buNone/>
              <a:defRPr/>
            </a:pPr>
            <a:endParaRPr lang="ar-EG"/>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E2FA3D-5974-4A4E-A5C8-00808C9117F3}"/>
              </a:ext>
            </a:extLst>
          </p:cNvPr>
          <p:cNvSpPr>
            <a:spLocks noGrp="1"/>
          </p:cNvSpPr>
          <p:nvPr>
            <p:ph type="body" sz="quarter" idx="10"/>
          </p:nvPr>
        </p:nvSpPr>
        <p:spPr/>
        <p:txBody>
          <a:bodyPr/>
          <a:lstStyle/>
          <a:p>
            <a:pPr>
              <a:buFont typeface="Wingdings 3" panose="05040102010807070707" pitchFamily="18" charset="2"/>
              <a:buNone/>
              <a:defRPr/>
            </a:pPr>
            <a:r>
              <a:rPr lang="en-US"/>
              <a:t>Why Python?</a:t>
            </a:r>
          </a:p>
        </p:txBody>
      </p:sp>
      <p:sp>
        <p:nvSpPr>
          <p:cNvPr id="3" name="Content Placeholder 2">
            <a:extLst>
              <a:ext uri="{FF2B5EF4-FFF2-40B4-BE49-F238E27FC236}">
                <a16:creationId xmlns:a16="http://schemas.microsoft.com/office/drawing/2014/main" id="{D72C1F17-B8E2-4231-A493-3DEB04EEE658}"/>
              </a:ext>
            </a:extLst>
          </p:cNvPr>
          <p:cNvSpPr>
            <a:spLocks noGrp="1"/>
          </p:cNvSpPr>
          <p:nvPr>
            <p:ph sz="quarter" idx="11"/>
          </p:nvPr>
        </p:nvSpPr>
        <p:spPr/>
        <p:txBody>
          <a:bodyPr/>
          <a:lstStyle/>
          <a:p>
            <a:pPr>
              <a:buFont typeface="Wingdings 3" panose="05040102010807070707" pitchFamily="18" charset="2"/>
              <a:buChar char=""/>
              <a:defRPr/>
            </a:pPr>
            <a:r>
              <a:t>A </a:t>
            </a:r>
            <a:r>
              <a:rPr b="1"/>
              <a:t>large community</a:t>
            </a:r>
          </a:p>
          <a:p>
            <a:pPr>
              <a:buFont typeface="Wingdings 3" panose="05040102010807070707" pitchFamily="18" charset="2"/>
              <a:buChar char=""/>
              <a:defRPr/>
            </a:pPr>
            <a:r>
              <a:rPr b="1"/>
              <a:t>tons of machine learning specific libraries</a:t>
            </a:r>
          </a:p>
          <a:p>
            <a:pPr>
              <a:buFont typeface="Wingdings 3" panose="05040102010807070707" pitchFamily="18" charset="2"/>
              <a:buChar char=""/>
              <a:defRPr/>
            </a:pPr>
            <a:r>
              <a:rPr b="1"/>
              <a:t>easy to learn </a:t>
            </a:r>
          </a:p>
          <a:p>
            <a:pPr>
              <a:buFont typeface="Wingdings 3" panose="05040102010807070707" pitchFamily="18" charset="2"/>
              <a:buChar char=""/>
              <a:defRPr/>
            </a:pPr>
            <a:r>
              <a:rPr b="1"/>
              <a:t> TensorFlow </a:t>
            </a:r>
            <a:r>
              <a:t>make Python the </a:t>
            </a:r>
            <a:r>
              <a:rPr b="1"/>
              <a:t>leading language</a:t>
            </a:r>
            <a:r>
              <a:t> in the data science community.</a:t>
            </a:r>
            <a:endParaRPr lang="ar-EG"/>
          </a:p>
          <a:p>
            <a:pPr>
              <a:buFont typeface="Wingdings 3" panose="05040102010807070707" pitchFamily="18" charset="2"/>
              <a:buChar char=""/>
              <a:defRPr/>
            </a:pPr>
            <a:endParaRPr/>
          </a:p>
          <a:p>
            <a:pPr>
              <a:buFont typeface="Wingdings 3" panose="05040102010807070707" pitchFamily="18" charset="2"/>
              <a:buChar char=""/>
              <a:defRPr/>
            </a:pPr>
            <a:endParaRPr/>
          </a:p>
          <a:p>
            <a:pPr marL="0" indent="0">
              <a:buFont typeface="Wingdings 3" panose="05040102010807070707" pitchFamily="18" charset="2"/>
              <a:buNone/>
              <a:defRPr/>
            </a:pPr>
            <a:r>
              <a:t>About Python</a:t>
            </a:r>
          </a:p>
          <a:p>
            <a:pPr>
              <a:buFont typeface="Wingdings 3" panose="05040102010807070707" pitchFamily="18" charset="2"/>
              <a:buChar char=""/>
              <a:defRPr/>
            </a:pPr>
            <a:r>
              <a:t>It is case sensitive </a:t>
            </a:r>
          </a:p>
          <a:p>
            <a:pPr>
              <a:buFont typeface="Wingdings 3" panose="05040102010807070707" pitchFamily="18" charset="2"/>
              <a:buChar char=""/>
              <a:defRPr/>
            </a:pPr>
            <a:r>
              <a:t>Text indentation is important in logic flow! </a:t>
            </a:r>
            <a:endParaRPr lang="ar-EG"/>
          </a:p>
          <a:p>
            <a:pPr>
              <a:buFont typeface="Wingdings 3" panose="05040102010807070707" pitchFamily="18" charset="2"/>
              <a:buChar char=""/>
              <a:defRPr/>
            </a:pPr>
            <a:r>
              <a:t>Use </a:t>
            </a:r>
            <a:r>
              <a:rPr b="1">
                <a:solidFill>
                  <a:srgbClr val="FFFF00"/>
                </a:solidFill>
              </a:rPr>
              <a:t>#</a:t>
            </a:r>
            <a:r>
              <a:t> symbol to add a code comment </a:t>
            </a:r>
            <a:endParaRPr lang="ar-EG"/>
          </a:p>
          <a:p>
            <a:pPr>
              <a:buFont typeface="Wingdings 3" panose="05040102010807070707" pitchFamily="18" charset="2"/>
              <a:buChar char=""/>
              <a:defRPr/>
            </a:pPr>
            <a:r>
              <a:t>Use </a:t>
            </a:r>
            <a:r>
              <a:rPr b="1">
                <a:solidFill>
                  <a:srgbClr val="FFFF00"/>
                </a:solidFill>
              </a:rPr>
              <a:t>‘’’  ‘’’ </a:t>
            </a:r>
            <a:r>
              <a:t>to comment a block of code</a:t>
            </a:r>
          </a:p>
          <a:p>
            <a:pPr marL="0" indent="0">
              <a:buFont typeface="Wingdings 3" panose="05040102010807070707" pitchFamily="18" charset="2"/>
              <a:buNone/>
              <a:defRPr/>
            </a:pPr>
            <a:br>
              <a:rPr/>
            </a:b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9E667B-C082-4880-A400-5A6AA49E6756}"/>
              </a:ext>
            </a:extLst>
          </p:cNvPr>
          <p:cNvSpPr>
            <a:spLocks noGrp="1"/>
          </p:cNvSpPr>
          <p:nvPr>
            <p:ph type="body" sz="quarter" idx="10"/>
          </p:nvPr>
        </p:nvSpPr>
        <p:spPr/>
        <p:txBody>
          <a:bodyPr/>
          <a:lstStyle/>
          <a:p>
            <a:pPr>
              <a:buFont typeface="Wingdings 3" panose="05040102010807070707" pitchFamily="18" charset="2"/>
              <a:buNone/>
              <a:defRPr/>
            </a:pPr>
            <a:r>
              <a:rPr lang="en-US"/>
              <a:t>Prepare your machine</a:t>
            </a:r>
            <a:endParaRPr/>
          </a:p>
        </p:txBody>
      </p:sp>
      <p:sp>
        <p:nvSpPr>
          <p:cNvPr id="47107" name="Content Placeholder 2">
            <a:extLst>
              <a:ext uri="{FF2B5EF4-FFF2-40B4-BE49-F238E27FC236}">
                <a16:creationId xmlns:a16="http://schemas.microsoft.com/office/drawing/2014/main" id="{C1BECEFE-B13E-2240-AD25-34A6EA8B96C7}"/>
              </a:ext>
            </a:extLst>
          </p:cNvPr>
          <p:cNvSpPr>
            <a:spLocks noGrp="1" noChangeArrowheads="1"/>
          </p:cNvSpPr>
          <p:nvPr>
            <p:ph sz="quarter" idx="11"/>
          </p:nvPr>
        </p:nvSpPr>
        <p:spPr/>
        <p:txBody>
          <a:bodyPr/>
          <a:lstStyle/>
          <a:p>
            <a:r>
              <a:rPr altLang="ar-EG"/>
              <a:t>Install </a:t>
            </a:r>
            <a:r>
              <a:rPr altLang="ar-EG" b="1"/>
              <a:t>Python 2.7.xx</a:t>
            </a:r>
          </a:p>
          <a:p>
            <a:r>
              <a:rPr altLang="ar-EG" sz="1600"/>
              <a:t>Pip install pandas</a:t>
            </a:r>
          </a:p>
          <a:p>
            <a:r>
              <a:rPr altLang="ar-EG" sz="1600"/>
              <a:t>Pip install matplotlib Sklearn Statistics scipy seaborn Ipython</a:t>
            </a:r>
            <a:br>
              <a:rPr lang="ar-EG" altLang="ar-EG" sz="1600"/>
            </a:br>
            <a:r>
              <a:rPr altLang="ar-EG" sz="1600"/>
              <a:t>pip install </a:t>
            </a:r>
            <a:r>
              <a:rPr altLang="ar-EG" sz="1600">
                <a:solidFill>
                  <a:srgbClr val="FFFF00"/>
                </a:solidFill>
              </a:rPr>
              <a:t>--no-cache-dir</a:t>
            </a:r>
            <a:r>
              <a:rPr altLang="ar-EG" sz="1600"/>
              <a:t>  pystan     </a:t>
            </a:r>
            <a:r>
              <a:rPr lang="ar-EG" altLang="ar-EG" sz="1600"/>
              <a:t>#</a:t>
            </a:r>
            <a:r>
              <a:rPr altLang="ar-EG" sz="1600"/>
              <a:t>to force redownload exist package in case of error</a:t>
            </a:r>
          </a:p>
          <a:p>
            <a:r>
              <a:rPr altLang="ar-EG" sz="1600"/>
              <a:t>Get Data set for training through </a:t>
            </a:r>
            <a:br>
              <a:rPr altLang="ar-EG" sz="1600"/>
            </a:br>
            <a:r>
              <a:rPr altLang="ar-EG" sz="1600"/>
              <a:t>http://archive.ics.uci.edu/ml/datasets.html</a:t>
            </a:r>
          </a:p>
        </p:txBody>
      </p:sp>
      <p:pic>
        <p:nvPicPr>
          <p:cNvPr id="47108" name="Picture 3">
            <a:extLst>
              <a:ext uri="{FF2B5EF4-FFF2-40B4-BE49-F238E27FC236}">
                <a16:creationId xmlns:a16="http://schemas.microsoft.com/office/drawing/2014/main" id="{D29320E2-7301-7D6C-A648-453B06FF2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975" y="3671888"/>
            <a:ext cx="835342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4">
            <a:extLst>
              <a:ext uri="{FF2B5EF4-FFF2-40B4-BE49-F238E27FC236}">
                <a16:creationId xmlns:a16="http://schemas.microsoft.com/office/drawing/2014/main" id="{A797C954-74FB-438F-2462-3C0EEAE30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0338" y="3733800"/>
            <a:ext cx="2409825"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5208DD-B9B5-4C71-A6C6-AFB4D6974C22}"/>
              </a:ext>
            </a:extLst>
          </p:cNvPr>
          <p:cNvSpPr>
            <a:spLocks noGrp="1"/>
          </p:cNvSpPr>
          <p:nvPr>
            <p:ph type="body" sz="quarter" idx="10"/>
          </p:nvPr>
        </p:nvSpPr>
        <p:spPr/>
        <p:txBody>
          <a:bodyPr/>
          <a:lstStyle/>
          <a:p>
            <a:pPr>
              <a:buFont typeface="Wingdings 3" panose="05040102010807070707" pitchFamily="18" charset="2"/>
              <a:buNone/>
              <a:defRPr/>
            </a:pPr>
            <a:r>
              <a:rPr lang="en-US"/>
              <a:t>How to Run Python ML application</a:t>
            </a:r>
          </a:p>
        </p:txBody>
      </p:sp>
      <p:sp>
        <p:nvSpPr>
          <p:cNvPr id="48131" name="Content Placeholder 2">
            <a:extLst>
              <a:ext uri="{FF2B5EF4-FFF2-40B4-BE49-F238E27FC236}">
                <a16:creationId xmlns:a16="http://schemas.microsoft.com/office/drawing/2014/main" id="{796274D5-91AD-DC5C-31DB-F19D46A49D94}"/>
              </a:ext>
            </a:extLst>
          </p:cNvPr>
          <p:cNvSpPr>
            <a:spLocks noGrp="1" noChangeArrowheads="1"/>
          </p:cNvSpPr>
          <p:nvPr>
            <p:ph sz="quarter" idx="11"/>
          </p:nvPr>
        </p:nvSpPr>
        <p:spPr>
          <a:xfrm>
            <a:off x="434975" y="1123950"/>
            <a:ext cx="11288713" cy="1516063"/>
          </a:xfrm>
        </p:spPr>
        <p:txBody>
          <a:bodyPr/>
          <a:lstStyle/>
          <a:p>
            <a:r>
              <a:rPr altLang="ar-EG"/>
              <a:t>Open “IDLE (Python GUI)” </a:t>
            </a:r>
            <a:r>
              <a:rPr altLang="ar-EG">
                <a:sym typeface="Wingdings" pitchFamily="2" charset="2"/>
              </a:rPr>
              <a:t> File  New File</a:t>
            </a:r>
          </a:p>
          <a:p>
            <a:r>
              <a:rPr altLang="ar-EG">
                <a:sym typeface="Wingdings" pitchFamily="2" charset="2"/>
              </a:rPr>
              <a:t>Write your code on the new window</a:t>
            </a:r>
            <a:r>
              <a:rPr altLang="ar-EG"/>
              <a:t> then </a:t>
            </a:r>
            <a:r>
              <a:rPr altLang="ar-EG">
                <a:sym typeface="Wingdings" pitchFamily="2" charset="2"/>
              </a:rPr>
              <a:t> Run  Run Module</a:t>
            </a:r>
            <a:endParaRPr altLang="ar-EG"/>
          </a:p>
          <a:p>
            <a:endParaRPr altLang="ar-EG"/>
          </a:p>
        </p:txBody>
      </p:sp>
      <p:pic>
        <p:nvPicPr>
          <p:cNvPr id="48132" name="Picture 3">
            <a:extLst>
              <a:ext uri="{FF2B5EF4-FFF2-40B4-BE49-F238E27FC236}">
                <a16:creationId xmlns:a16="http://schemas.microsoft.com/office/drawing/2014/main" id="{FA573D35-194E-376F-483A-29B98A80D4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6875" y="2271713"/>
            <a:ext cx="6524625"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3" name="Picture 4">
            <a:extLst>
              <a:ext uri="{FF2B5EF4-FFF2-40B4-BE49-F238E27FC236}">
                <a16:creationId xmlns:a16="http://schemas.microsoft.com/office/drawing/2014/main" id="{50E848B1-877C-498B-5654-198C21CB2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1582"/>
          <a:stretch>
            <a:fillRect/>
          </a:stretch>
        </p:blipFill>
        <p:spPr bwMode="auto">
          <a:xfrm>
            <a:off x="555625" y="2640013"/>
            <a:ext cx="3840163"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rrow: Right 5">
            <a:extLst>
              <a:ext uri="{FF2B5EF4-FFF2-40B4-BE49-F238E27FC236}">
                <a16:creationId xmlns:a16="http://schemas.microsoft.com/office/drawing/2014/main" id="{F51E4328-B377-47A6-8087-23B4DDADEF39}"/>
              </a:ext>
            </a:extLst>
          </p:cNvPr>
          <p:cNvSpPr/>
          <p:nvPr/>
        </p:nvSpPr>
        <p:spPr>
          <a:xfrm>
            <a:off x="3943350" y="3779838"/>
            <a:ext cx="1533525" cy="92551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defRPr/>
            </a:pPr>
            <a:endParaRPr lang="en-US"/>
          </a:p>
        </p:txBody>
      </p:sp>
      <p:sp>
        <p:nvSpPr>
          <p:cNvPr id="48135" name="TextBox 2">
            <a:extLst>
              <a:ext uri="{FF2B5EF4-FFF2-40B4-BE49-F238E27FC236}">
                <a16:creationId xmlns:a16="http://schemas.microsoft.com/office/drawing/2014/main" id="{CB5C1C4D-3C28-D331-7E53-C16686FD4273}"/>
              </a:ext>
            </a:extLst>
          </p:cNvPr>
          <p:cNvSpPr txBox="1">
            <a:spLocks noChangeArrowheads="1"/>
          </p:cNvSpPr>
          <p:nvPr/>
        </p:nvSpPr>
        <p:spPr bwMode="auto">
          <a:xfrm>
            <a:off x="330200" y="6081713"/>
            <a:ext cx="38560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a:t>Alt+3 </a:t>
            </a:r>
            <a:r>
              <a:rPr lang="en-US" altLang="ar-EG">
                <a:sym typeface="Wingdings" pitchFamily="2" charset="2"/>
              </a:rPr>
              <a:t> Comment lines</a:t>
            </a:r>
          </a:p>
          <a:p>
            <a:r>
              <a:rPr lang="en-US" altLang="ar-EG">
                <a:sym typeface="Wingdings" pitchFamily="2" charset="2"/>
              </a:rPr>
              <a:t>Alt+4  Remove lines comments</a:t>
            </a:r>
            <a:endParaRPr lang="en-US" altLang="ar-EG"/>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F67C8C-12F4-44FF-A453-E16B9623ED53}"/>
              </a:ext>
            </a:extLst>
          </p:cNvPr>
          <p:cNvSpPr>
            <a:spLocks noGrp="1"/>
          </p:cNvSpPr>
          <p:nvPr>
            <p:ph type="body" sz="quarter" idx="10"/>
          </p:nvPr>
        </p:nvSpPr>
        <p:spPr/>
        <p:txBody>
          <a:bodyPr/>
          <a:lstStyle/>
          <a:p>
            <a:pPr>
              <a:buFont typeface="Wingdings 3" panose="05040102010807070707" pitchFamily="18" charset="2"/>
              <a:buNone/>
              <a:defRPr/>
            </a:pPr>
            <a:r>
              <a:rPr lang="en-US"/>
              <a:t>Anaconda</a:t>
            </a:r>
          </a:p>
        </p:txBody>
      </p:sp>
      <p:sp>
        <p:nvSpPr>
          <p:cNvPr id="49155" name="Content Placeholder 2">
            <a:extLst>
              <a:ext uri="{FF2B5EF4-FFF2-40B4-BE49-F238E27FC236}">
                <a16:creationId xmlns:a16="http://schemas.microsoft.com/office/drawing/2014/main" id="{E62DA3D6-4788-E8F0-26B3-A522572FC65B}"/>
              </a:ext>
            </a:extLst>
          </p:cNvPr>
          <p:cNvSpPr>
            <a:spLocks noGrp="1" noChangeArrowheads="1"/>
          </p:cNvSpPr>
          <p:nvPr>
            <p:ph sz="quarter" idx="11"/>
          </p:nvPr>
        </p:nvSpPr>
        <p:spPr/>
        <p:txBody>
          <a:bodyPr/>
          <a:lstStyle/>
          <a:p>
            <a:r>
              <a:rPr altLang="ar-EG"/>
              <a:t>Anaconda is Python distribution for data scientists .</a:t>
            </a:r>
          </a:p>
          <a:p>
            <a:r>
              <a:rPr altLang="ar-EG"/>
              <a:t>It has around 270 packages including the most important ones for most scientific applications, data analysis, and machine learning such as NumPy, SciPy, Pandas, IPython, matplotlib, and scikit-learn.</a:t>
            </a:r>
          </a:p>
          <a:p>
            <a:r>
              <a:rPr altLang="ar-EG"/>
              <a:t>Download it for free from </a:t>
            </a:r>
            <a:r>
              <a:rPr altLang="ar-EG">
                <a:hlinkClick r:id="rId2"/>
              </a:rPr>
              <a:t>https://www.continuum.io/downloads</a:t>
            </a:r>
            <a:endParaRPr altLang="ar-EG"/>
          </a:p>
          <a:p>
            <a:endParaRPr altLang="ar-EG"/>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02A9FA-A559-42DB-9CBF-BE3BA96AE6D3}"/>
              </a:ext>
            </a:extLst>
          </p:cNvPr>
          <p:cNvSpPr>
            <a:spLocks noGrp="1"/>
          </p:cNvSpPr>
          <p:nvPr>
            <p:ph type="body" sz="quarter" idx="10"/>
          </p:nvPr>
        </p:nvSpPr>
        <p:spPr>
          <a:xfrm>
            <a:off x="457200" y="98425"/>
            <a:ext cx="11266488" cy="1047750"/>
          </a:xfrm>
        </p:spPr>
        <p:txBody>
          <a:bodyPr/>
          <a:lstStyle/>
          <a:p>
            <a:pPr>
              <a:buFont typeface="Wingdings 3" panose="05040102010807070707" pitchFamily="18" charset="2"/>
              <a:buNone/>
              <a:defRPr/>
            </a:pPr>
            <a:r>
              <a:rPr lang="en-US"/>
              <a:t>Import Statistical libraries </a:t>
            </a:r>
          </a:p>
        </p:txBody>
      </p:sp>
      <p:sp>
        <p:nvSpPr>
          <p:cNvPr id="50179" name="Content Placeholder 2">
            <a:extLst>
              <a:ext uri="{FF2B5EF4-FFF2-40B4-BE49-F238E27FC236}">
                <a16:creationId xmlns:a16="http://schemas.microsoft.com/office/drawing/2014/main" id="{E2A6C350-EB50-92C1-6D85-C5A9CF7FF3B3}"/>
              </a:ext>
            </a:extLst>
          </p:cNvPr>
          <p:cNvSpPr>
            <a:spLocks noGrp="1" noChangeArrowheads="1"/>
          </p:cNvSpPr>
          <p:nvPr>
            <p:ph sz="quarter" idx="11"/>
          </p:nvPr>
        </p:nvSpPr>
        <p:spPr>
          <a:xfrm>
            <a:off x="434975" y="1146175"/>
            <a:ext cx="11288713" cy="5373688"/>
          </a:xfrm>
        </p:spPr>
        <p:txBody>
          <a:bodyPr/>
          <a:lstStyle/>
          <a:p>
            <a:pPr marL="0" indent="0">
              <a:buFont typeface="Wingdings 3" pitchFamily="2" charset="2"/>
              <a:buNone/>
            </a:pPr>
            <a:r>
              <a:rPr altLang="ar-EG" sz="1600"/>
              <a:t>import time</a:t>
            </a:r>
          </a:p>
          <a:p>
            <a:pPr marL="0" indent="0">
              <a:buFont typeface="Wingdings 3" pitchFamily="2" charset="2"/>
              <a:buNone/>
            </a:pPr>
            <a:r>
              <a:rPr altLang="ar-EG" sz="1600"/>
              <a:t>import random</a:t>
            </a:r>
          </a:p>
          <a:p>
            <a:pPr marL="0" indent="0">
              <a:buFont typeface="Wingdings 3" pitchFamily="2" charset="2"/>
              <a:buNone/>
            </a:pPr>
            <a:r>
              <a:rPr altLang="ar-EG" sz="1600"/>
              <a:t>import datetime</a:t>
            </a:r>
          </a:p>
          <a:p>
            <a:pPr marL="0" indent="0">
              <a:buFont typeface="Wingdings 3" pitchFamily="2" charset="2"/>
              <a:buNone/>
            </a:pPr>
            <a:r>
              <a:rPr altLang="ar-EG" sz="1600"/>
              <a:t>import pandas as pd</a:t>
            </a:r>
          </a:p>
          <a:p>
            <a:pPr marL="0" indent="0">
              <a:buFont typeface="Wingdings 3" pitchFamily="2" charset="2"/>
              <a:buNone/>
            </a:pPr>
            <a:r>
              <a:rPr altLang="ar-EG" sz="1600"/>
              <a:t>import matplotlib.pyplot as plt</a:t>
            </a:r>
          </a:p>
          <a:p>
            <a:pPr marL="0" indent="0">
              <a:buFont typeface="Wingdings 3" pitchFamily="2" charset="2"/>
              <a:buNone/>
            </a:pPr>
            <a:r>
              <a:rPr altLang="ar-EG" sz="1600"/>
              <a:t>import statistics</a:t>
            </a:r>
          </a:p>
          <a:p>
            <a:pPr marL="0" indent="0">
              <a:buFont typeface="Wingdings 3" pitchFamily="2" charset="2"/>
              <a:buNone/>
            </a:pPr>
            <a:r>
              <a:rPr altLang="ar-EG" sz="1600"/>
              <a:t>from scipy import stats</a:t>
            </a:r>
          </a:p>
          <a:p>
            <a:pPr marL="0" indent="0">
              <a:buFont typeface="Wingdings 3" pitchFamily="2" charset="2"/>
              <a:buNone/>
            </a:pPr>
            <a:r>
              <a:rPr altLang="ar-EG" sz="1600"/>
              <a:t>import sklearn</a:t>
            </a:r>
          </a:p>
          <a:p>
            <a:pPr marL="0" indent="0">
              <a:buFont typeface="Wingdings 3" pitchFamily="2" charset="2"/>
              <a:buNone/>
            </a:pPr>
            <a:r>
              <a:rPr altLang="ar-EG" sz="1600"/>
              <a:t>import seaborn</a:t>
            </a:r>
          </a:p>
          <a:p>
            <a:pPr marL="0" indent="0">
              <a:buFont typeface="Wingdings 3" pitchFamily="2" charset="2"/>
              <a:buNone/>
            </a:pPr>
            <a:r>
              <a:rPr altLang="ar-EG" sz="1600"/>
              <a:t>from IPython.display import Image</a:t>
            </a:r>
          </a:p>
          <a:p>
            <a:pPr marL="0" indent="0">
              <a:buFont typeface="Wingdings 3" pitchFamily="2" charset="2"/>
              <a:buNone/>
            </a:pPr>
            <a:r>
              <a:rPr altLang="ar-EG" sz="1600"/>
              <a:t>import numpy as np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ACC5BB-7268-4C2F-AE7C-2B7E4755F638}"/>
              </a:ext>
            </a:extLst>
          </p:cNvPr>
          <p:cNvSpPr>
            <a:spLocks noGrp="1"/>
          </p:cNvSpPr>
          <p:nvPr>
            <p:ph type="body" sz="quarter" idx="10"/>
          </p:nvPr>
        </p:nvSpPr>
        <p:spPr/>
        <p:txBody>
          <a:bodyPr/>
          <a:lstStyle/>
          <a:p>
            <a:pPr>
              <a:buFont typeface="Wingdings 3" panose="05040102010807070707" pitchFamily="18" charset="2"/>
              <a:buNone/>
              <a:defRPr/>
            </a:pPr>
            <a:r>
              <a:rPr lang="en-US"/>
              <a:t>import pandas as </a:t>
            </a:r>
            <a:r>
              <a:rPr lang="en-US" err="1"/>
              <a:t>pd</a:t>
            </a:r>
            <a:endParaRPr lang="en-US"/>
          </a:p>
        </p:txBody>
      </p:sp>
      <p:sp>
        <p:nvSpPr>
          <p:cNvPr id="3" name="Content Placeholder 2">
            <a:extLst>
              <a:ext uri="{FF2B5EF4-FFF2-40B4-BE49-F238E27FC236}">
                <a16:creationId xmlns:a16="http://schemas.microsoft.com/office/drawing/2014/main" id="{596476CB-1345-456D-B14C-14D7BE69044E}"/>
              </a:ext>
            </a:extLst>
          </p:cNvPr>
          <p:cNvSpPr>
            <a:spLocks noGrp="1"/>
          </p:cNvSpPr>
          <p:nvPr>
            <p:ph sz="quarter" idx="11"/>
          </p:nvPr>
        </p:nvSpPr>
        <p:spPr>
          <a:xfrm>
            <a:off x="434975" y="1317625"/>
            <a:ext cx="11441113" cy="5202238"/>
          </a:xfrm>
        </p:spPr>
        <p:txBody>
          <a:bodyPr>
            <a:normAutofit lnSpcReduction="10000"/>
          </a:bodyPr>
          <a:lstStyle/>
          <a:p>
            <a:pPr>
              <a:buFont typeface="Wingdings 3" panose="05040102010807070707" pitchFamily="18" charset="2"/>
              <a:buChar char=""/>
              <a:defRPr/>
            </a:pPr>
            <a:r>
              <a:rPr i="1"/>
              <a:t>Pandas</a:t>
            </a:r>
            <a:r>
              <a:t>  </a:t>
            </a:r>
            <a:r>
              <a:rPr b="1" i="1" err="1"/>
              <a:t>DataFrame</a:t>
            </a:r>
            <a:r>
              <a:t> similar to </a:t>
            </a:r>
            <a:r>
              <a:rPr i="1"/>
              <a:t>Python </a:t>
            </a:r>
            <a:r>
              <a:rPr b="1" i="1"/>
              <a:t>lists</a:t>
            </a:r>
            <a:r>
              <a:t> but it has extra column (index) and Any operation to perform on a </a:t>
            </a:r>
            <a:r>
              <a:rPr err="1"/>
              <a:t>DataFrame</a:t>
            </a:r>
            <a:r>
              <a:t> , get’s performed on every single element inside it.</a:t>
            </a:r>
          </a:p>
          <a:p>
            <a:pPr>
              <a:buFont typeface="Wingdings 3" panose="05040102010807070707" pitchFamily="18" charset="2"/>
              <a:buChar char=""/>
              <a:defRPr/>
            </a:pPr>
            <a:r>
              <a:t>Example of convert python list to </a:t>
            </a:r>
            <a:r>
              <a:rPr err="1"/>
              <a:t>DataFrame</a:t>
            </a:r>
            <a:r>
              <a:rPr lang="ar-EG"/>
              <a:t> </a:t>
            </a:r>
            <a:r>
              <a:t> </a:t>
            </a:r>
            <a:r>
              <a:rPr>
                <a:sym typeface="Wingdings" panose="05000000000000000000" pitchFamily="2" charset="2"/>
              </a:rPr>
              <a:t></a:t>
            </a:r>
            <a:endParaRPr/>
          </a:p>
          <a:p>
            <a:pPr marL="0" indent="0">
              <a:buFont typeface="Wingdings 3" panose="05040102010807070707" pitchFamily="18" charset="2"/>
              <a:buNone/>
              <a:defRPr/>
            </a:pPr>
            <a:br>
              <a:rPr u="sng"/>
            </a:br>
            <a:r>
              <a:rPr u="sng"/>
              <a:t>Common Operations</a:t>
            </a:r>
            <a:endParaRPr lang="ar-EG" u="sng"/>
          </a:p>
          <a:p>
            <a:pPr marL="0" indent="0">
              <a:buFont typeface="Wingdings 3" panose="05040102010807070707" pitchFamily="18" charset="2"/>
              <a:buNone/>
              <a:defRPr/>
            </a:pPr>
            <a:r>
              <a:rPr sz="1400"/>
              <a:t>1) Set dataset columns names </a:t>
            </a:r>
            <a:r>
              <a:rPr sz="1400">
                <a:sym typeface="Wingdings" panose="05000000000000000000" pitchFamily="2" charset="2"/>
              </a:rPr>
              <a:t> </a:t>
            </a:r>
            <a:r>
              <a:rPr sz="1400" b="1" err="1">
                <a:solidFill>
                  <a:srgbClr val="FFFF00"/>
                </a:solidFill>
              </a:rPr>
              <a:t>data.columns</a:t>
            </a:r>
            <a:r>
              <a:rPr sz="1400" b="1">
                <a:solidFill>
                  <a:srgbClr val="FFFF00"/>
                </a:solidFill>
              </a:rPr>
              <a:t> = [‘</a:t>
            </a:r>
            <a:r>
              <a:rPr sz="1400" b="1" err="1">
                <a:solidFill>
                  <a:srgbClr val="FFFF00"/>
                </a:solidFill>
              </a:rPr>
              <a:t>blue’,’green’,’red</a:t>
            </a:r>
            <a:r>
              <a:rPr sz="1400" b="1">
                <a:solidFill>
                  <a:srgbClr val="FFFF00"/>
                </a:solidFill>
              </a:rPr>
              <a:t>’]</a:t>
            </a:r>
          </a:p>
          <a:p>
            <a:pPr marL="0" indent="0">
              <a:buFont typeface="Wingdings 3" panose="05040102010807070707" pitchFamily="18" charset="2"/>
              <a:buNone/>
              <a:defRPr/>
            </a:pPr>
            <a:r>
              <a:rPr sz="1400"/>
              <a:t>2) Get value of any cell use cell index and column index/name like this : </a:t>
            </a:r>
            <a:r>
              <a:rPr sz="1400" b="1" err="1">
                <a:solidFill>
                  <a:srgbClr val="FFFF00"/>
                </a:solidFill>
              </a:rPr>
              <a:t>data.ix</a:t>
            </a:r>
            <a:r>
              <a:rPr sz="1400" b="1">
                <a:solidFill>
                  <a:srgbClr val="FFFF00"/>
                </a:solidFill>
              </a:rPr>
              <a:t>[2,’red’] </a:t>
            </a:r>
          </a:p>
          <a:p>
            <a:pPr marL="0" indent="0">
              <a:buFont typeface="Wingdings 3" panose="05040102010807070707" pitchFamily="18" charset="2"/>
              <a:buNone/>
              <a:defRPr/>
            </a:pPr>
            <a:r>
              <a:rPr sz="1400"/>
              <a:t>3) replace </a:t>
            </a:r>
            <a:r>
              <a:rPr sz="1400" err="1"/>
              <a:t>NaN</a:t>
            </a:r>
            <a:r>
              <a:rPr sz="1400"/>
              <a:t> with zero using : </a:t>
            </a:r>
            <a:r>
              <a:rPr sz="1400" b="1">
                <a:solidFill>
                  <a:srgbClr val="FFFF00"/>
                </a:solidFill>
              </a:rPr>
              <a:t>data = </a:t>
            </a:r>
            <a:r>
              <a:rPr sz="1400" b="1" err="1">
                <a:solidFill>
                  <a:srgbClr val="FFFF00"/>
                </a:solidFill>
              </a:rPr>
              <a:t>data.replace</a:t>
            </a:r>
            <a:r>
              <a:rPr sz="1400" b="1">
                <a:solidFill>
                  <a:srgbClr val="FFFF00"/>
                </a:solidFill>
              </a:rPr>
              <a:t>(np.nan,0)</a:t>
            </a:r>
          </a:p>
          <a:p>
            <a:pPr marL="0" indent="0">
              <a:buFont typeface="Wingdings 3" panose="05040102010807070707" pitchFamily="18" charset="2"/>
              <a:buNone/>
              <a:defRPr/>
            </a:pPr>
            <a:r>
              <a:rPr sz="1400"/>
              <a:t>4) Select a subset of columns in new </a:t>
            </a:r>
            <a:r>
              <a:rPr sz="1400" err="1"/>
              <a:t>dataFrame</a:t>
            </a:r>
            <a:r>
              <a:rPr sz="1400"/>
              <a:t> :</a:t>
            </a:r>
            <a:r>
              <a:rPr sz="1400" b="1">
                <a:solidFill>
                  <a:srgbClr val="FFFF00"/>
                </a:solidFill>
              </a:rPr>
              <a:t> </a:t>
            </a:r>
            <a:r>
              <a:rPr sz="1400" b="1" err="1">
                <a:solidFill>
                  <a:srgbClr val="FFFF00"/>
                </a:solidFill>
              </a:rPr>
              <a:t>NewDF</a:t>
            </a:r>
            <a:r>
              <a:rPr sz="1400" b="1">
                <a:solidFill>
                  <a:srgbClr val="FFFF00"/>
                </a:solidFill>
              </a:rPr>
              <a:t>= data [ [ ‘blue’ , ’red’ ] ]</a:t>
            </a:r>
            <a:endParaRPr lang="ar-EG" sz="1400" b="1">
              <a:solidFill>
                <a:srgbClr val="FFFF00"/>
              </a:solidFill>
            </a:endParaRPr>
          </a:p>
          <a:p>
            <a:pPr marL="0" indent="0">
              <a:buFont typeface="Wingdings 3" panose="05040102010807070707" pitchFamily="18" charset="2"/>
              <a:buNone/>
              <a:defRPr/>
            </a:pPr>
            <a:r>
              <a:rPr sz="1400"/>
              <a:t>5) Count of rows that has data on a column:  </a:t>
            </a:r>
            <a:r>
              <a:rPr sz="1400" b="1">
                <a:solidFill>
                  <a:srgbClr val="FFFF00"/>
                </a:solidFill>
              </a:rPr>
              <a:t>data[‘red'].</a:t>
            </a:r>
            <a:r>
              <a:rPr sz="1400" b="1" err="1">
                <a:solidFill>
                  <a:srgbClr val="FFFF00"/>
                </a:solidFill>
              </a:rPr>
              <a:t>value_counts</a:t>
            </a:r>
            <a:r>
              <a:rPr sz="1400" b="1">
                <a:solidFill>
                  <a:srgbClr val="FFFF00"/>
                </a:solidFill>
              </a:rPr>
              <a:t>().sum()</a:t>
            </a:r>
            <a:endParaRPr lang="ar-EG" sz="1400" b="1">
              <a:solidFill>
                <a:srgbClr val="FFFF00"/>
              </a:solidFill>
            </a:endParaRPr>
          </a:p>
          <a:p>
            <a:pPr marL="0" indent="0">
              <a:buFont typeface="Wingdings 3" panose="05040102010807070707" pitchFamily="18" charset="2"/>
              <a:buNone/>
              <a:defRPr/>
            </a:pPr>
            <a:r>
              <a:rPr sz="1400"/>
              <a:t>6) Select count of distinct value on a column: </a:t>
            </a:r>
            <a:r>
              <a:rPr sz="1400" b="1">
                <a:solidFill>
                  <a:srgbClr val="FFFF00"/>
                </a:solidFill>
              </a:rPr>
              <a:t>data[‘blue’].</a:t>
            </a:r>
            <a:r>
              <a:rPr sz="1400" b="1" err="1">
                <a:solidFill>
                  <a:srgbClr val="FFFF00"/>
                </a:solidFill>
              </a:rPr>
              <a:t>nunique</a:t>
            </a:r>
            <a:r>
              <a:rPr sz="1400" b="1">
                <a:solidFill>
                  <a:srgbClr val="FFFF00"/>
                </a:solidFill>
              </a:rPr>
              <a:t>()</a:t>
            </a:r>
            <a:endParaRPr lang="ar-EG" sz="1400" b="1">
              <a:solidFill>
                <a:srgbClr val="FFFF00"/>
              </a:solidFill>
            </a:endParaRPr>
          </a:p>
          <a:p>
            <a:pPr marL="0" indent="0">
              <a:buFont typeface="Wingdings 3" panose="05040102010807070707" pitchFamily="18" charset="2"/>
              <a:buNone/>
              <a:defRPr/>
            </a:pPr>
            <a:r>
              <a:rPr sz="1400"/>
              <a:t>7) Drop duplicates rows: </a:t>
            </a:r>
            <a:r>
              <a:rPr sz="1400" b="1">
                <a:solidFill>
                  <a:srgbClr val="FFFF00"/>
                </a:solidFill>
              </a:rPr>
              <a:t>data = </a:t>
            </a:r>
            <a:r>
              <a:rPr sz="1400" b="1" err="1">
                <a:solidFill>
                  <a:srgbClr val="FFFF00"/>
                </a:solidFill>
              </a:rPr>
              <a:t>data.drop_duplicates</a:t>
            </a:r>
            <a:r>
              <a:rPr sz="1400" b="1">
                <a:solidFill>
                  <a:srgbClr val="FFFF00"/>
                </a:solidFill>
              </a:rPr>
              <a:t>()</a:t>
            </a:r>
          </a:p>
          <a:p>
            <a:pPr marL="0" indent="0">
              <a:buFont typeface="Wingdings 3" panose="05040102010807070707" pitchFamily="18" charset="2"/>
              <a:buNone/>
              <a:defRPr/>
            </a:pPr>
            <a:endParaRPr lang="ar-EG" sz="1400" b="1">
              <a:solidFill>
                <a:srgbClr val="FFFF00"/>
              </a:solidFill>
            </a:endParaRPr>
          </a:p>
          <a:p>
            <a:pPr marL="0" indent="0">
              <a:buFont typeface="Wingdings 3" panose="05040102010807070707" pitchFamily="18" charset="2"/>
              <a:buNone/>
              <a:defRPr/>
            </a:pPr>
            <a:endParaRPr sz="1400" b="1">
              <a:solidFill>
                <a:srgbClr val="FFFF00"/>
              </a:solidFill>
            </a:endParaRPr>
          </a:p>
          <a:p>
            <a:pPr marL="0" indent="0">
              <a:buFont typeface="Wingdings 3" panose="05040102010807070707" pitchFamily="18" charset="2"/>
              <a:buNone/>
              <a:defRPr/>
            </a:pPr>
            <a:br>
              <a:rPr/>
            </a:br>
            <a:endParaRPr/>
          </a:p>
        </p:txBody>
      </p:sp>
      <p:pic>
        <p:nvPicPr>
          <p:cNvPr id="51204" name="Picture 2" descr="41">
            <a:extLst>
              <a:ext uri="{FF2B5EF4-FFF2-40B4-BE49-F238E27FC236}">
                <a16:creationId xmlns:a16="http://schemas.microsoft.com/office/drawing/2014/main" id="{526212AB-2887-9E28-569D-1A5464CEA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48950"/>
          <a:stretch>
            <a:fillRect/>
          </a:stretch>
        </p:blipFill>
        <p:spPr bwMode="auto">
          <a:xfrm>
            <a:off x="8686800" y="2233613"/>
            <a:ext cx="3354388"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54D25062-9610-49A5-907E-4E8340034A82}"/>
              </a:ext>
            </a:extLst>
          </p:cNvPr>
          <p:cNvSpPr txBox="1"/>
          <p:nvPr/>
        </p:nvSpPr>
        <p:spPr>
          <a:xfrm>
            <a:off x="8686068" y="4825366"/>
            <a:ext cx="3637534" cy="276999"/>
          </a:xfrm>
          <a:prstGeom prst="rect">
            <a:avLst/>
          </a:prstGeom>
          <a:noFill/>
        </p:spPr>
        <p:txBody>
          <a:bodyPr wrap="none" rtlCol="1">
            <a:spAutoFit/>
          </a:bodyPr>
          <a:lstStyle/>
          <a:p>
            <a:pPr>
              <a:defRPr/>
            </a:pPr>
            <a:r>
              <a:rPr lang="en-US" sz="1200" dirty="0">
                <a:highlight>
                  <a:srgbClr val="000080"/>
                </a:highlight>
              </a:rPr>
              <a:t> The missing values are </a:t>
            </a:r>
            <a:r>
              <a:rPr lang="en-US" sz="1200" dirty="0" err="1">
                <a:highlight>
                  <a:srgbClr val="000080"/>
                </a:highlight>
              </a:rPr>
              <a:t>dennoted</a:t>
            </a:r>
            <a:r>
              <a:rPr lang="en-US" sz="1200" dirty="0">
                <a:highlight>
                  <a:srgbClr val="000080"/>
                </a:highlight>
              </a:rPr>
              <a:t> by </a:t>
            </a:r>
            <a:r>
              <a:rPr lang="en-US" sz="1200" dirty="0" err="1">
                <a:highlight>
                  <a:srgbClr val="000080"/>
                </a:highlight>
              </a:rPr>
              <a:t>NaN</a:t>
            </a:r>
            <a:r>
              <a:rPr lang="en-US" sz="1200" dirty="0">
                <a:highlight>
                  <a:srgbClr val="000080"/>
                </a:highlight>
              </a:rPr>
              <a:t> __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1A686E-54F1-40B8-91FE-23D14C7BAF47}"/>
              </a:ext>
            </a:extLst>
          </p:cNvPr>
          <p:cNvSpPr>
            <a:spLocks noGrp="1"/>
          </p:cNvSpPr>
          <p:nvPr>
            <p:ph type="body" sz="quarter" idx="10"/>
          </p:nvPr>
        </p:nvSpPr>
        <p:spPr>
          <a:xfrm>
            <a:off x="457200" y="0"/>
            <a:ext cx="11266488" cy="858838"/>
          </a:xfrm>
        </p:spPr>
        <p:txBody>
          <a:bodyPr/>
          <a:lstStyle/>
          <a:p>
            <a:pPr>
              <a:buFont typeface="Wingdings 3" panose="05040102010807070707" pitchFamily="18" charset="2"/>
              <a:buNone/>
              <a:defRPr/>
            </a:pPr>
            <a:r>
              <a:rPr lang="en-US"/>
              <a:t>Basic commands</a:t>
            </a:r>
            <a:endParaRPr/>
          </a:p>
        </p:txBody>
      </p:sp>
      <p:sp>
        <p:nvSpPr>
          <p:cNvPr id="3" name="Content Placeholder 2">
            <a:extLst>
              <a:ext uri="{FF2B5EF4-FFF2-40B4-BE49-F238E27FC236}">
                <a16:creationId xmlns:a16="http://schemas.microsoft.com/office/drawing/2014/main" id="{A8FC1C78-8FEE-46C4-92C7-B4A7BF4EF225}"/>
              </a:ext>
            </a:extLst>
          </p:cNvPr>
          <p:cNvSpPr>
            <a:spLocks noGrp="1"/>
          </p:cNvSpPr>
          <p:nvPr>
            <p:ph sz="quarter" idx="11"/>
          </p:nvPr>
        </p:nvSpPr>
        <p:spPr>
          <a:xfrm>
            <a:off x="434975" y="782638"/>
            <a:ext cx="11288713" cy="6075362"/>
          </a:xfrm>
        </p:spPr>
        <p:txBody>
          <a:bodyPr/>
          <a:lstStyle/>
          <a:p>
            <a:pPr marL="0" indent="0">
              <a:buFont typeface="Wingdings 3" panose="05040102010807070707" pitchFamily="18" charset="2"/>
              <a:buNone/>
              <a:defRPr/>
            </a:pPr>
            <a:r>
              <a:rPr sz="1600" b="1"/>
              <a:t>Reading the Data from disk into Memory</a:t>
            </a:r>
          </a:p>
          <a:p>
            <a:pPr>
              <a:buFont typeface="Wingdings 3" panose="05040102010807070707" pitchFamily="18" charset="2"/>
              <a:buChar char=""/>
              <a:defRPr/>
            </a:pPr>
            <a:r>
              <a:rPr sz="1600"/>
              <a:t>data = </a:t>
            </a:r>
            <a:r>
              <a:rPr sz="1600" err="1"/>
              <a:t>pd.read_csv</a:t>
            </a:r>
            <a:r>
              <a:rPr sz="1600"/>
              <a:t>('examples/trip.csv’)</a:t>
            </a:r>
          </a:p>
          <a:p>
            <a:pPr marL="0" indent="0">
              <a:buFont typeface="Wingdings 3" panose="05040102010807070707" pitchFamily="18" charset="2"/>
              <a:buNone/>
              <a:defRPr/>
            </a:pPr>
            <a:br>
              <a:rPr lang="ar-EG" sz="900" b="1"/>
            </a:br>
            <a:r>
              <a:rPr sz="1600" b="1"/>
              <a:t>Reading the Data from HDFS into Memory</a:t>
            </a:r>
          </a:p>
          <a:p>
            <a:pPr>
              <a:buFont typeface="Wingdings 3" panose="05040102010807070707" pitchFamily="18" charset="2"/>
              <a:buChar char=""/>
              <a:defRPr/>
            </a:pPr>
            <a:r>
              <a:rPr sz="1600"/>
              <a:t>with </a:t>
            </a:r>
            <a:r>
              <a:rPr sz="1600" err="1"/>
              <a:t>hd.open</a:t>
            </a:r>
            <a:r>
              <a:rPr sz="1600"/>
              <a:t>("/home/file.csv") as f:</a:t>
            </a:r>
          </a:p>
          <a:p>
            <a:pPr>
              <a:buFont typeface="Wingdings 3" panose="05040102010807070707" pitchFamily="18" charset="2"/>
              <a:buChar char=""/>
              <a:defRPr/>
            </a:pPr>
            <a:r>
              <a:rPr sz="1600"/>
              <a:t> data =  </a:t>
            </a:r>
            <a:r>
              <a:rPr sz="1600" err="1"/>
              <a:t>pd.read_csv</a:t>
            </a:r>
            <a:r>
              <a:rPr sz="1600"/>
              <a:t>(f)</a:t>
            </a:r>
          </a:p>
          <a:p>
            <a:pPr marL="0" indent="0">
              <a:buFont typeface="Wingdings 3" panose="05040102010807070707" pitchFamily="18" charset="2"/>
              <a:buNone/>
              <a:defRPr/>
            </a:pPr>
            <a:br>
              <a:rPr lang="ar-EG" sz="800" b="1"/>
            </a:br>
            <a:r>
              <a:rPr sz="1600" b="1"/>
              <a:t>Printing Size of the Dataset and Printing First</a:t>
            </a:r>
            <a:r>
              <a:rPr lang="ar-EG" sz="1600" b="1"/>
              <a:t>/</a:t>
            </a:r>
            <a:r>
              <a:rPr sz="1600" b="1" cap="all"/>
              <a:t>l</a:t>
            </a:r>
            <a:r>
              <a:rPr sz="1600" b="1"/>
              <a:t>ast Few Rows</a:t>
            </a:r>
          </a:p>
          <a:p>
            <a:pPr>
              <a:buFont typeface="Wingdings 3" panose="05040102010807070707" pitchFamily="18" charset="2"/>
              <a:buChar char=""/>
              <a:defRPr/>
            </a:pPr>
            <a:r>
              <a:rPr sz="1600"/>
              <a:t>print </a:t>
            </a:r>
            <a:r>
              <a:rPr sz="1600" err="1"/>
              <a:t>len</a:t>
            </a:r>
            <a:r>
              <a:rPr sz="1600"/>
              <a:t>(data)</a:t>
            </a:r>
          </a:p>
          <a:p>
            <a:pPr>
              <a:buFont typeface="Wingdings 3" panose="05040102010807070707" pitchFamily="18" charset="2"/>
              <a:buChar char=""/>
              <a:defRPr/>
            </a:pPr>
            <a:r>
              <a:rPr sz="1600" err="1"/>
              <a:t>data.head</a:t>
            </a:r>
            <a:r>
              <a:rPr sz="1600"/>
              <a:t>()</a:t>
            </a:r>
          </a:p>
          <a:p>
            <a:pPr>
              <a:buFont typeface="Wingdings 3" panose="05040102010807070707" pitchFamily="18" charset="2"/>
              <a:buChar char=""/>
              <a:defRPr/>
            </a:pPr>
            <a:r>
              <a:rPr sz="1600" err="1"/>
              <a:t>data.tail</a:t>
            </a:r>
            <a:r>
              <a:rPr sz="1600"/>
              <a:t>()</a:t>
            </a:r>
          </a:p>
          <a:p>
            <a:pPr>
              <a:buFont typeface="Wingdings 3" panose="05040102010807070707" pitchFamily="18" charset="2"/>
              <a:buChar char=""/>
              <a:defRPr/>
            </a:pPr>
            <a:r>
              <a:rPr sz="1600" err="1"/>
              <a:t>data.describe</a:t>
            </a:r>
            <a:r>
              <a:rPr sz="1600"/>
              <a:t>()    #get data summary </a:t>
            </a:r>
            <a:r>
              <a:t> </a:t>
            </a:r>
            <a:r>
              <a:rPr sz="1600"/>
              <a:t>count, mean, the min and max values </a:t>
            </a:r>
          </a:p>
          <a:p>
            <a:pPr marL="0" indent="0">
              <a:buFont typeface="Wingdings 3" panose="05040102010807070707" pitchFamily="18" charset="2"/>
              <a:buNone/>
              <a:defRPr/>
            </a:pPr>
            <a:br>
              <a:rPr lang="ar-EG" sz="800" b="1"/>
            </a:br>
            <a:r>
              <a:rPr sz="1600" b="1"/>
              <a:t>Order Dataset</a:t>
            </a:r>
            <a:r>
              <a:rPr lang="ar-EG" sz="1600" b="1"/>
              <a:t> </a:t>
            </a:r>
            <a:r>
              <a:rPr sz="1600" b="1"/>
              <a:t>and get first and last element of a column</a:t>
            </a:r>
          </a:p>
          <a:p>
            <a:pPr>
              <a:buFont typeface="Wingdings 3" panose="05040102010807070707" pitchFamily="18" charset="2"/>
              <a:buChar char=""/>
              <a:defRPr/>
            </a:pPr>
            <a:r>
              <a:rPr sz="1600"/>
              <a:t>data = </a:t>
            </a:r>
            <a:r>
              <a:rPr sz="1600" err="1"/>
              <a:t>data.sort_values</a:t>
            </a:r>
            <a:r>
              <a:rPr sz="1600"/>
              <a:t>(by= 'birthyear')</a:t>
            </a:r>
          </a:p>
          <a:p>
            <a:pPr>
              <a:buFont typeface="Wingdings 3" panose="05040102010807070707" pitchFamily="18" charset="2"/>
              <a:buChar char=""/>
              <a:defRPr/>
            </a:pPr>
            <a:r>
              <a:rPr sz="1600" err="1"/>
              <a:t>data.reset_index</a:t>
            </a:r>
            <a:r>
              <a:rPr sz="1600"/>
              <a:t>()</a:t>
            </a:r>
          </a:p>
          <a:p>
            <a:pPr>
              <a:buFont typeface="Wingdings 3" panose="05040102010807070707" pitchFamily="18" charset="2"/>
              <a:buChar char=""/>
              <a:defRPr/>
            </a:pPr>
            <a:r>
              <a:rPr sz="1400"/>
              <a:t>print </a:t>
            </a:r>
            <a:r>
              <a:rPr sz="1400" err="1"/>
              <a:t>data.ix</a:t>
            </a:r>
            <a:r>
              <a:rPr sz="1400"/>
              <a:t>[1,</a:t>
            </a:r>
            <a:r>
              <a:rPr lang="ar-EG" sz="1400"/>
              <a:t> </a:t>
            </a:r>
            <a:r>
              <a:rPr sz="1400"/>
              <a:t>'birthyear’ ]</a:t>
            </a:r>
            <a:r>
              <a:rPr lang="ar-EG" sz="1400"/>
              <a:t> </a:t>
            </a:r>
            <a:r>
              <a:rPr sz="1400"/>
              <a:t>                      #first element</a:t>
            </a:r>
          </a:p>
          <a:p>
            <a:pPr>
              <a:buFont typeface="Wingdings 3" panose="05040102010807070707" pitchFamily="18" charset="2"/>
              <a:buChar char=""/>
              <a:defRPr/>
            </a:pPr>
            <a:r>
              <a:rPr sz="1400"/>
              <a:t>print </a:t>
            </a:r>
            <a:r>
              <a:rPr sz="1400" err="1"/>
              <a:t>data.ix</a:t>
            </a:r>
            <a:r>
              <a:rPr sz="1400"/>
              <a:t>[</a:t>
            </a:r>
            <a:r>
              <a:rPr sz="1400" err="1"/>
              <a:t>len</a:t>
            </a:r>
            <a:r>
              <a:rPr sz="1400"/>
              <a:t>(data)-1, 'birthyear’ ]</a:t>
            </a:r>
            <a:r>
              <a:rPr lang="ar-EG" sz="1400"/>
              <a:t> </a:t>
            </a:r>
            <a:r>
              <a:rPr sz="1400"/>
              <a:t>    #last element</a:t>
            </a:r>
            <a:br>
              <a:rPr lang="ar-EG" sz="1400"/>
            </a:br>
            <a:endParaRPr sz="800"/>
          </a:p>
        </p:txBody>
      </p:sp>
      <p:pic>
        <p:nvPicPr>
          <p:cNvPr id="52228" name="Picture 4">
            <a:extLst>
              <a:ext uri="{FF2B5EF4-FFF2-40B4-BE49-F238E27FC236}">
                <a16:creationId xmlns:a16="http://schemas.microsoft.com/office/drawing/2014/main" id="{F5BBB76B-E902-9F19-8C4A-E03BF18AB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6788" y="782638"/>
            <a:ext cx="4610100"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403690-EF25-4B7A-9D34-6B77C8F1C076}"/>
              </a:ext>
            </a:extLst>
          </p:cNvPr>
          <p:cNvSpPr>
            <a:spLocks noGrp="1"/>
          </p:cNvSpPr>
          <p:nvPr>
            <p:ph type="body" sz="quarter" idx="10"/>
          </p:nvPr>
        </p:nvSpPr>
        <p:spPr>
          <a:xfrm>
            <a:off x="484188" y="304800"/>
            <a:ext cx="11239500" cy="819150"/>
          </a:xfrm>
        </p:spPr>
        <p:txBody>
          <a:bodyPr/>
          <a:lstStyle/>
          <a:p>
            <a:pPr>
              <a:buFont typeface="Wingdings 3" panose="05040102010807070707" pitchFamily="18" charset="2"/>
              <a:buNone/>
              <a:defRPr/>
            </a:pPr>
            <a:r>
              <a:rPr lang="en-US" err="1"/>
              <a:t>DataFrame</a:t>
            </a:r>
            <a:r>
              <a:rPr lang="en-US"/>
              <a:t> cleaning</a:t>
            </a:r>
          </a:p>
        </p:txBody>
      </p:sp>
      <p:sp>
        <p:nvSpPr>
          <p:cNvPr id="53251" name="Content Placeholder 2">
            <a:extLst>
              <a:ext uri="{FF2B5EF4-FFF2-40B4-BE49-F238E27FC236}">
                <a16:creationId xmlns:a16="http://schemas.microsoft.com/office/drawing/2014/main" id="{49D7B456-1146-DD7C-6CFE-10D6C99FF737}"/>
              </a:ext>
            </a:extLst>
          </p:cNvPr>
          <p:cNvSpPr>
            <a:spLocks noGrp="1" noChangeArrowheads="1"/>
          </p:cNvSpPr>
          <p:nvPr>
            <p:ph sz="quarter" idx="11"/>
          </p:nvPr>
        </p:nvSpPr>
        <p:spPr>
          <a:xfrm>
            <a:off x="484188" y="1317625"/>
            <a:ext cx="11612562" cy="5202238"/>
          </a:xfrm>
        </p:spPr>
        <p:txBody>
          <a:bodyPr/>
          <a:lstStyle/>
          <a:p>
            <a:r>
              <a:rPr altLang="ar-EG"/>
              <a:t>If need to convert column with negative values</a:t>
            </a:r>
            <a:br>
              <a:rPr altLang="ar-EG"/>
            </a:br>
            <a:r>
              <a:rPr altLang="ar-EG">
                <a:solidFill>
                  <a:srgbClr val="FFFF00"/>
                </a:solidFill>
              </a:rPr>
              <a:t>data['AwaitingTime'] = data['AwaitingTime'].apply(lambda x: abs(x))</a:t>
            </a:r>
          </a:p>
          <a:p>
            <a:r>
              <a:rPr altLang="ar-EG"/>
              <a:t>Convert string values to integer values (DayOfTheWeek to Integers)</a:t>
            </a:r>
            <a:br>
              <a:rPr altLang="ar-EG"/>
            </a:br>
            <a:r>
              <a:rPr altLang="ar-EG">
                <a:solidFill>
                  <a:srgbClr val="FFFF00"/>
                </a:solidFill>
              </a:rPr>
              <a:t>Day_mapping = {</a:t>
            </a:r>
            <a:r>
              <a:rPr altLang="ar-EG" sz="1600">
                <a:solidFill>
                  <a:srgbClr val="FFFF00"/>
                </a:solidFill>
              </a:rPr>
              <a:t>'Monday' : 0, 'Tuesday' : 1, 'Wednesday' : 2, 'Thursday' : 3, 'Saturday' : 5, 'Sunday' : 6</a:t>
            </a:r>
            <a:r>
              <a:rPr altLang="ar-EG">
                <a:solidFill>
                  <a:srgbClr val="FFFF00"/>
                </a:solidFill>
              </a:rPr>
              <a:t>}</a:t>
            </a:r>
            <a:br>
              <a:rPr altLang="ar-EG">
                <a:solidFill>
                  <a:srgbClr val="FFFF00"/>
                </a:solidFill>
              </a:rPr>
            </a:br>
            <a:r>
              <a:rPr altLang="ar-EG">
                <a:solidFill>
                  <a:srgbClr val="FFFF00"/>
                </a:solidFill>
              </a:rPr>
              <a:t>data['DayOfTheWeek'] = data['DayOfTheWeek'].map(Day_mapping)</a:t>
            </a:r>
          </a:p>
          <a:p>
            <a:r>
              <a:rPr altLang="ar-EG"/>
              <a:t>Remove rows that has age column less than zero</a:t>
            </a:r>
            <a:br>
              <a:rPr altLang="ar-EG" sz="1600">
                <a:solidFill>
                  <a:srgbClr val="FFFF00"/>
                </a:solidFill>
              </a:rPr>
            </a:br>
            <a:r>
              <a:rPr lang="it-IT" altLang="ar-EG">
                <a:solidFill>
                  <a:srgbClr val="FFFF00"/>
                </a:solidFill>
              </a:rPr>
              <a:t>data = data[data['Age'] &gt;= 0]</a:t>
            </a:r>
          </a:p>
          <a:p>
            <a:r>
              <a:rPr altLang="ar-EG"/>
              <a:t>Delete column from Dataset </a:t>
            </a:r>
            <a:br>
              <a:rPr altLang="ar-EG"/>
            </a:br>
            <a:r>
              <a:rPr altLang="ar-EG">
                <a:solidFill>
                  <a:srgbClr val="FFFF00"/>
                </a:solidFill>
              </a:rPr>
              <a:t>del data[‘from_station_id']</a:t>
            </a:r>
            <a:endParaRPr lang="ar-EG" altLang="ar-EG">
              <a:solidFill>
                <a:srgbClr val="FFFF00"/>
              </a:solidFill>
            </a:endParaRPr>
          </a:p>
          <a:p>
            <a:endParaRPr altLang="ar-EG">
              <a:solidFill>
                <a:srgbClr val="FFFF00"/>
              </a:solidFill>
            </a:endParaRPr>
          </a:p>
          <a:p>
            <a:endParaRPr altLang="ar-EG">
              <a:solidFill>
                <a:srgbClr val="FFFF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AE717F-997D-464F-BBDD-30CB708C3174}"/>
              </a:ext>
            </a:extLst>
          </p:cNvPr>
          <p:cNvSpPr>
            <a:spLocks noGrp="1"/>
          </p:cNvSpPr>
          <p:nvPr>
            <p:ph type="body" sz="quarter" idx="10"/>
          </p:nvPr>
        </p:nvSpPr>
        <p:spPr/>
        <p:txBody>
          <a:bodyPr/>
          <a:lstStyle/>
          <a:p>
            <a:pPr>
              <a:buFont typeface="Wingdings 3" panose="05040102010807070707" pitchFamily="18" charset="2"/>
              <a:buNone/>
              <a:defRPr/>
            </a:pPr>
            <a:r>
              <a:rPr lang="en-US"/>
              <a:t>Filter data to remove rows that has NA/0</a:t>
            </a:r>
            <a:endParaRPr/>
          </a:p>
        </p:txBody>
      </p:sp>
      <p:sp>
        <p:nvSpPr>
          <p:cNvPr id="3" name="Content Placeholder 2">
            <a:extLst>
              <a:ext uri="{FF2B5EF4-FFF2-40B4-BE49-F238E27FC236}">
                <a16:creationId xmlns:a16="http://schemas.microsoft.com/office/drawing/2014/main" id="{D8738428-3D4A-4644-A012-C0821A02A111}"/>
              </a:ext>
            </a:extLst>
          </p:cNvPr>
          <p:cNvSpPr>
            <a:spLocks noGrp="1"/>
          </p:cNvSpPr>
          <p:nvPr>
            <p:ph sz="quarter" idx="11"/>
          </p:nvPr>
        </p:nvSpPr>
        <p:spPr>
          <a:xfrm>
            <a:off x="434975" y="1317625"/>
            <a:ext cx="11288713" cy="2119313"/>
          </a:xfrm>
        </p:spPr>
        <p:txBody>
          <a:bodyPr/>
          <a:lstStyle/>
          <a:p>
            <a:pPr marL="0" indent="0">
              <a:buFont typeface="Wingdings 3" panose="05040102010807070707" pitchFamily="18" charset="2"/>
              <a:buNone/>
              <a:defRPr/>
            </a:pPr>
            <a:r>
              <a:t>&gt; df = </a:t>
            </a:r>
            <a:r>
              <a:rPr err="1"/>
              <a:t>pd.DataFrame</a:t>
            </a:r>
            <a:r>
              <a:t>({'a':[0,0,1,1], 'b':[0,1,0,1]})</a:t>
            </a:r>
          </a:p>
          <a:p>
            <a:pPr>
              <a:buFont typeface="Wingdings" panose="05000000000000000000" pitchFamily="2" charset="2"/>
              <a:buChar char="Ø"/>
              <a:defRPr/>
            </a:pPr>
            <a:r>
              <a:t>df = df[(</a:t>
            </a:r>
            <a:r>
              <a:rPr err="1"/>
              <a:t>df.T</a:t>
            </a:r>
            <a:r>
              <a:t> != 0).any()]</a:t>
            </a:r>
            <a:r>
              <a:rPr lang="ar-EG"/>
              <a:t> </a:t>
            </a:r>
            <a:r>
              <a:t>       </a:t>
            </a:r>
            <a:r>
              <a:rPr>
                <a:solidFill>
                  <a:schemeClr val="tx1">
                    <a:lumMod val="95000"/>
                  </a:schemeClr>
                </a:solidFill>
              </a:rPr>
              <a:t>#keep row if any feature contain values</a:t>
            </a:r>
          </a:p>
          <a:p>
            <a:pPr marL="0" indent="0">
              <a:buFont typeface="Wingdings 3" panose="05040102010807070707" pitchFamily="18" charset="2"/>
              <a:buNone/>
              <a:defRPr/>
            </a:pPr>
            <a:r>
              <a:t>&gt; print df</a:t>
            </a:r>
          </a:p>
          <a:p>
            <a:pPr marL="0" indent="0">
              <a:buFont typeface="Wingdings 3" panose="05040102010807070707" pitchFamily="18" charset="2"/>
              <a:buNone/>
              <a:defRPr/>
            </a:pPr>
            <a:r>
              <a:t>&gt; df = df[(</a:t>
            </a:r>
            <a:r>
              <a:rPr err="1"/>
              <a:t>df.T</a:t>
            </a:r>
            <a:r>
              <a:t> != 0).all()]</a:t>
            </a:r>
            <a:r>
              <a:rPr lang="ar-EG"/>
              <a:t> </a:t>
            </a:r>
            <a:r>
              <a:t>          </a:t>
            </a:r>
            <a:r>
              <a:rPr>
                <a:solidFill>
                  <a:schemeClr val="tx1">
                    <a:lumMod val="95000"/>
                  </a:schemeClr>
                </a:solidFill>
              </a:rPr>
              <a:t>#keep row if all features contain values</a:t>
            </a:r>
          </a:p>
          <a:p>
            <a:pPr marL="0" indent="0">
              <a:buFont typeface="Wingdings 3" panose="05040102010807070707" pitchFamily="18" charset="2"/>
              <a:buNone/>
              <a:defRPr/>
            </a:pPr>
            <a:r>
              <a:t>&gt; print df</a:t>
            </a:r>
          </a:p>
        </p:txBody>
      </p:sp>
      <p:graphicFrame>
        <p:nvGraphicFramePr>
          <p:cNvPr id="5" name="Table 4">
            <a:extLst>
              <a:ext uri="{FF2B5EF4-FFF2-40B4-BE49-F238E27FC236}">
                <a16:creationId xmlns:a16="http://schemas.microsoft.com/office/drawing/2014/main" id="{B33C3F4E-244B-477D-A6E2-38EFB262F5A4}"/>
              </a:ext>
            </a:extLst>
          </p:cNvPr>
          <p:cNvGraphicFramePr>
            <a:graphicFrameLocks noGrp="1"/>
          </p:cNvGraphicFramePr>
          <p:nvPr/>
        </p:nvGraphicFramePr>
        <p:xfrm>
          <a:off x="763587" y="4311650"/>
          <a:ext cx="1298576" cy="1854200"/>
        </p:xfrm>
        <a:graphic>
          <a:graphicData uri="http://schemas.openxmlformats.org/drawingml/2006/table">
            <a:tbl>
              <a:tblPr rtl="1" firstRow="1" bandRow="1">
                <a:tableStyleId>{5C22544A-7EE6-4342-B048-85BDC9FD1C3A}</a:tableStyleId>
              </a:tblPr>
              <a:tblGrid>
                <a:gridCol w="509075">
                  <a:extLst>
                    <a:ext uri="{9D8B030D-6E8A-4147-A177-3AD203B41FA5}">
                      <a16:colId xmlns:a16="http://schemas.microsoft.com/office/drawing/2014/main" val="3317734281"/>
                    </a:ext>
                  </a:extLst>
                </a:gridCol>
                <a:gridCol w="440546">
                  <a:extLst>
                    <a:ext uri="{9D8B030D-6E8A-4147-A177-3AD203B41FA5}">
                      <a16:colId xmlns:a16="http://schemas.microsoft.com/office/drawing/2014/main" val="330487206"/>
                    </a:ext>
                  </a:extLst>
                </a:gridCol>
                <a:gridCol w="348955">
                  <a:extLst>
                    <a:ext uri="{9D8B030D-6E8A-4147-A177-3AD203B41FA5}">
                      <a16:colId xmlns:a16="http://schemas.microsoft.com/office/drawing/2014/main" val="825312006"/>
                    </a:ext>
                  </a:extLst>
                </a:gridCol>
              </a:tblGrid>
              <a:tr h="370840">
                <a:tc>
                  <a:txBody>
                    <a:bodyPr/>
                    <a:lstStyle/>
                    <a:p>
                      <a:pPr algn="ctr" rtl="1"/>
                      <a:r>
                        <a:rPr lang="en-US" dirty="0"/>
                        <a:t>b</a:t>
                      </a:r>
                      <a:endParaRPr lang="ar-EG" dirty="0"/>
                    </a:p>
                  </a:txBody>
                  <a:tcPr marL="91413" marR="91413"/>
                </a:tc>
                <a:tc>
                  <a:txBody>
                    <a:bodyPr/>
                    <a:lstStyle/>
                    <a:p>
                      <a:pPr algn="ctr" rtl="1"/>
                      <a:r>
                        <a:rPr lang="en-US" dirty="0"/>
                        <a:t>a</a:t>
                      </a:r>
                      <a:endParaRPr lang="ar-EG" dirty="0"/>
                    </a:p>
                  </a:txBody>
                  <a:tcPr marL="91413" marR="91413"/>
                </a:tc>
                <a:tc>
                  <a:txBody>
                    <a:bodyPr/>
                    <a:lstStyle/>
                    <a:p>
                      <a:pPr algn="ctr" rtl="1"/>
                      <a:endParaRPr lang="ar-EG" dirty="0"/>
                    </a:p>
                  </a:txBody>
                  <a:tcPr marL="91413" marR="91413"/>
                </a:tc>
                <a:extLst>
                  <a:ext uri="{0D108BD9-81ED-4DB2-BD59-A6C34878D82A}">
                    <a16:rowId xmlns:a16="http://schemas.microsoft.com/office/drawing/2014/main" val="2046089006"/>
                  </a:ext>
                </a:extLst>
              </a:tr>
              <a:tr h="370840">
                <a:tc>
                  <a:txBody>
                    <a:bodyPr/>
                    <a:lstStyle/>
                    <a:p>
                      <a:pPr algn="ctr" rtl="1"/>
                      <a:r>
                        <a:rPr lang="en-US" dirty="0"/>
                        <a:t>0</a:t>
                      </a:r>
                      <a:endParaRPr lang="ar-EG" dirty="0"/>
                    </a:p>
                  </a:txBody>
                  <a:tcPr marL="91413" marR="91413"/>
                </a:tc>
                <a:tc>
                  <a:txBody>
                    <a:bodyPr/>
                    <a:lstStyle/>
                    <a:p>
                      <a:pPr algn="ctr" rtl="1"/>
                      <a:r>
                        <a:rPr lang="en-US" dirty="0"/>
                        <a:t>0</a:t>
                      </a:r>
                      <a:endParaRPr lang="ar-EG" dirty="0"/>
                    </a:p>
                  </a:txBody>
                  <a:tcPr marL="91413" marR="91413"/>
                </a:tc>
                <a:tc>
                  <a:txBody>
                    <a:bodyPr/>
                    <a:lstStyle/>
                    <a:p>
                      <a:pPr algn="ctr" rtl="1"/>
                      <a:r>
                        <a:rPr lang="en-US" dirty="0"/>
                        <a:t>1</a:t>
                      </a:r>
                      <a:endParaRPr lang="ar-EG" dirty="0"/>
                    </a:p>
                  </a:txBody>
                  <a:tcPr marL="91413" marR="91413"/>
                </a:tc>
                <a:extLst>
                  <a:ext uri="{0D108BD9-81ED-4DB2-BD59-A6C34878D82A}">
                    <a16:rowId xmlns:a16="http://schemas.microsoft.com/office/drawing/2014/main" val="3340303196"/>
                  </a:ext>
                </a:extLst>
              </a:tr>
              <a:tr h="370840">
                <a:tc>
                  <a:txBody>
                    <a:bodyPr/>
                    <a:lstStyle/>
                    <a:p>
                      <a:pPr algn="ctr" rtl="1"/>
                      <a:r>
                        <a:rPr lang="en-US" dirty="0"/>
                        <a:t>0</a:t>
                      </a:r>
                      <a:endParaRPr lang="ar-EG" dirty="0"/>
                    </a:p>
                  </a:txBody>
                  <a:tcPr marL="91413" marR="91413"/>
                </a:tc>
                <a:tc>
                  <a:txBody>
                    <a:bodyPr/>
                    <a:lstStyle/>
                    <a:p>
                      <a:pPr algn="ctr" rtl="1"/>
                      <a:r>
                        <a:rPr lang="en-US" dirty="0"/>
                        <a:t>1</a:t>
                      </a:r>
                      <a:endParaRPr lang="ar-EG" dirty="0"/>
                    </a:p>
                  </a:txBody>
                  <a:tcPr marL="91413" marR="91413"/>
                </a:tc>
                <a:tc>
                  <a:txBody>
                    <a:bodyPr/>
                    <a:lstStyle/>
                    <a:p>
                      <a:pPr algn="ctr" rtl="1"/>
                      <a:r>
                        <a:rPr lang="en-US" dirty="0"/>
                        <a:t>2</a:t>
                      </a:r>
                      <a:endParaRPr lang="ar-EG" dirty="0"/>
                    </a:p>
                  </a:txBody>
                  <a:tcPr marL="91413" marR="91413"/>
                </a:tc>
                <a:extLst>
                  <a:ext uri="{0D108BD9-81ED-4DB2-BD59-A6C34878D82A}">
                    <a16:rowId xmlns:a16="http://schemas.microsoft.com/office/drawing/2014/main" val="642507127"/>
                  </a:ext>
                </a:extLst>
              </a:tr>
              <a:tr h="370840">
                <a:tc>
                  <a:txBody>
                    <a:bodyPr/>
                    <a:lstStyle/>
                    <a:p>
                      <a:pPr algn="ctr" rtl="1"/>
                      <a:r>
                        <a:rPr lang="en-US" dirty="0"/>
                        <a:t>1</a:t>
                      </a:r>
                      <a:endParaRPr lang="ar-EG" dirty="0"/>
                    </a:p>
                  </a:txBody>
                  <a:tcPr marL="91413" marR="91413"/>
                </a:tc>
                <a:tc>
                  <a:txBody>
                    <a:bodyPr/>
                    <a:lstStyle/>
                    <a:p>
                      <a:pPr algn="ctr" rtl="1"/>
                      <a:r>
                        <a:rPr lang="en-US" dirty="0"/>
                        <a:t>0</a:t>
                      </a:r>
                      <a:endParaRPr lang="ar-EG" dirty="0"/>
                    </a:p>
                  </a:txBody>
                  <a:tcPr marL="91413" marR="91413"/>
                </a:tc>
                <a:tc>
                  <a:txBody>
                    <a:bodyPr/>
                    <a:lstStyle/>
                    <a:p>
                      <a:pPr algn="ctr" rtl="1"/>
                      <a:r>
                        <a:rPr lang="en-US" dirty="0"/>
                        <a:t>3</a:t>
                      </a:r>
                      <a:endParaRPr lang="ar-EG" dirty="0"/>
                    </a:p>
                  </a:txBody>
                  <a:tcPr marL="91413" marR="91413"/>
                </a:tc>
                <a:extLst>
                  <a:ext uri="{0D108BD9-81ED-4DB2-BD59-A6C34878D82A}">
                    <a16:rowId xmlns:a16="http://schemas.microsoft.com/office/drawing/2014/main" val="3351587346"/>
                  </a:ext>
                </a:extLst>
              </a:tr>
              <a:tr h="370840">
                <a:tc>
                  <a:txBody>
                    <a:bodyPr/>
                    <a:lstStyle/>
                    <a:p>
                      <a:pPr algn="ctr" rtl="1"/>
                      <a:r>
                        <a:rPr lang="en-US" dirty="0"/>
                        <a:t>1</a:t>
                      </a:r>
                      <a:endParaRPr lang="ar-EG" dirty="0"/>
                    </a:p>
                  </a:txBody>
                  <a:tcPr marL="91413" marR="91413"/>
                </a:tc>
                <a:tc>
                  <a:txBody>
                    <a:bodyPr/>
                    <a:lstStyle/>
                    <a:p>
                      <a:pPr algn="ctr" rtl="1"/>
                      <a:r>
                        <a:rPr lang="en-US" dirty="0"/>
                        <a:t>1</a:t>
                      </a:r>
                      <a:endParaRPr lang="ar-EG" dirty="0"/>
                    </a:p>
                  </a:txBody>
                  <a:tcPr marL="91413" marR="91413"/>
                </a:tc>
                <a:tc>
                  <a:txBody>
                    <a:bodyPr/>
                    <a:lstStyle/>
                    <a:p>
                      <a:pPr algn="ctr" rtl="1"/>
                      <a:r>
                        <a:rPr lang="en-US" dirty="0"/>
                        <a:t>4</a:t>
                      </a:r>
                      <a:endParaRPr lang="ar-EG" dirty="0"/>
                    </a:p>
                  </a:txBody>
                  <a:tcPr marL="91413" marR="91413"/>
                </a:tc>
                <a:extLst>
                  <a:ext uri="{0D108BD9-81ED-4DB2-BD59-A6C34878D82A}">
                    <a16:rowId xmlns:a16="http://schemas.microsoft.com/office/drawing/2014/main" val="1774657446"/>
                  </a:ext>
                </a:extLst>
              </a:tr>
            </a:tbl>
          </a:graphicData>
        </a:graphic>
      </p:graphicFrame>
      <p:graphicFrame>
        <p:nvGraphicFramePr>
          <p:cNvPr id="6" name="Table 5">
            <a:extLst>
              <a:ext uri="{FF2B5EF4-FFF2-40B4-BE49-F238E27FC236}">
                <a16:creationId xmlns:a16="http://schemas.microsoft.com/office/drawing/2014/main" id="{C333D843-F1A0-41E5-92F9-FEAF853054DA}"/>
              </a:ext>
            </a:extLst>
          </p:cNvPr>
          <p:cNvGraphicFramePr>
            <a:graphicFrameLocks noGrp="1"/>
          </p:cNvGraphicFramePr>
          <p:nvPr/>
        </p:nvGraphicFramePr>
        <p:xfrm>
          <a:off x="5053012" y="4303713"/>
          <a:ext cx="1298576" cy="1482724"/>
        </p:xfrm>
        <a:graphic>
          <a:graphicData uri="http://schemas.openxmlformats.org/drawingml/2006/table">
            <a:tbl>
              <a:tblPr rtl="1" firstRow="1" bandRow="1">
                <a:tableStyleId>{5C22544A-7EE6-4342-B048-85BDC9FD1C3A}</a:tableStyleId>
              </a:tblPr>
              <a:tblGrid>
                <a:gridCol w="509075">
                  <a:extLst>
                    <a:ext uri="{9D8B030D-6E8A-4147-A177-3AD203B41FA5}">
                      <a16:colId xmlns:a16="http://schemas.microsoft.com/office/drawing/2014/main" val="3317734281"/>
                    </a:ext>
                  </a:extLst>
                </a:gridCol>
                <a:gridCol w="440546">
                  <a:extLst>
                    <a:ext uri="{9D8B030D-6E8A-4147-A177-3AD203B41FA5}">
                      <a16:colId xmlns:a16="http://schemas.microsoft.com/office/drawing/2014/main" val="330487206"/>
                    </a:ext>
                  </a:extLst>
                </a:gridCol>
                <a:gridCol w="348955">
                  <a:extLst>
                    <a:ext uri="{9D8B030D-6E8A-4147-A177-3AD203B41FA5}">
                      <a16:colId xmlns:a16="http://schemas.microsoft.com/office/drawing/2014/main" val="825312006"/>
                    </a:ext>
                  </a:extLst>
                </a:gridCol>
              </a:tblGrid>
              <a:tr h="370681">
                <a:tc>
                  <a:txBody>
                    <a:bodyPr/>
                    <a:lstStyle/>
                    <a:p>
                      <a:pPr algn="ctr" rtl="1"/>
                      <a:r>
                        <a:rPr lang="en-US" sz="1800" dirty="0"/>
                        <a:t>b</a:t>
                      </a:r>
                      <a:endParaRPr lang="ar-EG" sz="1800" dirty="0"/>
                    </a:p>
                  </a:txBody>
                  <a:tcPr marL="91413" marR="91413" marT="45700" marB="45700"/>
                </a:tc>
                <a:tc>
                  <a:txBody>
                    <a:bodyPr/>
                    <a:lstStyle/>
                    <a:p>
                      <a:pPr algn="ctr" rtl="1"/>
                      <a:r>
                        <a:rPr lang="en-US" sz="1800" dirty="0"/>
                        <a:t>a</a:t>
                      </a:r>
                      <a:endParaRPr lang="ar-EG" sz="1800" dirty="0"/>
                    </a:p>
                  </a:txBody>
                  <a:tcPr marL="91413" marR="91413" marT="45700" marB="45700"/>
                </a:tc>
                <a:tc>
                  <a:txBody>
                    <a:bodyPr/>
                    <a:lstStyle/>
                    <a:p>
                      <a:pPr algn="ctr" rtl="1"/>
                      <a:endParaRPr lang="ar-EG" sz="1800"/>
                    </a:p>
                  </a:txBody>
                  <a:tcPr marL="91413" marR="91413" marT="45700" marB="45700"/>
                </a:tc>
                <a:extLst>
                  <a:ext uri="{0D108BD9-81ED-4DB2-BD59-A6C34878D82A}">
                    <a16:rowId xmlns:a16="http://schemas.microsoft.com/office/drawing/2014/main" val="2046089006"/>
                  </a:ext>
                </a:extLst>
              </a:tr>
              <a:tr h="370681">
                <a:tc>
                  <a:txBody>
                    <a:bodyPr/>
                    <a:lstStyle/>
                    <a:p>
                      <a:pPr algn="ctr" rtl="1"/>
                      <a:r>
                        <a:rPr lang="en-US" sz="1800" dirty="0"/>
                        <a:t>0</a:t>
                      </a:r>
                      <a:endParaRPr lang="ar-EG" sz="1800" dirty="0"/>
                    </a:p>
                  </a:txBody>
                  <a:tcPr marL="91413" marR="91413" marT="45700" marB="45700"/>
                </a:tc>
                <a:tc>
                  <a:txBody>
                    <a:bodyPr/>
                    <a:lstStyle/>
                    <a:p>
                      <a:pPr algn="ctr" rtl="1"/>
                      <a:r>
                        <a:rPr lang="en-US" sz="1800" dirty="0"/>
                        <a:t>1</a:t>
                      </a:r>
                      <a:endParaRPr lang="ar-EG" sz="1800" dirty="0"/>
                    </a:p>
                  </a:txBody>
                  <a:tcPr marL="91413" marR="91413" marT="45700" marB="45700"/>
                </a:tc>
                <a:tc>
                  <a:txBody>
                    <a:bodyPr/>
                    <a:lstStyle/>
                    <a:p>
                      <a:pPr algn="ctr" rtl="1"/>
                      <a:r>
                        <a:rPr lang="en-US" sz="1800" dirty="0"/>
                        <a:t>2</a:t>
                      </a:r>
                      <a:endParaRPr lang="ar-EG" sz="1800" dirty="0"/>
                    </a:p>
                  </a:txBody>
                  <a:tcPr marL="91413" marR="91413" marT="45700" marB="45700"/>
                </a:tc>
                <a:extLst>
                  <a:ext uri="{0D108BD9-81ED-4DB2-BD59-A6C34878D82A}">
                    <a16:rowId xmlns:a16="http://schemas.microsoft.com/office/drawing/2014/main" val="642507127"/>
                  </a:ext>
                </a:extLst>
              </a:tr>
              <a:tr h="370681">
                <a:tc>
                  <a:txBody>
                    <a:bodyPr/>
                    <a:lstStyle/>
                    <a:p>
                      <a:pPr algn="ctr" rtl="1"/>
                      <a:r>
                        <a:rPr lang="en-US" sz="1800" dirty="0"/>
                        <a:t>1</a:t>
                      </a:r>
                      <a:endParaRPr lang="ar-EG" sz="1800" dirty="0"/>
                    </a:p>
                  </a:txBody>
                  <a:tcPr marL="91413" marR="91413" marT="45700" marB="45700"/>
                </a:tc>
                <a:tc>
                  <a:txBody>
                    <a:bodyPr/>
                    <a:lstStyle/>
                    <a:p>
                      <a:pPr algn="ctr" rtl="1"/>
                      <a:r>
                        <a:rPr lang="en-US" sz="1800" dirty="0"/>
                        <a:t>0</a:t>
                      </a:r>
                      <a:endParaRPr lang="ar-EG" sz="1800" dirty="0"/>
                    </a:p>
                  </a:txBody>
                  <a:tcPr marL="91413" marR="91413" marT="45700" marB="45700"/>
                </a:tc>
                <a:tc>
                  <a:txBody>
                    <a:bodyPr/>
                    <a:lstStyle/>
                    <a:p>
                      <a:pPr algn="ctr" rtl="1"/>
                      <a:r>
                        <a:rPr lang="en-US" sz="1800" dirty="0"/>
                        <a:t>3</a:t>
                      </a:r>
                      <a:endParaRPr lang="ar-EG" sz="1800" dirty="0"/>
                    </a:p>
                  </a:txBody>
                  <a:tcPr marL="91413" marR="91413" marT="45700" marB="45700"/>
                </a:tc>
                <a:extLst>
                  <a:ext uri="{0D108BD9-81ED-4DB2-BD59-A6C34878D82A}">
                    <a16:rowId xmlns:a16="http://schemas.microsoft.com/office/drawing/2014/main" val="3351587346"/>
                  </a:ext>
                </a:extLst>
              </a:tr>
              <a:tr h="370681">
                <a:tc>
                  <a:txBody>
                    <a:bodyPr/>
                    <a:lstStyle/>
                    <a:p>
                      <a:pPr algn="ctr" rtl="1"/>
                      <a:r>
                        <a:rPr lang="en-US" sz="1800" dirty="0"/>
                        <a:t>1</a:t>
                      </a:r>
                      <a:endParaRPr lang="ar-EG" sz="1800" dirty="0"/>
                    </a:p>
                  </a:txBody>
                  <a:tcPr marL="91413" marR="91413" marT="45700" marB="45700"/>
                </a:tc>
                <a:tc>
                  <a:txBody>
                    <a:bodyPr/>
                    <a:lstStyle/>
                    <a:p>
                      <a:pPr algn="ctr" rtl="1"/>
                      <a:r>
                        <a:rPr lang="en-US" sz="1800" dirty="0"/>
                        <a:t>1</a:t>
                      </a:r>
                      <a:endParaRPr lang="ar-EG" sz="1800" dirty="0"/>
                    </a:p>
                  </a:txBody>
                  <a:tcPr marL="91413" marR="91413" marT="45700" marB="45700"/>
                </a:tc>
                <a:tc>
                  <a:txBody>
                    <a:bodyPr/>
                    <a:lstStyle/>
                    <a:p>
                      <a:pPr algn="ctr" rtl="1"/>
                      <a:r>
                        <a:rPr lang="en-US" sz="1800" dirty="0"/>
                        <a:t>4</a:t>
                      </a:r>
                      <a:endParaRPr lang="ar-EG" sz="1800" dirty="0"/>
                    </a:p>
                  </a:txBody>
                  <a:tcPr marL="91413" marR="91413" marT="45700" marB="45700"/>
                </a:tc>
                <a:extLst>
                  <a:ext uri="{0D108BD9-81ED-4DB2-BD59-A6C34878D82A}">
                    <a16:rowId xmlns:a16="http://schemas.microsoft.com/office/drawing/2014/main" val="1774657446"/>
                  </a:ext>
                </a:extLst>
              </a:tr>
            </a:tbl>
          </a:graphicData>
        </a:graphic>
      </p:graphicFrame>
      <p:graphicFrame>
        <p:nvGraphicFramePr>
          <p:cNvPr id="7" name="Table 6">
            <a:extLst>
              <a:ext uri="{FF2B5EF4-FFF2-40B4-BE49-F238E27FC236}">
                <a16:creationId xmlns:a16="http://schemas.microsoft.com/office/drawing/2014/main" id="{E4320CD7-89EA-490C-A5C1-F0B12B9E8433}"/>
              </a:ext>
            </a:extLst>
          </p:cNvPr>
          <p:cNvGraphicFramePr>
            <a:graphicFrameLocks noGrp="1"/>
          </p:cNvGraphicFramePr>
          <p:nvPr/>
        </p:nvGraphicFramePr>
        <p:xfrm>
          <a:off x="9342437" y="4311650"/>
          <a:ext cx="1298576" cy="741364"/>
        </p:xfrm>
        <a:graphic>
          <a:graphicData uri="http://schemas.openxmlformats.org/drawingml/2006/table">
            <a:tbl>
              <a:tblPr rtl="1" firstRow="1" bandRow="1">
                <a:tableStyleId>{5C22544A-7EE6-4342-B048-85BDC9FD1C3A}</a:tableStyleId>
              </a:tblPr>
              <a:tblGrid>
                <a:gridCol w="509075">
                  <a:extLst>
                    <a:ext uri="{9D8B030D-6E8A-4147-A177-3AD203B41FA5}">
                      <a16:colId xmlns:a16="http://schemas.microsoft.com/office/drawing/2014/main" val="3317734281"/>
                    </a:ext>
                  </a:extLst>
                </a:gridCol>
                <a:gridCol w="440546">
                  <a:extLst>
                    <a:ext uri="{9D8B030D-6E8A-4147-A177-3AD203B41FA5}">
                      <a16:colId xmlns:a16="http://schemas.microsoft.com/office/drawing/2014/main" val="330487206"/>
                    </a:ext>
                  </a:extLst>
                </a:gridCol>
                <a:gridCol w="348955">
                  <a:extLst>
                    <a:ext uri="{9D8B030D-6E8A-4147-A177-3AD203B41FA5}">
                      <a16:colId xmlns:a16="http://schemas.microsoft.com/office/drawing/2014/main" val="825312006"/>
                    </a:ext>
                  </a:extLst>
                </a:gridCol>
              </a:tblGrid>
              <a:tr h="370682">
                <a:tc>
                  <a:txBody>
                    <a:bodyPr/>
                    <a:lstStyle/>
                    <a:p>
                      <a:pPr algn="ctr" rtl="1"/>
                      <a:r>
                        <a:rPr lang="en-US" sz="1800" dirty="0"/>
                        <a:t>b</a:t>
                      </a:r>
                      <a:endParaRPr lang="ar-EG" sz="1800" dirty="0"/>
                    </a:p>
                  </a:txBody>
                  <a:tcPr marL="91413" marR="91413" marT="45700" marB="45700"/>
                </a:tc>
                <a:tc>
                  <a:txBody>
                    <a:bodyPr/>
                    <a:lstStyle/>
                    <a:p>
                      <a:pPr algn="ctr" rtl="1"/>
                      <a:r>
                        <a:rPr lang="en-US" sz="1800" dirty="0"/>
                        <a:t>a</a:t>
                      </a:r>
                      <a:endParaRPr lang="ar-EG" sz="1800" dirty="0"/>
                    </a:p>
                  </a:txBody>
                  <a:tcPr marL="91413" marR="91413" marT="45700" marB="45700"/>
                </a:tc>
                <a:tc>
                  <a:txBody>
                    <a:bodyPr/>
                    <a:lstStyle/>
                    <a:p>
                      <a:pPr algn="ctr" rtl="1"/>
                      <a:endParaRPr lang="ar-EG" sz="1800" dirty="0"/>
                    </a:p>
                  </a:txBody>
                  <a:tcPr marL="91413" marR="91413" marT="45700" marB="45700"/>
                </a:tc>
                <a:extLst>
                  <a:ext uri="{0D108BD9-81ED-4DB2-BD59-A6C34878D82A}">
                    <a16:rowId xmlns:a16="http://schemas.microsoft.com/office/drawing/2014/main" val="2046089006"/>
                  </a:ext>
                </a:extLst>
              </a:tr>
              <a:tr h="370682">
                <a:tc>
                  <a:txBody>
                    <a:bodyPr/>
                    <a:lstStyle/>
                    <a:p>
                      <a:pPr algn="ctr" rtl="1"/>
                      <a:r>
                        <a:rPr lang="en-US" sz="1800" dirty="0"/>
                        <a:t>1</a:t>
                      </a:r>
                      <a:endParaRPr lang="ar-EG" sz="1800" dirty="0"/>
                    </a:p>
                  </a:txBody>
                  <a:tcPr marL="91413" marR="91413" marT="45700" marB="45700"/>
                </a:tc>
                <a:tc>
                  <a:txBody>
                    <a:bodyPr/>
                    <a:lstStyle/>
                    <a:p>
                      <a:pPr algn="ctr" rtl="1"/>
                      <a:r>
                        <a:rPr lang="en-US" sz="1800" dirty="0"/>
                        <a:t>1</a:t>
                      </a:r>
                      <a:endParaRPr lang="ar-EG" sz="1800" dirty="0"/>
                    </a:p>
                  </a:txBody>
                  <a:tcPr marL="91413" marR="91413" marT="45700" marB="45700"/>
                </a:tc>
                <a:tc>
                  <a:txBody>
                    <a:bodyPr/>
                    <a:lstStyle/>
                    <a:p>
                      <a:pPr algn="ctr" rtl="1"/>
                      <a:r>
                        <a:rPr lang="en-US" sz="1800" dirty="0"/>
                        <a:t>4</a:t>
                      </a:r>
                      <a:endParaRPr lang="ar-EG" sz="1800" dirty="0"/>
                    </a:p>
                  </a:txBody>
                  <a:tcPr marL="91413" marR="91413" marT="45700" marB="45700"/>
                </a:tc>
                <a:extLst>
                  <a:ext uri="{0D108BD9-81ED-4DB2-BD59-A6C34878D82A}">
                    <a16:rowId xmlns:a16="http://schemas.microsoft.com/office/drawing/2014/main" val="1774657446"/>
                  </a:ext>
                </a:extLst>
              </a:tr>
            </a:tbl>
          </a:graphicData>
        </a:graphic>
      </p:graphicFrame>
      <p:sp>
        <p:nvSpPr>
          <p:cNvPr id="54338" name="TextBox 7">
            <a:extLst>
              <a:ext uri="{FF2B5EF4-FFF2-40B4-BE49-F238E27FC236}">
                <a16:creationId xmlns:a16="http://schemas.microsoft.com/office/drawing/2014/main" id="{02DF04E6-B8B9-68F3-A5D3-E06286C04268}"/>
              </a:ext>
            </a:extLst>
          </p:cNvPr>
          <p:cNvSpPr txBox="1">
            <a:spLocks noChangeArrowheads="1"/>
          </p:cNvSpPr>
          <p:nvPr/>
        </p:nvSpPr>
        <p:spPr bwMode="auto">
          <a:xfrm>
            <a:off x="306388" y="3844925"/>
            <a:ext cx="27670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b="1">
                <a:solidFill>
                  <a:srgbClr val="FFFF00"/>
                </a:solidFill>
              </a:rPr>
              <a:t>Original DataFrame</a:t>
            </a:r>
            <a:endParaRPr lang="ar-EG" altLang="ar-EG" b="1">
              <a:solidFill>
                <a:srgbClr val="FFFF00"/>
              </a:solidFill>
            </a:endParaRPr>
          </a:p>
        </p:txBody>
      </p:sp>
      <p:sp>
        <p:nvSpPr>
          <p:cNvPr id="54339" name="TextBox 8">
            <a:extLst>
              <a:ext uri="{FF2B5EF4-FFF2-40B4-BE49-F238E27FC236}">
                <a16:creationId xmlns:a16="http://schemas.microsoft.com/office/drawing/2014/main" id="{D9017006-A6C1-A03B-C587-D0B9333C031C}"/>
              </a:ext>
            </a:extLst>
          </p:cNvPr>
          <p:cNvSpPr txBox="1">
            <a:spLocks noChangeArrowheads="1"/>
          </p:cNvSpPr>
          <p:nvPr/>
        </p:nvSpPr>
        <p:spPr bwMode="auto">
          <a:xfrm>
            <a:off x="3892550" y="3844925"/>
            <a:ext cx="3997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b="1">
                <a:solidFill>
                  <a:srgbClr val="FFFF00"/>
                </a:solidFill>
              </a:rPr>
              <a:t>Keep raw if ANY contains a value</a:t>
            </a:r>
            <a:endParaRPr lang="ar-EG" altLang="ar-EG" b="1">
              <a:solidFill>
                <a:srgbClr val="FFFF00"/>
              </a:solidFill>
            </a:endParaRPr>
          </a:p>
        </p:txBody>
      </p:sp>
      <p:sp>
        <p:nvSpPr>
          <p:cNvPr id="54340" name="TextBox 10">
            <a:extLst>
              <a:ext uri="{FF2B5EF4-FFF2-40B4-BE49-F238E27FC236}">
                <a16:creationId xmlns:a16="http://schemas.microsoft.com/office/drawing/2014/main" id="{80F7A983-6DEF-B4C8-E6CD-11160A0C06D5}"/>
              </a:ext>
            </a:extLst>
          </p:cNvPr>
          <p:cNvSpPr txBox="1">
            <a:spLocks noChangeArrowheads="1"/>
          </p:cNvSpPr>
          <p:nvPr/>
        </p:nvSpPr>
        <p:spPr bwMode="auto">
          <a:xfrm>
            <a:off x="8348663" y="3844925"/>
            <a:ext cx="3843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b="1">
                <a:solidFill>
                  <a:srgbClr val="FFFF00"/>
                </a:solidFill>
              </a:rPr>
              <a:t>Keep</a:t>
            </a:r>
            <a:r>
              <a:rPr lang="en-US" altLang="ar-EG" b="1"/>
              <a:t> </a:t>
            </a:r>
            <a:r>
              <a:rPr lang="en-US" altLang="ar-EG" b="1">
                <a:solidFill>
                  <a:srgbClr val="FFFF00"/>
                </a:solidFill>
              </a:rPr>
              <a:t>raw if ALL contains values</a:t>
            </a:r>
            <a:endParaRPr lang="ar-EG" altLang="ar-EG" b="1">
              <a:solidFill>
                <a:srgbClr val="FFFF00"/>
              </a:solidFill>
            </a:endParaRPr>
          </a:p>
        </p:txBody>
      </p:sp>
      <p:sp>
        <p:nvSpPr>
          <p:cNvPr id="12" name="TextBox 11">
            <a:extLst>
              <a:ext uri="{FF2B5EF4-FFF2-40B4-BE49-F238E27FC236}">
                <a16:creationId xmlns:a16="http://schemas.microsoft.com/office/drawing/2014/main" id="{48A67813-DA54-4B9B-AD52-D2320764842B}"/>
              </a:ext>
            </a:extLst>
          </p:cNvPr>
          <p:cNvSpPr txBox="1"/>
          <p:nvPr/>
        </p:nvSpPr>
        <p:spPr>
          <a:xfrm>
            <a:off x="8947150" y="5319713"/>
            <a:ext cx="2089150" cy="369887"/>
          </a:xfrm>
          <a:prstGeom prst="rect">
            <a:avLst/>
          </a:prstGeom>
          <a:solidFill>
            <a:schemeClr val="accent1">
              <a:lumMod val="50000"/>
            </a:schemeClr>
          </a:solidFill>
        </p:spPr>
        <p:txBody>
          <a:bodyPr wrap="none" rtlCol="1">
            <a:spAutoFit/>
          </a:bodyPr>
          <a:lstStyle/>
          <a:p>
            <a:pPr>
              <a:defRPr/>
            </a:pPr>
            <a:r>
              <a:rPr lang="en-US" dirty="0"/>
              <a:t>df[(</a:t>
            </a:r>
            <a:r>
              <a:rPr lang="en-US" dirty="0" err="1"/>
              <a:t>df.T</a:t>
            </a:r>
            <a:r>
              <a:rPr lang="en-US" dirty="0"/>
              <a:t> != 0).all()]</a:t>
            </a:r>
            <a:endParaRPr lang="ar-EG" dirty="0"/>
          </a:p>
        </p:txBody>
      </p:sp>
      <p:sp>
        <p:nvSpPr>
          <p:cNvPr id="13" name="TextBox 12">
            <a:extLst>
              <a:ext uri="{FF2B5EF4-FFF2-40B4-BE49-F238E27FC236}">
                <a16:creationId xmlns:a16="http://schemas.microsoft.com/office/drawing/2014/main" id="{D0C4729E-CB13-4B87-88DA-5DDAADB7B5FB}"/>
              </a:ext>
            </a:extLst>
          </p:cNvPr>
          <p:cNvSpPr txBox="1"/>
          <p:nvPr/>
        </p:nvSpPr>
        <p:spPr>
          <a:xfrm>
            <a:off x="4657725" y="5980113"/>
            <a:ext cx="2260600" cy="369887"/>
          </a:xfrm>
          <a:prstGeom prst="rect">
            <a:avLst/>
          </a:prstGeom>
          <a:solidFill>
            <a:schemeClr val="accent1">
              <a:lumMod val="50000"/>
            </a:schemeClr>
          </a:solidFill>
        </p:spPr>
        <p:txBody>
          <a:bodyPr wrap="none" rtlCol="1">
            <a:spAutoFit/>
          </a:bodyPr>
          <a:lstStyle/>
          <a:p>
            <a:pPr>
              <a:defRPr/>
            </a:pPr>
            <a:r>
              <a:rPr lang="en-US" dirty="0"/>
              <a:t>df[(</a:t>
            </a:r>
            <a:r>
              <a:rPr lang="en-US" dirty="0" err="1"/>
              <a:t>df.T</a:t>
            </a:r>
            <a:r>
              <a:rPr lang="en-US" dirty="0"/>
              <a:t> != 0).any()]</a:t>
            </a:r>
            <a:endParaRPr lang="ar-EG"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F5AD82D-5214-4BC5-B6E1-4500A812F844}"/>
              </a:ext>
            </a:extLst>
          </p:cNvPr>
          <p:cNvSpPr>
            <a:spLocks noGrp="1"/>
          </p:cNvSpPr>
          <p:nvPr>
            <p:ph type="body" sz="quarter" idx="10"/>
          </p:nvPr>
        </p:nvSpPr>
        <p:spPr/>
        <p:txBody>
          <a:bodyPr/>
          <a:lstStyle/>
          <a:p>
            <a:pPr>
              <a:buFont typeface="Wingdings 3" panose="05040102010807070707" pitchFamily="18" charset="2"/>
              <a:buNone/>
              <a:defRPr/>
            </a:pPr>
            <a:r>
              <a:rPr lang="en-US"/>
              <a:t>Drop the columns where Any/All elements are </a:t>
            </a:r>
            <a:r>
              <a:rPr lang="en-US" err="1"/>
              <a:t>NaN</a:t>
            </a:r>
            <a:endParaRPr lang="en-US"/>
          </a:p>
        </p:txBody>
      </p:sp>
      <p:sp>
        <p:nvSpPr>
          <p:cNvPr id="3" name="Content Placeholder 2">
            <a:extLst>
              <a:ext uri="{FF2B5EF4-FFF2-40B4-BE49-F238E27FC236}">
                <a16:creationId xmlns:a16="http://schemas.microsoft.com/office/drawing/2014/main" id="{AB232823-A280-4922-A202-43394C2DDBB1}"/>
              </a:ext>
            </a:extLst>
          </p:cNvPr>
          <p:cNvSpPr>
            <a:spLocks noGrp="1"/>
          </p:cNvSpPr>
          <p:nvPr>
            <p:ph sz="quarter" idx="11"/>
          </p:nvPr>
        </p:nvSpPr>
        <p:spPr/>
        <p:txBody>
          <a:bodyPr/>
          <a:lstStyle/>
          <a:p>
            <a:pPr>
              <a:buFont typeface="Wingdings 3" panose="05040102010807070707" pitchFamily="18" charset="2"/>
              <a:buChar char=""/>
              <a:defRPr/>
            </a:pPr>
            <a:r>
              <a:rPr err="1"/>
              <a:t>data.dropna</a:t>
            </a:r>
            <a:r>
              <a:t>(how='any’)</a:t>
            </a:r>
          </a:p>
          <a:p>
            <a:pPr>
              <a:buFont typeface="Wingdings 3" panose="05040102010807070707" pitchFamily="18" charset="2"/>
              <a:buChar char=""/>
              <a:defRPr/>
            </a:pPr>
            <a:endParaRPr/>
          </a:p>
          <a:p>
            <a:pPr marL="0" indent="0">
              <a:buFont typeface="Wingdings 3" panose="05040102010807070707" pitchFamily="18" charset="2"/>
              <a:buNone/>
              <a:defRPr/>
            </a:pPr>
            <a:r>
              <a:t>how : {‘any’, ‘all’}</a:t>
            </a:r>
          </a:p>
          <a:p>
            <a:pPr>
              <a:buFont typeface="Wingdings 3" panose="05040102010807070707" pitchFamily="18" charset="2"/>
              <a:buChar char=""/>
              <a:defRPr/>
            </a:pPr>
            <a:r>
              <a:t>any : if any NA values are present, drop that label</a:t>
            </a:r>
          </a:p>
          <a:p>
            <a:pPr>
              <a:buFont typeface="Wingdings 3" panose="05040102010807070707" pitchFamily="18" charset="2"/>
              <a:buChar char=""/>
              <a:defRPr/>
            </a:pPr>
            <a:r>
              <a:t>all : if all values are NA, drop that label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BBE303-F62E-47FE-8A78-42F4726BEB6C}"/>
              </a:ext>
            </a:extLst>
          </p:cNvPr>
          <p:cNvSpPr>
            <a:spLocks noGrp="1"/>
          </p:cNvSpPr>
          <p:nvPr>
            <p:ph type="body" sz="quarter" idx="10"/>
          </p:nvPr>
        </p:nvSpPr>
        <p:spPr>
          <a:xfrm>
            <a:off x="457200" y="0"/>
            <a:ext cx="11266488" cy="847725"/>
          </a:xfrm>
        </p:spPr>
        <p:txBody>
          <a:bodyPr/>
          <a:lstStyle/>
          <a:p>
            <a:pPr>
              <a:buFont typeface="Wingdings 3" panose="05040102010807070707" pitchFamily="18" charset="2"/>
              <a:buNone/>
              <a:defRPr/>
            </a:pPr>
            <a:r>
              <a:rPr lang="en-US"/>
              <a:t>Drop duplicate rows</a:t>
            </a:r>
          </a:p>
        </p:txBody>
      </p:sp>
      <p:sp>
        <p:nvSpPr>
          <p:cNvPr id="3" name="Content Placeholder 2">
            <a:extLst>
              <a:ext uri="{FF2B5EF4-FFF2-40B4-BE49-F238E27FC236}">
                <a16:creationId xmlns:a16="http://schemas.microsoft.com/office/drawing/2014/main" id="{536642B4-54F3-4C15-AD7B-96C84E489971}"/>
              </a:ext>
            </a:extLst>
          </p:cNvPr>
          <p:cNvSpPr>
            <a:spLocks noGrp="1"/>
          </p:cNvSpPr>
          <p:nvPr>
            <p:ph sz="quarter" idx="11"/>
          </p:nvPr>
        </p:nvSpPr>
        <p:spPr>
          <a:xfrm>
            <a:off x="434975" y="847725"/>
            <a:ext cx="11288713" cy="5672138"/>
          </a:xfrm>
        </p:spPr>
        <p:txBody>
          <a:bodyPr/>
          <a:lstStyle/>
          <a:p>
            <a:pPr marL="0" indent="0">
              <a:buFont typeface="Wingdings 3" panose="05040102010807070707" pitchFamily="18" charset="2"/>
              <a:buNone/>
              <a:defRPr/>
            </a:pPr>
            <a:r>
              <a:rPr sz="1400" b="1"/>
              <a:t>Consider duplicate if all the row are the same, return result in new </a:t>
            </a:r>
            <a:r>
              <a:rPr sz="1400" b="1" err="1"/>
              <a:t>dataframe</a:t>
            </a:r>
            <a:endParaRPr sz="1400" b="1"/>
          </a:p>
          <a:p>
            <a:pPr>
              <a:buFont typeface="Wingdings 3" panose="05040102010807070707" pitchFamily="18" charset="2"/>
              <a:buChar char=""/>
              <a:defRPr/>
            </a:pPr>
            <a:r>
              <a:rPr sz="1400" b="1">
                <a:solidFill>
                  <a:srgbClr val="FFFF00"/>
                </a:solidFill>
              </a:rPr>
              <a:t>dataframe1 = </a:t>
            </a:r>
            <a:r>
              <a:rPr sz="1400" b="1" err="1">
                <a:solidFill>
                  <a:srgbClr val="FFFF00"/>
                </a:solidFill>
              </a:rPr>
              <a:t>df.drop_duplicates</a:t>
            </a:r>
            <a:r>
              <a:rPr sz="1400" b="1">
                <a:solidFill>
                  <a:srgbClr val="FFFF00"/>
                </a:solidFill>
              </a:rPr>
              <a:t>(subset=None, </a:t>
            </a:r>
            <a:r>
              <a:rPr sz="1400" b="1" err="1">
                <a:solidFill>
                  <a:srgbClr val="FFFF00"/>
                </a:solidFill>
              </a:rPr>
              <a:t>inplace</a:t>
            </a:r>
            <a:r>
              <a:rPr sz="1400" b="1">
                <a:solidFill>
                  <a:srgbClr val="FFFF00"/>
                </a:solidFill>
              </a:rPr>
              <a:t>=False)</a:t>
            </a:r>
          </a:p>
          <a:p>
            <a:pPr marL="0" indent="0">
              <a:buFont typeface="Wingdings 3" panose="05040102010807070707" pitchFamily="18" charset="2"/>
              <a:buNone/>
              <a:defRPr/>
            </a:pPr>
            <a:endParaRPr sz="1400" b="1"/>
          </a:p>
          <a:p>
            <a:pPr marL="0" indent="0">
              <a:buFont typeface="Wingdings 3" panose="05040102010807070707" pitchFamily="18" charset="2"/>
              <a:buNone/>
              <a:defRPr/>
            </a:pPr>
            <a:r>
              <a:rPr sz="1400" b="1"/>
              <a:t>Consider duplicate if Column1, Column3 are the same, drop duplicate except last row, return result in the same </a:t>
            </a:r>
            <a:r>
              <a:rPr sz="1400" b="1" err="1"/>
              <a:t>dataframe</a:t>
            </a:r>
            <a:endParaRPr sz="1400" b="1"/>
          </a:p>
          <a:p>
            <a:pPr>
              <a:buFont typeface="Wingdings 3" panose="05040102010807070707" pitchFamily="18" charset="2"/>
              <a:buChar char=""/>
              <a:defRPr/>
            </a:pPr>
            <a:r>
              <a:rPr sz="1400" b="1" err="1">
                <a:solidFill>
                  <a:srgbClr val="FFFF00"/>
                </a:solidFill>
              </a:rPr>
              <a:t>df.drop_duplicates</a:t>
            </a:r>
            <a:r>
              <a:rPr sz="1400" b="1">
                <a:solidFill>
                  <a:srgbClr val="FFFF00"/>
                </a:solidFill>
              </a:rPr>
              <a:t>(subset=[‘Column1', ‘Column3'], keep=‘last’)</a:t>
            </a:r>
          </a:p>
          <a:p>
            <a:pPr marL="0" indent="0">
              <a:buFont typeface="Wingdings 3" panose="05040102010807070707" pitchFamily="18" charset="2"/>
              <a:buNone/>
              <a:defRPr/>
            </a:pPr>
            <a:endParaRPr sz="1400" b="1"/>
          </a:p>
          <a:p>
            <a:pPr marL="0" indent="0">
              <a:buFont typeface="Wingdings 3" panose="05040102010807070707" pitchFamily="18" charset="2"/>
              <a:buNone/>
              <a:defRPr/>
            </a:pPr>
            <a:r>
              <a:rPr sz="1400" b="1"/>
              <a:t>Save unique data</a:t>
            </a:r>
          </a:p>
          <a:p>
            <a:pPr>
              <a:buFont typeface="Wingdings 3" panose="05040102010807070707" pitchFamily="18" charset="2"/>
              <a:buChar char=""/>
              <a:defRPr/>
            </a:pPr>
            <a:r>
              <a:rPr sz="1400" err="1"/>
              <a:t>df.to_csv</a:t>
            </a:r>
            <a:r>
              <a:rPr sz="1400"/>
              <a:t>(</a:t>
            </a:r>
            <a:r>
              <a:rPr sz="1400" err="1"/>
              <a:t>file_name_output</a:t>
            </a:r>
            <a:r>
              <a:rPr sz="1400"/>
              <a:t>)</a:t>
            </a:r>
          </a:p>
        </p:txBody>
      </p:sp>
      <p:pic>
        <p:nvPicPr>
          <p:cNvPr id="56324" name="Picture 3">
            <a:extLst>
              <a:ext uri="{FF2B5EF4-FFF2-40B4-BE49-F238E27FC236}">
                <a16:creationId xmlns:a16="http://schemas.microsoft.com/office/drawing/2014/main" id="{860A2F10-B2EE-3D29-A06D-1D8D91A886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275" y="3106738"/>
            <a:ext cx="8601075"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F913F2-15D4-48B1-87F0-EA6CB8CCDD5C}"/>
              </a:ext>
            </a:extLst>
          </p:cNvPr>
          <p:cNvSpPr>
            <a:spLocks noGrp="1"/>
          </p:cNvSpPr>
          <p:nvPr>
            <p:ph type="body" sz="quarter" idx="10"/>
          </p:nvPr>
        </p:nvSpPr>
        <p:spPr/>
        <p:txBody>
          <a:bodyPr/>
          <a:lstStyle/>
          <a:p>
            <a:pPr>
              <a:buFont typeface="Wingdings 3" panose="05040102010807070707" pitchFamily="18" charset="2"/>
              <a:buNone/>
              <a:defRPr/>
            </a:pPr>
            <a:r>
              <a:rPr lang="en-US"/>
              <a:t>Split Dataset, Create training, and test dataset</a:t>
            </a:r>
            <a:endParaRPr/>
          </a:p>
        </p:txBody>
      </p:sp>
      <p:sp>
        <p:nvSpPr>
          <p:cNvPr id="3" name="Content Placeholder 2">
            <a:extLst>
              <a:ext uri="{FF2B5EF4-FFF2-40B4-BE49-F238E27FC236}">
                <a16:creationId xmlns:a16="http://schemas.microsoft.com/office/drawing/2014/main" id="{955388ED-F12B-44BA-A22D-28A99BC6084B}"/>
              </a:ext>
            </a:extLst>
          </p:cNvPr>
          <p:cNvSpPr>
            <a:spLocks noGrp="1"/>
          </p:cNvSpPr>
          <p:nvPr>
            <p:ph sz="quarter" idx="11"/>
          </p:nvPr>
        </p:nvSpPr>
        <p:spPr/>
        <p:txBody>
          <a:bodyPr/>
          <a:lstStyle/>
          <a:p>
            <a:pPr marL="0" indent="0">
              <a:buFont typeface="Wingdings 3" panose="05040102010807070707" pitchFamily="18" charset="2"/>
              <a:buNone/>
              <a:defRPr/>
            </a:pPr>
            <a:r>
              <a:t>How to split dataset by 70-30?</a:t>
            </a:r>
            <a:br>
              <a:rPr/>
            </a:br>
            <a:r>
              <a:t>[70% of the observations fall into training and 30% of observations fall into the test dataset.]</a:t>
            </a:r>
          </a:p>
          <a:p>
            <a:pPr>
              <a:buFont typeface="Wingdings 3" panose="05040102010807070707" pitchFamily="18" charset="2"/>
              <a:buChar char=""/>
              <a:defRPr/>
            </a:pPr>
            <a:endParaRPr/>
          </a:p>
          <a:p>
            <a:pPr>
              <a:buFont typeface="Wingdings 3" panose="05040102010807070707" pitchFamily="18" charset="2"/>
              <a:buChar char=""/>
              <a:defRPr/>
            </a:pPr>
            <a:r>
              <a:rPr sz="1800" err="1"/>
              <a:t>x_train,x_test</a:t>
            </a:r>
            <a:r>
              <a:rPr sz="1800"/>
              <a:t>, </a:t>
            </a:r>
            <a:r>
              <a:rPr sz="1800" err="1"/>
              <a:t>y_train</a:t>
            </a:r>
            <a:r>
              <a:rPr sz="1800"/>
              <a:t>,  </a:t>
            </a:r>
            <a:r>
              <a:rPr sz="1800" err="1"/>
              <a:t>y_test</a:t>
            </a:r>
            <a:r>
              <a:rPr sz="1800"/>
              <a:t> = </a:t>
            </a:r>
            <a:r>
              <a:rPr sz="1800" err="1"/>
              <a:t>train_test_split</a:t>
            </a:r>
            <a:r>
              <a:rPr sz="1800"/>
              <a:t>(data[‘x’],data[‘y'], </a:t>
            </a:r>
            <a:r>
              <a:rPr sz="1800" err="1"/>
              <a:t>test_size</a:t>
            </a:r>
            <a:r>
              <a:rPr sz="1800"/>
              <a:t>=0.3, </a:t>
            </a:r>
            <a:r>
              <a:rPr sz="1800" err="1"/>
              <a:t>random_state</a:t>
            </a:r>
            <a:r>
              <a:rPr sz="1800"/>
              <a:t>=1)</a:t>
            </a:r>
          </a:p>
          <a:p>
            <a:pPr>
              <a:buFont typeface="Wingdings 3" panose="05040102010807070707" pitchFamily="18" charset="2"/>
              <a:buChar char=""/>
              <a:defRPr/>
            </a:pPr>
            <a:endParaRPr/>
          </a:p>
          <a:p>
            <a:pPr>
              <a:buFont typeface="Wingdings 3" panose="05040102010807070707" pitchFamily="18" charset="2"/>
              <a:buChar char=""/>
              <a:defRPr/>
            </a:pPr>
            <a:endParaRPr/>
          </a:p>
          <a:p>
            <a:pPr>
              <a:buFont typeface="Wingdings 3" panose="05040102010807070707" pitchFamily="18" charset="2"/>
              <a:buChar char=""/>
              <a:defRPr/>
            </a:pPr>
            <a:endParaRPr/>
          </a:p>
          <a:p>
            <a:pPr>
              <a:buFont typeface="Wingdings 3" panose="05040102010807070707" pitchFamily="18" charset="2"/>
              <a:buChar char=""/>
              <a:defRPr/>
            </a:pPr>
            <a:endParaRPr lang="ar-EG"/>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97A1EB-4690-4488-8F1C-F7D3D75BC35F}"/>
              </a:ext>
            </a:extLst>
          </p:cNvPr>
          <p:cNvSpPr>
            <a:spLocks noGrp="1"/>
          </p:cNvSpPr>
          <p:nvPr>
            <p:ph type="body" sz="quarter" idx="10"/>
          </p:nvPr>
        </p:nvSpPr>
        <p:spPr/>
        <p:txBody>
          <a:bodyPr/>
          <a:lstStyle/>
          <a:p>
            <a:pPr>
              <a:buFont typeface="Wingdings 3" panose="05040102010807070707" pitchFamily="18" charset="2"/>
              <a:buNone/>
              <a:defRPr/>
            </a:pPr>
            <a:r>
              <a:rPr lang="en-US"/>
              <a:t>import </a:t>
            </a:r>
            <a:r>
              <a:rPr lang="en-US" err="1"/>
              <a:t>matplotlib.pyplot</a:t>
            </a:r>
            <a:r>
              <a:rPr lang="en-US"/>
              <a:t> as </a:t>
            </a:r>
            <a:r>
              <a:rPr lang="en-US" err="1"/>
              <a:t>plt</a:t>
            </a:r>
            <a:endParaRPr lang="en-US"/>
          </a:p>
        </p:txBody>
      </p:sp>
      <p:sp>
        <p:nvSpPr>
          <p:cNvPr id="58371" name="Content Placeholder 2">
            <a:extLst>
              <a:ext uri="{FF2B5EF4-FFF2-40B4-BE49-F238E27FC236}">
                <a16:creationId xmlns:a16="http://schemas.microsoft.com/office/drawing/2014/main" id="{FBC761FE-598A-786A-7B4C-EB9951FB86A2}"/>
              </a:ext>
            </a:extLst>
          </p:cNvPr>
          <p:cNvSpPr>
            <a:spLocks noGrp="1" noChangeArrowheads="1"/>
          </p:cNvSpPr>
          <p:nvPr>
            <p:ph sz="quarter" idx="11"/>
          </p:nvPr>
        </p:nvSpPr>
        <p:spPr/>
        <p:txBody>
          <a:bodyPr/>
          <a:lstStyle/>
          <a:p>
            <a:r>
              <a:rPr altLang="ar-EG"/>
              <a:t>plt.bar – creates a bar chart</a:t>
            </a:r>
          </a:p>
          <a:p>
            <a:r>
              <a:rPr altLang="ar-EG"/>
              <a:t>plt.scatter – makes a scatter plot</a:t>
            </a:r>
          </a:p>
          <a:p>
            <a:r>
              <a:rPr altLang="ar-EG"/>
              <a:t>plt.boxplot – makes a box and whisker plot</a:t>
            </a:r>
          </a:p>
          <a:p>
            <a:r>
              <a:rPr altLang="ar-EG"/>
              <a:t>plt.hist – makes a histogram</a:t>
            </a:r>
          </a:p>
          <a:p>
            <a:r>
              <a:rPr altLang="ar-EG"/>
              <a:t>plt.plot – creates a line plot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0FF60C-B401-4FC4-B97D-DDD0DAD9E25C}"/>
              </a:ext>
            </a:extLst>
          </p:cNvPr>
          <p:cNvSpPr>
            <a:spLocks noGrp="1"/>
          </p:cNvSpPr>
          <p:nvPr>
            <p:ph type="body" sz="quarter" idx="10"/>
          </p:nvPr>
        </p:nvSpPr>
        <p:spPr/>
        <p:txBody>
          <a:bodyPr/>
          <a:lstStyle/>
          <a:p>
            <a:pPr>
              <a:buFont typeface="Wingdings 3" panose="05040102010807070707" pitchFamily="18" charset="2"/>
              <a:buNone/>
              <a:defRPr/>
            </a:pPr>
            <a:r>
              <a:rPr lang="en-US"/>
              <a:t>Plot for Data array</a:t>
            </a:r>
          </a:p>
        </p:txBody>
      </p:sp>
      <p:sp>
        <p:nvSpPr>
          <p:cNvPr id="59395" name="Content Placeholder 2">
            <a:extLst>
              <a:ext uri="{FF2B5EF4-FFF2-40B4-BE49-F238E27FC236}">
                <a16:creationId xmlns:a16="http://schemas.microsoft.com/office/drawing/2014/main" id="{4FA64AFA-6B67-C646-9C68-64054CC393ED}"/>
              </a:ext>
            </a:extLst>
          </p:cNvPr>
          <p:cNvSpPr>
            <a:spLocks noGrp="1" noChangeArrowheads="1"/>
          </p:cNvSpPr>
          <p:nvPr>
            <p:ph sz="quarter" idx="11"/>
          </p:nvPr>
        </p:nvSpPr>
        <p:spPr/>
        <p:txBody>
          <a:bodyPr/>
          <a:lstStyle/>
          <a:p>
            <a:pPr marL="0" indent="0">
              <a:buFont typeface="Wingdings 3" pitchFamily="2" charset="2"/>
              <a:buNone/>
            </a:pPr>
            <a:r>
              <a:rPr altLang="ar-EG" sz="1800"/>
              <a:t>import numpy as np</a:t>
            </a:r>
          </a:p>
          <a:p>
            <a:pPr marL="0" indent="0">
              <a:buFont typeface="Wingdings 3" pitchFamily="2" charset="2"/>
              <a:buNone/>
            </a:pPr>
            <a:r>
              <a:rPr altLang="ar-EG" sz="1800"/>
              <a:t>import matplotlib.pyplot as plt</a:t>
            </a:r>
          </a:p>
          <a:p>
            <a:pPr marL="0" indent="0">
              <a:buFont typeface="Wingdings 3" pitchFamily="2" charset="2"/>
              <a:buNone/>
            </a:pPr>
            <a:endParaRPr altLang="ar-EG" sz="1800"/>
          </a:p>
          <a:p>
            <a:pPr marL="0" indent="0">
              <a:buFont typeface="Wingdings 3" pitchFamily="2" charset="2"/>
              <a:buNone/>
            </a:pPr>
            <a:r>
              <a:rPr altLang="ar-EG" sz="1800"/>
              <a:t>Data=np.array([ [1,2], [3,2], [4,6], [7,2], [1,4], [9,1] ])</a:t>
            </a:r>
          </a:p>
          <a:p>
            <a:pPr marL="0" indent="0">
              <a:buFont typeface="Wingdings 3" pitchFamily="2" charset="2"/>
              <a:buNone/>
            </a:pPr>
            <a:r>
              <a:rPr altLang="ar-EG" sz="1800"/>
              <a:t>Column1=0</a:t>
            </a:r>
          </a:p>
          <a:p>
            <a:pPr marL="0" indent="0">
              <a:buFont typeface="Wingdings 3" pitchFamily="2" charset="2"/>
              <a:buNone/>
            </a:pPr>
            <a:r>
              <a:rPr altLang="ar-EG" sz="1800"/>
              <a:t>Column2=1</a:t>
            </a:r>
          </a:p>
          <a:p>
            <a:pPr marL="0" indent="0">
              <a:buFont typeface="Wingdings 3" pitchFamily="2" charset="2"/>
              <a:buNone/>
            </a:pPr>
            <a:endParaRPr altLang="ar-EG" sz="1800"/>
          </a:p>
          <a:p>
            <a:pPr marL="0" indent="0">
              <a:buFont typeface="Wingdings 3" pitchFamily="2" charset="2"/>
              <a:buNone/>
            </a:pPr>
            <a:r>
              <a:rPr altLang="ar-EG" sz="1800"/>
              <a:t>for  i in range( len(Data) ):</a:t>
            </a:r>
          </a:p>
          <a:p>
            <a:pPr marL="0" indent="0">
              <a:buFont typeface="Wingdings 3" pitchFamily="2" charset="2"/>
              <a:buNone/>
            </a:pPr>
            <a:r>
              <a:rPr altLang="ar-EG" sz="1800" b="1">
                <a:solidFill>
                  <a:srgbClr val="FFFF00"/>
                </a:solidFill>
              </a:rPr>
              <a:t>    plt.plot( Data[ i ] [Column1] ,  Data[ i ] [Column2]  ,'r.’)          #r. :red</a:t>
            </a:r>
          </a:p>
          <a:p>
            <a:pPr marL="0" indent="0">
              <a:buFont typeface="Wingdings 3" pitchFamily="2" charset="2"/>
              <a:buNone/>
            </a:pPr>
            <a:endParaRPr altLang="ar-EG" sz="1800"/>
          </a:p>
          <a:p>
            <a:pPr marL="0" indent="0">
              <a:buFont typeface="Wingdings 3" pitchFamily="2" charset="2"/>
              <a:buNone/>
            </a:pPr>
            <a:r>
              <a:rPr altLang="ar-EG" sz="1800"/>
              <a:t>plt.show()</a:t>
            </a:r>
          </a:p>
        </p:txBody>
      </p:sp>
      <p:pic>
        <p:nvPicPr>
          <p:cNvPr id="59396" name="Picture 3">
            <a:extLst>
              <a:ext uri="{FF2B5EF4-FFF2-40B4-BE49-F238E27FC236}">
                <a16:creationId xmlns:a16="http://schemas.microsoft.com/office/drawing/2014/main" id="{36738A9D-806F-CA7A-28DD-CE2322CB9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6113" y="304800"/>
            <a:ext cx="4956175" cy="417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0FF60C-B401-4FC4-B97D-DDD0DAD9E25C}"/>
              </a:ext>
            </a:extLst>
          </p:cNvPr>
          <p:cNvSpPr>
            <a:spLocks noGrp="1"/>
          </p:cNvSpPr>
          <p:nvPr>
            <p:ph type="body" sz="quarter" idx="10"/>
          </p:nvPr>
        </p:nvSpPr>
        <p:spPr/>
        <p:txBody>
          <a:bodyPr/>
          <a:lstStyle/>
          <a:p>
            <a:pPr>
              <a:buFont typeface="Wingdings 3" panose="05040102010807070707" pitchFamily="18" charset="2"/>
              <a:buNone/>
              <a:defRPr/>
            </a:pPr>
            <a:r>
              <a:rPr lang="en-US"/>
              <a:t>Bar plot for Data array</a:t>
            </a:r>
          </a:p>
        </p:txBody>
      </p:sp>
      <p:sp>
        <p:nvSpPr>
          <p:cNvPr id="60419" name="Content Placeholder 2">
            <a:extLst>
              <a:ext uri="{FF2B5EF4-FFF2-40B4-BE49-F238E27FC236}">
                <a16:creationId xmlns:a16="http://schemas.microsoft.com/office/drawing/2014/main" id="{95009FC0-4A13-855F-14F7-BBDD78781BAB}"/>
              </a:ext>
            </a:extLst>
          </p:cNvPr>
          <p:cNvSpPr>
            <a:spLocks noGrp="1" noChangeArrowheads="1"/>
          </p:cNvSpPr>
          <p:nvPr>
            <p:ph sz="quarter" idx="11"/>
          </p:nvPr>
        </p:nvSpPr>
        <p:spPr/>
        <p:txBody>
          <a:bodyPr/>
          <a:lstStyle/>
          <a:p>
            <a:pPr marL="0" indent="0">
              <a:buFont typeface="Wingdings 3" pitchFamily="2" charset="2"/>
              <a:buNone/>
            </a:pPr>
            <a:r>
              <a:rPr altLang="ar-EG" sz="1800"/>
              <a:t>import numpy as np</a:t>
            </a:r>
          </a:p>
          <a:p>
            <a:pPr marL="0" indent="0">
              <a:buFont typeface="Wingdings 3" pitchFamily="2" charset="2"/>
              <a:buNone/>
            </a:pPr>
            <a:r>
              <a:rPr altLang="ar-EG" sz="1800"/>
              <a:t>import matplotlib.pyplot as plt</a:t>
            </a:r>
          </a:p>
          <a:p>
            <a:pPr marL="0" indent="0">
              <a:buFont typeface="Wingdings 3" pitchFamily="2" charset="2"/>
              <a:buNone/>
            </a:pPr>
            <a:endParaRPr altLang="ar-EG" sz="1800"/>
          </a:p>
          <a:p>
            <a:pPr marL="0" indent="0">
              <a:buFont typeface="Wingdings 3" pitchFamily="2" charset="2"/>
              <a:buNone/>
            </a:pPr>
            <a:r>
              <a:rPr altLang="ar-EG" sz="1800"/>
              <a:t>Data=np.array([ [1,2], [3,2], [4,6], [7,2], [1,4], [9,1] ])</a:t>
            </a:r>
          </a:p>
          <a:p>
            <a:pPr marL="0" indent="0">
              <a:buFont typeface="Wingdings 3" pitchFamily="2" charset="2"/>
              <a:buNone/>
            </a:pPr>
            <a:r>
              <a:rPr altLang="ar-EG" sz="1800"/>
              <a:t>Column1=0</a:t>
            </a:r>
          </a:p>
          <a:p>
            <a:pPr marL="0" indent="0">
              <a:buFont typeface="Wingdings 3" pitchFamily="2" charset="2"/>
              <a:buNone/>
            </a:pPr>
            <a:r>
              <a:rPr altLang="ar-EG" sz="1800"/>
              <a:t>Column2=1</a:t>
            </a:r>
          </a:p>
          <a:p>
            <a:pPr marL="0" indent="0">
              <a:buFont typeface="Wingdings 3" pitchFamily="2" charset="2"/>
              <a:buNone/>
            </a:pPr>
            <a:r>
              <a:rPr altLang="ar-EG" sz="1800"/>
              <a:t>BarWidth=1/1.5</a:t>
            </a:r>
          </a:p>
          <a:p>
            <a:pPr marL="0" indent="0">
              <a:buFont typeface="Wingdings 3" pitchFamily="2" charset="2"/>
              <a:buNone/>
            </a:pPr>
            <a:r>
              <a:rPr altLang="ar-EG" sz="1800"/>
              <a:t>for  i   in range( len(Data) ):</a:t>
            </a:r>
          </a:p>
          <a:p>
            <a:pPr marL="0" indent="0">
              <a:buFont typeface="Wingdings 3" pitchFamily="2" charset="2"/>
              <a:buNone/>
            </a:pPr>
            <a:r>
              <a:rPr altLang="ar-EG" sz="1800" b="1">
                <a:solidFill>
                  <a:srgbClr val="FFFF00"/>
                </a:solidFill>
              </a:rPr>
              <a:t>	plt.bar( Data[ i ] [Column1] , Data[ i ] [Column2] , BarWidth  , color="blue")</a:t>
            </a:r>
          </a:p>
          <a:p>
            <a:pPr marL="0" indent="0">
              <a:buFont typeface="Wingdings 3" pitchFamily="2" charset="2"/>
              <a:buNone/>
            </a:pPr>
            <a:r>
              <a:rPr altLang="ar-EG" sz="1800"/>
              <a:t>plt.show()</a:t>
            </a:r>
          </a:p>
        </p:txBody>
      </p:sp>
      <p:pic>
        <p:nvPicPr>
          <p:cNvPr id="60420" name="Picture 4">
            <a:extLst>
              <a:ext uri="{FF2B5EF4-FFF2-40B4-BE49-F238E27FC236}">
                <a16:creationId xmlns:a16="http://schemas.microsoft.com/office/drawing/2014/main" id="{45DF4741-F45E-CFFC-7F8A-04AC798B0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7388" y="304800"/>
            <a:ext cx="4914900" cy="413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0CE549-73E2-4049-A25D-500CE2E84F8A}"/>
              </a:ext>
            </a:extLst>
          </p:cNvPr>
          <p:cNvSpPr>
            <a:spLocks noGrp="1"/>
          </p:cNvSpPr>
          <p:nvPr>
            <p:ph type="body" sz="quarter" idx="10"/>
          </p:nvPr>
        </p:nvSpPr>
        <p:spPr/>
        <p:txBody>
          <a:bodyPr/>
          <a:lstStyle/>
          <a:p>
            <a:pPr>
              <a:buFont typeface="Wingdings 3" panose="05040102010807070707" pitchFamily="18" charset="2"/>
              <a:buNone/>
              <a:defRPr/>
            </a:pPr>
            <a:r>
              <a:rPr lang="en-US"/>
              <a:t>Scatter plot for Data</a:t>
            </a:r>
          </a:p>
        </p:txBody>
      </p:sp>
      <p:sp>
        <p:nvSpPr>
          <p:cNvPr id="61443" name="Content Placeholder 2">
            <a:extLst>
              <a:ext uri="{FF2B5EF4-FFF2-40B4-BE49-F238E27FC236}">
                <a16:creationId xmlns:a16="http://schemas.microsoft.com/office/drawing/2014/main" id="{E3CA5511-8DE1-8242-CD8D-E1EFD0140412}"/>
              </a:ext>
            </a:extLst>
          </p:cNvPr>
          <p:cNvSpPr>
            <a:spLocks noGrp="1" noChangeArrowheads="1"/>
          </p:cNvSpPr>
          <p:nvPr>
            <p:ph sz="quarter" idx="11"/>
          </p:nvPr>
        </p:nvSpPr>
        <p:spPr/>
        <p:txBody>
          <a:bodyPr/>
          <a:lstStyle/>
          <a:p>
            <a:pPr marL="0" indent="0">
              <a:buFont typeface="Wingdings 3" pitchFamily="2" charset="2"/>
              <a:buNone/>
            </a:pPr>
            <a:r>
              <a:rPr altLang="ar-EG" sz="1800"/>
              <a:t>import numpy as np</a:t>
            </a:r>
          </a:p>
          <a:p>
            <a:pPr marL="0" indent="0">
              <a:buFont typeface="Wingdings 3" pitchFamily="2" charset="2"/>
              <a:buNone/>
            </a:pPr>
            <a:r>
              <a:rPr altLang="ar-EG" sz="1800"/>
              <a:t>import matplotlib.pyplot as plt</a:t>
            </a:r>
          </a:p>
          <a:p>
            <a:pPr marL="0" indent="0">
              <a:buFont typeface="Wingdings 3" pitchFamily="2" charset="2"/>
              <a:buNone/>
            </a:pPr>
            <a:r>
              <a:rPr altLang="ar-EG" sz="1800"/>
              <a:t>Data=np.array</a:t>
            </a:r>
            <a:r>
              <a:rPr altLang="ar-EG" sz="1800" b="1"/>
              <a:t>([</a:t>
            </a:r>
            <a:r>
              <a:rPr altLang="ar-EG" sz="1800"/>
              <a:t> [1,2], [3,2], [4,6], [7,2], [1,4], [9,1] </a:t>
            </a:r>
            <a:r>
              <a:rPr altLang="ar-EG" sz="1800" b="1"/>
              <a:t>])</a:t>
            </a:r>
          </a:p>
          <a:p>
            <a:pPr marL="0" indent="0">
              <a:buFont typeface="Wingdings 3" pitchFamily="2" charset="2"/>
              <a:buNone/>
            </a:pPr>
            <a:r>
              <a:rPr altLang="ar-EG" sz="1800"/>
              <a:t>Column1=0</a:t>
            </a:r>
          </a:p>
          <a:p>
            <a:pPr marL="0" indent="0">
              <a:buFont typeface="Wingdings 3" pitchFamily="2" charset="2"/>
              <a:buNone/>
            </a:pPr>
            <a:r>
              <a:rPr altLang="ar-EG" sz="1800"/>
              <a:t>Column2=1</a:t>
            </a:r>
          </a:p>
          <a:p>
            <a:pPr marL="0" indent="0">
              <a:buFont typeface="Wingdings 3" pitchFamily="2" charset="2"/>
              <a:buNone/>
            </a:pPr>
            <a:endParaRPr altLang="ar-EG" sz="1800"/>
          </a:p>
          <a:p>
            <a:pPr marL="0" indent="0">
              <a:buFont typeface="Wingdings 3" pitchFamily="2" charset="2"/>
              <a:buNone/>
            </a:pPr>
            <a:r>
              <a:rPr altLang="ar-EG" sz="1800" b="1">
                <a:solidFill>
                  <a:srgbClr val="FFFF00"/>
                </a:solidFill>
              </a:rPr>
              <a:t>plt.scatter( Data[:, Column1] , Data[:, Column2] , marker = "x“ ,  s=150 , linewidths = 5 , zorder = 1)</a:t>
            </a:r>
          </a:p>
          <a:p>
            <a:pPr marL="0" indent="0">
              <a:buFont typeface="Wingdings 3" pitchFamily="2" charset="2"/>
              <a:buNone/>
            </a:pPr>
            <a:r>
              <a:rPr altLang="ar-EG" sz="1800"/>
              <a:t>plt.show()</a:t>
            </a:r>
          </a:p>
          <a:p>
            <a:pPr marL="0" indent="0">
              <a:buFont typeface="Wingdings 3" pitchFamily="2" charset="2"/>
              <a:buNone/>
            </a:pPr>
            <a:endParaRPr altLang="ar-EG" sz="1800"/>
          </a:p>
          <a:p>
            <a:pPr marL="0" indent="0">
              <a:buFont typeface="Wingdings 3" pitchFamily="2" charset="2"/>
              <a:buNone/>
            </a:pPr>
            <a:endParaRPr altLang="ar-EG" sz="1800"/>
          </a:p>
          <a:p>
            <a:pPr marL="0" indent="0">
              <a:buFont typeface="Wingdings 3" pitchFamily="2" charset="2"/>
              <a:buNone/>
            </a:pPr>
            <a:r>
              <a:rPr altLang="ar-EG" sz="1800"/>
              <a:t>#Where s is the size of the marker </a:t>
            </a:r>
          </a:p>
        </p:txBody>
      </p:sp>
      <p:pic>
        <p:nvPicPr>
          <p:cNvPr id="61444" name="Picture 3">
            <a:extLst>
              <a:ext uri="{FF2B5EF4-FFF2-40B4-BE49-F238E27FC236}">
                <a16:creationId xmlns:a16="http://schemas.microsoft.com/office/drawing/2014/main" id="{34DDE4DF-1B76-5877-A14E-48B49E3C5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7163" y="106363"/>
            <a:ext cx="4275137" cy="359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D7D84-86B7-4B01-A007-D554D77ADFBE}"/>
              </a:ext>
            </a:extLst>
          </p:cNvPr>
          <p:cNvSpPr>
            <a:spLocks noGrp="1"/>
          </p:cNvSpPr>
          <p:nvPr>
            <p:ph type="body" sz="quarter" idx="10"/>
          </p:nvPr>
        </p:nvSpPr>
        <p:spPr/>
        <p:txBody>
          <a:bodyPr/>
          <a:lstStyle/>
          <a:p>
            <a:pPr>
              <a:buFont typeface="Wingdings 3" panose="05040102010807070707" pitchFamily="18" charset="2"/>
              <a:buNone/>
              <a:defRPr/>
            </a:pPr>
            <a:r>
              <a:rPr lang="en-US"/>
              <a:t>Calculating Pair Plot Between </a:t>
            </a:r>
            <a:r>
              <a:rPr lang="en-US" u="sng"/>
              <a:t>All</a:t>
            </a:r>
            <a:r>
              <a:rPr lang="en-US"/>
              <a:t> Features</a:t>
            </a:r>
            <a:endParaRPr/>
          </a:p>
        </p:txBody>
      </p:sp>
      <p:sp>
        <p:nvSpPr>
          <p:cNvPr id="62467" name="Content Placeholder 2">
            <a:extLst>
              <a:ext uri="{FF2B5EF4-FFF2-40B4-BE49-F238E27FC236}">
                <a16:creationId xmlns:a16="http://schemas.microsoft.com/office/drawing/2014/main" id="{225D1B47-98FD-608A-A083-3971B6324EE4}"/>
              </a:ext>
            </a:extLst>
          </p:cNvPr>
          <p:cNvSpPr>
            <a:spLocks noGrp="1" noChangeArrowheads="1"/>
          </p:cNvSpPr>
          <p:nvPr>
            <p:ph sz="quarter" idx="11"/>
          </p:nvPr>
        </p:nvSpPr>
        <p:spPr/>
        <p:txBody>
          <a:bodyPr/>
          <a:lstStyle/>
          <a:p>
            <a:pPr marL="0" indent="0">
              <a:buFont typeface="Wingdings 3" pitchFamily="2" charset="2"/>
              <a:buNone/>
            </a:pPr>
            <a:r>
              <a:rPr altLang="ar-EG"/>
              <a:t>import numpy as np</a:t>
            </a:r>
          </a:p>
          <a:p>
            <a:pPr marL="0" indent="0">
              <a:buFont typeface="Wingdings 3" pitchFamily="2" charset="2"/>
              <a:buNone/>
            </a:pPr>
            <a:r>
              <a:rPr altLang="ar-EG"/>
              <a:t>import matplotlib.pyplot as plt</a:t>
            </a:r>
          </a:p>
          <a:p>
            <a:pPr marL="0" indent="0">
              <a:buFont typeface="Wingdings 3" pitchFamily="2" charset="2"/>
              <a:buNone/>
            </a:pPr>
            <a:r>
              <a:rPr altLang="ar-EG"/>
              <a:t>data=np.array</a:t>
            </a:r>
            <a:r>
              <a:rPr altLang="ar-EG" b="1"/>
              <a:t>([</a:t>
            </a:r>
            <a:r>
              <a:rPr altLang="ar-EG"/>
              <a:t> [1,2], [3,2], [4,6], [7,2], [1,4], [9,1] </a:t>
            </a:r>
            <a:r>
              <a:rPr altLang="ar-EG" b="1"/>
              <a:t>])</a:t>
            </a:r>
          </a:p>
          <a:p>
            <a:pPr marL="0" indent="0">
              <a:buFont typeface="Wingdings 3" pitchFamily="2" charset="2"/>
              <a:buNone/>
            </a:pPr>
            <a:endParaRPr altLang="ar-EG"/>
          </a:p>
          <a:p>
            <a:pPr marL="0" indent="0">
              <a:buFont typeface="Wingdings 3" pitchFamily="2" charset="2"/>
              <a:buNone/>
            </a:pPr>
            <a:r>
              <a:rPr altLang="ar-EG"/>
              <a:t>import pandas</a:t>
            </a:r>
          </a:p>
          <a:p>
            <a:pPr marL="0" indent="0">
              <a:buFont typeface="Wingdings 3" pitchFamily="2" charset="2"/>
              <a:buNone/>
            </a:pPr>
            <a:r>
              <a:rPr altLang="ar-EG"/>
              <a:t>df = pandas.DataFrame(Data)</a:t>
            </a:r>
          </a:p>
          <a:p>
            <a:pPr marL="0" indent="0">
              <a:buFont typeface="Wingdings 3" pitchFamily="2" charset="2"/>
              <a:buNone/>
            </a:pPr>
            <a:endParaRPr altLang="ar-EG"/>
          </a:p>
          <a:p>
            <a:pPr marL="0" indent="0">
              <a:buFont typeface="Wingdings 3" pitchFamily="2" charset="2"/>
              <a:buNone/>
            </a:pPr>
            <a:r>
              <a:rPr altLang="ar-EG"/>
              <a:t>#Calculating Pair Plot Between All Features</a:t>
            </a:r>
          </a:p>
          <a:p>
            <a:pPr marL="0" indent="0">
              <a:buFont typeface="Wingdings 3" pitchFamily="2" charset="2"/>
              <a:buNone/>
            </a:pPr>
            <a:r>
              <a:rPr altLang="ar-EG" b="1">
                <a:solidFill>
                  <a:srgbClr val="FFFF00"/>
                </a:solidFill>
              </a:rPr>
              <a:t>seaborn.pairplot(df)</a:t>
            </a:r>
          </a:p>
          <a:p>
            <a:pPr marL="0" indent="0">
              <a:buFont typeface="Wingdings 3" pitchFamily="2" charset="2"/>
              <a:buNone/>
            </a:pPr>
            <a:endParaRPr lang="ar-EG" altLang="ar-EG"/>
          </a:p>
          <a:p>
            <a:pPr marL="0" indent="0">
              <a:buFont typeface="Wingdings 3" pitchFamily="2" charset="2"/>
              <a:buNone/>
            </a:pPr>
            <a:r>
              <a:rPr altLang="ar-EG"/>
              <a:t>plt.show()</a:t>
            </a:r>
            <a:endParaRPr lang="ar-EG" altLang="ar-EG"/>
          </a:p>
        </p:txBody>
      </p:sp>
      <p:pic>
        <p:nvPicPr>
          <p:cNvPr id="62468" name="Picture 3">
            <a:extLst>
              <a:ext uri="{FF2B5EF4-FFF2-40B4-BE49-F238E27FC236}">
                <a16:creationId xmlns:a16="http://schemas.microsoft.com/office/drawing/2014/main" id="{5850733A-DF93-99F8-C416-8AC18361AB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3128963"/>
            <a:ext cx="4095750"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1A686E-54F1-40B8-91FE-23D14C7BAF47}"/>
              </a:ext>
            </a:extLst>
          </p:cNvPr>
          <p:cNvSpPr>
            <a:spLocks noGrp="1"/>
          </p:cNvSpPr>
          <p:nvPr>
            <p:ph type="body" sz="quarter" idx="10"/>
          </p:nvPr>
        </p:nvSpPr>
        <p:spPr/>
        <p:txBody>
          <a:bodyPr/>
          <a:lstStyle/>
          <a:p>
            <a:pPr>
              <a:buFont typeface="Wingdings 3" panose="05040102010807070707" pitchFamily="18" charset="2"/>
              <a:buNone/>
              <a:defRPr/>
            </a:pPr>
            <a:r>
              <a:rPr lang="en-US"/>
              <a:t>Basic commands</a:t>
            </a:r>
            <a:endParaRPr/>
          </a:p>
        </p:txBody>
      </p:sp>
      <p:sp>
        <p:nvSpPr>
          <p:cNvPr id="3" name="Content Placeholder 2">
            <a:extLst>
              <a:ext uri="{FF2B5EF4-FFF2-40B4-BE49-F238E27FC236}">
                <a16:creationId xmlns:a16="http://schemas.microsoft.com/office/drawing/2014/main" id="{A8FC1C78-8FEE-46C4-92C7-B4A7BF4EF225}"/>
              </a:ext>
            </a:extLst>
          </p:cNvPr>
          <p:cNvSpPr>
            <a:spLocks noGrp="1"/>
          </p:cNvSpPr>
          <p:nvPr>
            <p:ph sz="quarter" idx="11"/>
          </p:nvPr>
        </p:nvSpPr>
        <p:spPr>
          <a:xfrm>
            <a:off x="434975" y="1123950"/>
            <a:ext cx="11288713" cy="5395913"/>
          </a:xfrm>
        </p:spPr>
        <p:txBody>
          <a:bodyPr/>
          <a:lstStyle/>
          <a:p>
            <a:pPr marL="0" indent="0">
              <a:buFont typeface="Wingdings 3" panose="05040102010807070707" pitchFamily="18" charset="2"/>
              <a:buNone/>
              <a:defRPr/>
            </a:pPr>
            <a:r>
              <a:rPr sz="1400" b="1"/>
              <a:t>Sort, Filter, group, and Plotting the Data</a:t>
            </a:r>
          </a:p>
          <a:p>
            <a:pPr>
              <a:buFont typeface="Wingdings 3" panose="05040102010807070707" pitchFamily="18" charset="2"/>
              <a:buChar char=""/>
              <a:defRPr/>
            </a:pPr>
            <a:r>
              <a:rPr sz="1400"/>
              <a:t>data = </a:t>
            </a:r>
            <a:r>
              <a:rPr sz="1400" err="1"/>
              <a:t>data.sort_values</a:t>
            </a:r>
            <a:r>
              <a:rPr sz="1400"/>
              <a:t>(by='birthyear</a:t>
            </a:r>
            <a:r>
              <a:rPr lang="ar-EG" sz="1400"/>
              <a:t>’</a:t>
            </a:r>
            <a:r>
              <a:rPr sz="1400"/>
              <a:t>)</a:t>
            </a:r>
            <a:endParaRPr lang="ar-EG" sz="1400"/>
          </a:p>
          <a:p>
            <a:pPr>
              <a:buFont typeface="Wingdings 3" panose="05040102010807070707" pitchFamily="18" charset="2"/>
              <a:buChar char=""/>
              <a:defRPr/>
            </a:pPr>
            <a:r>
              <a:rPr sz="1400"/>
              <a:t>data = data</a:t>
            </a:r>
            <a:r>
              <a:rPr sz="1400" b="1">
                <a:solidFill>
                  <a:srgbClr val="FFFF00"/>
                </a:solidFill>
              </a:rPr>
              <a:t>[</a:t>
            </a:r>
            <a:r>
              <a:rPr sz="1400"/>
              <a:t>(data['birthyear'] &gt;= 1931) &amp; (data['birthyear']&lt;=1999)</a:t>
            </a:r>
            <a:r>
              <a:rPr sz="1400" b="1">
                <a:solidFill>
                  <a:srgbClr val="FFFF00"/>
                </a:solidFill>
              </a:rPr>
              <a:t>]</a:t>
            </a:r>
          </a:p>
          <a:p>
            <a:pPr>
              <a:buFont typeface="Wingdings 3" panose="05040102010807070707" pitchFamily="18" charset="2"/>
              <a:buChar char=""/>
              <a:defRPr/>
            </a:pPr>
            <a:r>
              <a:rPr sz="1400" err="1"/>
              <a:t>groupby_birthyear</a:t>
            </a:r>
            <a:r>
              <a:rPr sz="1400"/>
              <a:t> = </a:t>
            </a:r>
            <a:r>
              <a:rPr sz="1400" err="1"/>
              <a:t>data.groupby</a:t>
            </a:r>
            <a:r>
              <a:rPr sz="1400"/>
              <a:t>('birthyear').size()</a:t>
            </a:r>
          </a:p>
          <a:p>
            <a:pPr>
              <a:buFont typeface="Wingdings 3" panose="05040102010807070707" pitchFamily="18" charset="2"/>
              <a:buChar char=""/>
              <a:defRPr/>
            </a:pPr>
            <a:r>
              <a:rPr sz="1400" err="1"/>
              <a:t>groupby_birthyear.plot.bar</a:t>
            </a:r>
            <a:r>
              <a:rPr sz="1400"/>
              <a:t>(title = 'Distribution of birth years’, </a:t>
            </a:r>
            <a:r>
              <a:rPr sz="1400" err="1"/>
              <a:t>figsize</a:t>
            </a:r>
            <a:r>
              <a:rPr sz="1400"/>
              <a:t> = (15,4))</a:t>
            </a:r>
            <a:endParaRPr lang="ar-EG" sz="1400"/>
          </a:p>
          <a:p>
            <a:pPr>
              <a:buFont typeface="Wingdings 3" panose="05040102010807070707" pitchFamily="18" charset="2"/>
              <a:buChar char=""/>
              <a:defRPr/>
            </a:pPr>
            <a:r>
              <a:rPr sz="1400" err="1"/>
              <a:t>plt.show</a:t>
            </a:r>
            <a:r>
              <a:rPr sz="1400"/>
              <a:t>()</a:t>
            </a:r>
          </a:p>
        </p:txBody>
      </p:sp>
      <p:pic>
        <p:nvPicPr>
          <p:cNvPr id="63492" name="Picture 4">
            <a:extLst>
              <a:ext uri="{FF2B5EF4-FFF2-40B4-BE49-F238E27FC236}">
                <a16:creationId xmlns:a16="http://schemas.microsoft.com/office/drawing/2014/main" id="{B415AA8E-5A17-5C73-C3A8-74F95A484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288" y="3184525"/>
            <a:ext cx="10353675" cy="357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E368FF-C91B-489C-8E39-D4D9B11B45F8}"/>
              </a:ext>
            </a:extLst>
          </p:cNvPr>
          <p:cNvSpPr>
            <a:spLocks noGrp="1"/>
          </p:cNvSpPr>
          <p:nvPr>
            <p:ph type="body" sz="quarter" idx="10"/>
          </p:nvPr>
        </p:nvSpPr>
        <p:spPr/>
        <p:txBody>
          <a:bodyPr/>
          <a:lstStyle/>
          <a:p>
            <a:pPr>
              <a:buFont typeface="Wingdings 3" panose="05040102010807070707" pitchFamily="18" charset="2"/>
              <a:buNone/>
              <a:defRPr/>
            </a:pPr>
            <a:r>
              <a:rPr lang="en-US"/>
              <a:t>Stacked column chart</a:t>
            </a:r>
          </a:p>
        </p:txBody>
      </p:sp>
      <p:sp>
        <p:nvSpPr>
          <p:cNvPr id="64515" name="Content Placeholder 2">
            <a:extLst>
              <a:ext uri="{FF2B5EF4-FFF2-40B4-BE49-F238E27FC236}">
                <a16:creationId xmlns:a16="http://schemas.microsoft.com/office/drawing/2014/main" id="{E0E36E03-0A97-9901-D45B-729F10BEBA8E}"/>
              </a:ext>
            </a:extLst>
          </p:cNvPr>
          <p:cNvSpPr>
            <a:spLocks noGrp="1" noChangeArrowheads="1"/>
          </p:cNvSpPr>
          <p:nvPr>
            <p:ph sz="quarter" idx="11"/>
          </p:nvPr>
        </p:nvSpPr>
        <p:spPr/>
        <p:txBody>
          <a:bodyPr/>
          <a:lstStyle/>
          <a:p>
            <a:pPr marL="0" indent="0">
              <a:buFont typeface="Wingdings 3" pitchFamily="2" charset="2"/>
              <a:buNone/>
            </a:pPr>
            <a:r>
              <a:rPr altLang="ar-EG"/>
              <a:t>data1 = data.groupby(['birthyear', 'gender']).size().</a:t>
            </a:r>
            <a:r>
              <a:rPr altLang="ar-EG" b="1">
                <a:solidFill>
                  <a:srgbClr val="FFFF00"/>
                </a:solidFill>
              </a:rPr>
              <a:t>unstack</a:t>
            </a:r>
            <a:r>
              <a:rPr altLang="ar-EG"/>
              <a:t>('gender').fillna(0)</a:t>
            </a:r>
          </a:p>
          <a:p>
            <a:pPr marL="0" indent="0">
              <a:buFont typeface="Wingdings 3" pitchFamily="2" charset="2"/>
              <a:buNone/>
            </a:pPr>
            <a:r>
              <a:rPr altLang="ar-EG"/>
              <a:t>data1.plot.bar(title ='Distribution of birth years by Gender', </a:t>
            </a:r>
            <a:r>
              <a:rPr altLang="ar-EG" b="1">
                <a:solidFill>
                  <a:srgbClr val="FFFF00"/>
                </a:solidFill>
              </a:rPr>
              <a:t>stacked</a:t>
            </a:r>
            <a:r>
              <a:rPr altLang="ar-EG"/>
              <a:t>=True, figsize = (15,4))</a:t>
            </a:r>
          </a:p>
        </p:txBody>
      </p:sp>
      <p:pic>
        <p:nvPicPr>
          <p:cNvPr id="64516" name="Picture 3">
            <a:extLst>
              <a:ext uri="{FF2B5EF4-FFF2-40B4-BE49-F238E27FC236}">
                <a16:creationId xmlns:a16="http://schemas.microsoft.com/office/drawing/2014/main" id="{0E493195-84A7-CE2B-E185-C6617EEC0E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6463" y="3348038"/>
            <a:ext cx="782955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72E9D1-A6AE-46F1-9C7C-4E9627CA6CA9}"/>
              </a:ext>
            </a:extLst>
          </p:cNvPr>
          <p:cNvSpPr>
            <a:spLocks noGrp="1"/>
          </p:cNvSpPr>
          <p:nvPr>
            <p:ph type="body" sz="quarter" idx="10"/>
          </p:nvPr>
        </p:nvSpPr>
        <p:spPr>
          <a:xfrm>
            <a:off x="352425" y="304800"/>
            <a:ext cx="11371263" cy="819150"/>
          </a:xfrm>
        </p:spPr>
        <p:txBody>
          <a:bodyPr/>
          <a:lstStyle/>
          <a:p>
            <a:pPr>
              <a:buFont typeface="Wingdings 3" panose="05040102010807070707" pitchFamily="18" charset="2"/>
              <a:buNone/>
              <a:defRPr/>
            </a:pPr>
            <a:r>
              <a:rPr lang="en-US"/>
              <a:t>Convert string to </a:t>
            </a:r>
            <a:r>
              <a:rPr lang="en-US" err="1"/>
              <a:t>DateTime</a:t>
            </a:r>
            <a:endParaRPr/>
          </a:p>
        </p:txBody>
      </p:sp>
      <p:sp>
        <p:nvSpPr>
          <p:cNvPr id="3" name="Content Placeholder 2">
            <a:extLst>
              <a:ext uri="{FF2B5EF4-FFF2-40B4-BE49-F238E27FC236}">
                <a16:creationId xmlns:a16="http://schemas.microsoft.com/office/drawing/2014/main" id="{E5A9EFA4-9613-4A6E-9D99-B0242B199F32}"/>
              </a:ext>
            </a:extLst>
          </p:cNvPr>
          <p:cNvSpPr>
            <a:spLocks noGrp="1"/>
          </p:cNvSpPr>
          <p:nvPr>
            <p:ph sz="quarter" idx="11"/>
          </p:nvPr>
        </p:nvSpPr>
        <p:spPr>
          <a:xfrm>
            <a:off x="352425" y="1273175"/>
            <a:ext cx="11590338" cy="5491163"/>
          </a:xfrm>
        </p:spPr>
        <p:txBody>
          <a:bodyPr/>
          <a:lstStyle/>
          <a:p>
            <a:pPr>
              <a:buFont typeface="Wingdings 3" panose="05040102010807070707" pitchFamily="18" charset="2"/>
              <a:buChar char=""/>
              <a:defRPr/>
            </a:pPr>
            <a:endParaRPr/>
          </a:p>
          <a:p>
            <a:pPr marL="0" indent="0">
              <a:buFont typeface="Wingdings 3" panose="05040102010807070707" pitchFamily="18" charset="2"/>
              <a:buNone/>
              <a:defRPr/>
            </a:pPr>
            <a:endParaRPr lang="ar-EG" sz="1800" b="1">
              <a:solidFill>
                <a:srgbClr val="FFFF00"/>
              </a:solidFill>
            </a:endParaRPr>
          </a:p>
          <a:p>
            <a:pPr marL="0" indent="0">
              <a:buFont typeface="Wingdings 3" panose="05040102010807070707" pitchFamily="18" charset="2"/>
              <a:buNone/>
              <a:defRPr/>
            </a:pPr>
            <a:endParaRPr sz="1800" b="1">
              <a:solidFill>
                <a:srgbClr val="FFFF00"/>
              </a:solidFill>
            </a:endParaRPr>
          </a:p>
          <a:p>
            <a:pPr marL="0" indent="0">
              <a:buFont typeface="Wingdings 3" panose="05040102010807070707" pitchFamily="18" charset="2"/>
              <a:buNone/>
              <a:defRPr/>
            </a:pPr>
            <a:endParaRPr sz="1800" b="1">
              <a:solidFill>
                <a:srgbClr val="FFFF00"/>
              </a:solidFill>
            </a:endParaRPr>
          </a:p>
          <a:p>
            <a:pPr marL="0" indent="0">
              <a:buFont typeface="Wingdings 3" panose="05040102010807070707" pitchFamily="18" charset="2"/>
              <a:buNone/>
              <a:defRPr/>
            </a:pPr>
            <a:r>
              <a:rPr sz="1800" b="1">
                <a:solidFill>
                  <a:srgbClr val="FFFF00"/>
                </a:solidFill>
              </a:rPr>
              <a:t>Create new column as date/time</a:t>
            </a:r>
          </a:p>
          <a:p>
            <a:pPr>
              <a:buFont typeface="Wingdings 3" panose="05040102010807070707" pitchFamily="18" charset="2"/>
              <a:buChar char=""/>
              <a:defRPr/>
            </a:pPr>
            <a:r>
              <a:rPr sz="1600"/>
              <a:t>data['StartTime1'] = data['</a:t>
            </a:r>
            <a:r>
              <a:rPr sz="1600" err="1"/>
              <a:t>starttime</a:t>
            </a:r>
            <a:r>
              <a:rPr sz="1600"/>
              <a:t>'].apply(lambda x: </a:t>
            </a:r>
            <a:r>
              <a:rPr sz="1600" err="1"/>
              <a:t>datetime.datetime.strptime</a:t>
            </a:r>
            <a:r>
              <a:rPr sz="1600"/>
              <a:t>(x, "%m/%d/%Y %H:%M") )</a:t>
            </a:r>
          </a:p>
          <a:p>
            <a:pPr marL="0" indent="0">
              <a:buFont typeface="Wingdings 3" panose="05040102010807070707" pitchFamily="18" charset="2"/>
              <a:buNone/>
              <a:defRPr/>
            </a:pPr>
            <a:endParaRPr sz="1800" b="1">
              <a:solidFill>
                <a:srgbClr val="FFFF00"/>
              </a:solidFill>
            </a:endParaRPr>
          </a:p>
          <a:p>
            <a:pPr marL="0" indent="0">
              <a:buFont typeface="Wingdings 3" panose="05040102010807070707" pitchFamily="18" charset="2"/>
              <a:buNone/>
              <a:defRPr/>
            </a:pPr>
            <a:r>
              <a:rPr sz="1800" b="1">
                <a:solidFill>
                  <a:srgbClr val="FFFF00"/>
                </a:solidFill>
              </a:rPr>
              <a:t>Extract Year, Month, Day, and Hour</a:t>
            </a:r>
          </a:p>
          <a:p>
            <a:pPr>
              <a:buFont typeface="Wingdings 3" panose="05040102010807070707" pitchFamily="18" charset="2"/>
              <a:buChar char=""/>
              <a:defRPr/>
            </a:pPr>
            <a:r>
              <a:rPr sz="1800"/>
              <a:t>data['year'] = data['StartTime1'].apply(lambda x: </a:t>
            </a:r>
            <a:r>
              <a:rPr sz="1800" err="1"/>
              <a:t>x.year</a:t>
            </a:r>
            <a:r>
              <a:rPr sz="1800"/>
              <a:t> )</a:t>
            </a:r>
          </a:p>
          <a:p>
            <a:pPr>
              <a:buFont typeface="Wingdings 3" panose="05040102010807070707" pitchFamily="18" charset="2"/>
              <a:buChar char=""/>
              <a:defRPr/>
            </a:pPr>
            <a:r>
              <a:rPr sz="1800"/>
              <a:t>data['month'] = data['StartTime1'].apply(lambda x: </a:t>
            </a:r>
            <a:r>
              <a:rPr sz="1800" err="1"/>
              <a:t>x.month</a:t>
            </a:r>
            <a:r>
              <a:rPr sz="1800"/>
              <a:t> )</a:t>
            </a:r>
          </a:p>
          <a:p>
            <a:pPr>
              <a:buFont typeface="Wingdings 3" panose="05040102010807070707" pitchFamily="18" charset="2"/>
              <a:buChar char=""/>
              <a:defRPr/>
            </a:pPr>
            <a:r>
              <a:rPr sz="1800"/>
              <a:t>data['day'] = data['StartTime1'].apply(lambda x: </a:t>
            </a:r>
            <a:r>
              <a:rPr sz="1800" err="1"/>
              <a:t>x.day</a:t>
            </a:r>
            <a:r>
              <a:rPr sz="1800"/>
              <a:t> )</a:t>
            </a:r>
          </a:p>
          <a:p>
            <a:pPr>
              <a:buFont typeface="Wingdings 3" panose="05040102010807070707" pitchFamily="18" charset="2"/>
              <a:buChar char=""/>
              <a:defRPr/>
            </a:pPr>
            <a:r>
              <a:rPr sz="1800"/>
              <a:t>data['hour'] = data['StartTime1'].apply(lambda x: </a:t>
            </a:r>
            <a:r>
              <a:rPr sz="1800" err="1"/>
              <a:t>x.hour</a:t>
            </a:r>
            <a:r>
              <a:rPr sz="1800"/>
              <a:t> )</a:t>
            </a:r>
          </a:p>
        </p:txBody>
      </p:sp>
      <p:pic>
        <p:nvPicPr>
          <p:cNvPr id="65540" name="Picture 3">
            <a:extLst>
              <a:ext uri="{FF2B5EF4-FFF2-40B4-BE49-F238E27FC236}">
                <a16:creationId xmlns:a16="http://schemas.microsoft.com/office/drawing/2014/main" id="{F4F18BB0-83BC-23C3-D46E-B9EB6E3E2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0550" y="68263"/>
            <a:ext cx="518477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E84B6A-58E2-4F83-9E04-53DE07961619}"/>
              </a:ext>
            </a:extLst>
          </p:cNvPr>
          <p:cNvSpPr>
            <a:spLocks noGrp="1"/>
          </p:cNvSpPr>
          <p:nvPr>
            <p:ph type="body" sz="quarter" idx="10"/>
          </p:nvPr>
        </p:nvSpPr>
        <p:spPr/>
        <p:txBody>
          <a:bodyPr/>
          <a:lstStyle/>
          <a:p>
            <a:pPr>
              <a:buFont typeface="Wingdings 3" panose="05040102010807070707" pitchFamily="18" charset="2"/>
              <a:buNone/>
              <a:defRPr/>
            </a:pPr>
            <a:r>
              <a:rPr lang="en-US" sz="2800"/>
              <a:t>Split String column to create new columns for Year-Month-Day</a:t>
            </a:r>
          </a:p>
        </p:txBody>
      </p:sp>
      <p:sp>
        <p:nvSpPr>
          <p:cNvPr id="66563" name="Content Placeholder 2">
            <a:extLst>
              <a:ext uri="{FF2B5EF4-FFF2-40B4-BE49-F238E27FC236}">
                <a16:creationId xmlns:a16="http://schemas.microsoft.com/office/drawing/2014/main" id="{461763C7-77BC-83EE-EDB1-75EA232E0864}"/>
              </a:ext>
            </a:extLst>
          </p:cNvPr>
          <p:cNvSpPr>
            <a:spLocks noGrp="1" noChangeArrowheads="1"/>
          </p:cNvSpPr>
          <p:nvPr>
            <p:ph sz="quarter" idx="11"/>
          </p:nvPr>
        </p:nvSpPr>
        <p:spPr>
          <a:xfrm>
            <a:off x="434975" y="1317625"/>
            <a:ext cx="10736263" cy="5202238"/>
          </a:xfrm>
        </p:spPr>
        <p:txBody>
          <a:bodyPr/>
          <a:lstStyle/>
          <a:p>
            <a:pPr marL="0" indent="0">
              <a:buFont typeface="Wingdings 3" pitchFamily="2" charset="2"/>
              <a:buNone/>
            </a:pPr>
            <a:r>
              <a:rPr altLang="ar-EG"/>
              <a:t>for index, component in enumerate(['year', 'month', 'day']):</a:t>
            </a:r>
          </a:p>
          <a:p>
            <a:pPr marL="0" indent="0">
              <a:buFont typeface="Wingdings 3" pitchFamily="2" charset="2"/>
              <a:buNone/>
            </a:pPr>
            <a:r>
              <a:rPr lang="it-IT" altLang="ar-EG" sz="1600"/>
              <a:t>       data[component] = data[‘AppointmentRegistration’].apply(lambda x: </a:t>
            </a:r>
            <a:r>
              <a:rPr altLang="ar-EG" sz="1600"/>
              <a:t>int(x.split('T')[0].split('-')[index]))</a:t>
            </a:r>
          </a:p>
          <a:p>
            <a:pPr marL="0" indent="0">
              <a:buFont typeface="Wingdings 3" pitchFamily="2" charset="2"/>
              <a:buNone/>
            </a:pPr>
            <a:endParaRPr altLang="ar-EG" sz="1600"/>
          </a:p>
          <a:p>
            <a:pPr marL="0" indent="0">
              <a:buFont typeface="Wingdings 3" pitchFamily="2" charset="2"/>
              <a:buNone/>
            </a:pPr>
            <a:r>
              <a:rPr altLang="ar-EG" sz="1600" b="1"/>
              <a:t>OR</a:t>
            </a:r>
          </a:p>
          <a:p>
            <a:pPr marL="0" indent="0">
              <a:buFont typeface="Wingdings 3" pitchFamily="2" charset="2"/>
              <a:buNone/>
            </a:pPr>
            <a:r>
              <a:rPr lang="it-IT" altLang="ar-EG" sz="1600"/>
              <a:t>data[‘year’] = data[‘AppointmentRegistration’].apply(lambda x: </a:t>
            </a:r>
            <a:r>
              <a:rPr altLang="ar-EG" sz="1600"/>
              <a:t>int(x.split('T')[0].split('-’)[0]))</a:t>
            </a:r>
          </a:p>
          <a:p>
            <a:pPr marL="0" indent="0">
              <a:buFont typeface="Wingdings 3" pitchFamily="2" charset="2"/>
              <a:buNone/>
            </a:pPr>
            <a:r>
              <a:rPr lang="it-IT" altLang="ar-EG" sz="1600"/>
              <a:t>data[‘month’] = data[‘AppointmentRegistration’].apply(lambda x: </a:t>
            </a:r>
            <a:r>
              <a:rPr altLang="ar-EG" sz="1600"/>
              <a:t>int(x.split('T')[0].split('-’)[1]))</a:t>
            </a:r>
          </a:p>
          <a:p>
            <a:pPr marL="0" indent="0">
              <a:buFont typeface="Wingdings 3" pitchFamily="2" charset="2"/>
              <a:buNone/>
            </a:pPr>
            <a:r>
              <a:rPr lang="it-IT" altLang="ar-EG" sz="1600"/>
              <a:t>data[‘day’] = data[‘AppointmentRegistration’].apply(lambda x: </a:t>
            </a:r>
            <a:r>
              <a:rPr altLang="ar-EG" sz="1600"/>
              <a:t>int(x.split('T')[0].split('-’)[2]))</a:t>
            </a:r>
          </a:p>
          <a:p>
            <a:pPr marL="0" indent="0">
              <a:buFont typeface="Wingdings 3" pitchFamily="2" charset="2"/>
              <a:buNone/>
            </a:pPr>
            <a:endParaRPr altLang="ar-EG" sz="1600"/>
          </a:p>
          <a:p>
            <a:pPr marL="0" indent="0">
              <a:buFont typeface="Wingdings 3" pitchFamily="2" charset="2"/>
              <a:buNone/>
            </a:pPr>
            <a:endParaRPr altLang="ar-EG" sz="1600"/>
          </a:p>
          <a:p>
            <a:pPr marL="0" indent="0">
              <a:buFont typeface="Wingdings 3" pitchFamily="2" charset="2"/>
              <a:buNone/>
            </a:pPr>
            <a:r>
              <a:rPr altLang="ar-EG" sz="1600"/>
              <a:t>Notes </a:t>
            </a:r>
          </a:p>
          <a:p>
            <a:pPr marL="0" indent="0">
              <a:buFont typeface="Wingdings 3" pitchFamily="2" charset="2"/>
              <a:buNone/>
            </a:pPr>
            <a:r>
              <a:rPr altLang="ar-EG" sz="1600"/>
              <a:t> ‘abcde’[0:2]   </a:t>
            </a:r>
            <a:r>
              <a:rPr altLang="ar-EG" sz="1600">
                <a:sym typeface="Wingdings" pitchFamily="2" charset="2"/>
              </a:rPr>
              <a:t>  ‘ab’</a:t>
            </a:r>
          </a:p>
          <a:p>
            <a:pPr marL="0" indent="0">
              <a:buFont typeface="Wingdings 3" pitchFamily="2" charset="2"/>
              <a:buNone/>
            </a:pPr>
            <a:r>
              <a:rPr altLang="ar-EG" sz="1600"/>
              <a:t> ‘abcde’[:2]   </a:t>
            </a:r>
            <a:r>
              <a:rPr altLang="ar-EG" sz="1600">
                <a:sym typeface="Wingdings" pitchFamily="2" charset="2"/>
              </a:rPr>
              <a:t>  ‘ab’</a:t>
            </a:r>
          </a:p>
          <a:p>
            <a:pPr marL="0" indent="0">
              <a:buFont typeface="Wingdings 3" pitchFamily="2" charset="2"/>
              <a:buNone/>
            </a:pPr>
            <a:r>
              <a:rPr altLang="ar-EG" sz="1600"/>
              <a:t> ‘abcde’[:-1]   </a:t>
            </a:r>
            <a:r>
              <a:rPr altLang="ar-EG" sz="1600">
                <a:sym typeface="Wingdings" pitchFamily="2" charset="2"/>
              </a:rPr>
              <a:t>  ‘abcd’</a:t>
            </a:r>
            <a:endParaRPr altLang="ar-EG" sz="1600"/>
          </a:p>
          <a:p>
            <a:pPr marL="0" indent="0">
              <a:buFont typeface="Wingdings 3" pitchFamily="2" charset="2"/>
              <a:buNone/>
            </a:pPr>
            <a:endParaRPr altLang="ar-EG" sz="1600"/>
          </a:p>
          <a:p>
            <a:pPr marL="0" indent="0">
              <a:buFont typeface="Wingdings 3" pitchFamily="2" charset="2"/>
              <a:buNone/>
            </a:pPr>
            <a:endParaRPr altLang="ar-EG" sz="1600"/>
          </a:p>
          <a:p>
            <a:pPr marL="0" indent="0">
              <a:buFont typeface="Wingdings 3" pitchFamily="2" charset="2"/>
              <a:buNone/>
            </a:pPr>
            <a:endParaRPr altLang="ar-EG" sz="1600"/>
          </a:p>
        </p:txBody>
      </p:sp>
      <p:pic>
        <p:nvPicPr>
          <p:cNvPr id="66564" name="Picture 3">
            <a:extLst>
              <a:ext uri="{FF2B5EF4-FFF2-40B4-BE49-F238E27FC236}">
                <a16:creationId xmlns:a16="http://schemas.microsoft.com/office/drawing/2014/main" id="{3B8A0A26-8ABE-7D11-A7B3-2B09B84CE7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06" t="4289" r="77606" b="4214"/>
          <a:stretch>
            <a:fillRect/>
          </a:stretch>
        </p:blipFill>
        <p:spPr bwMode="auto">
          <a:xfrm>
            <a:off x="9637713" y="3746500"/>
            <a:ext cx="2460625" cy="30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58EC68-2CBF-4B4F-8E00-E4D43E99D015}"/>
              </a:ext>
            </a:extLst>
          </p:cNvPr>
          <p:cNvSpPr>
            <a:spLocks noGrp="1"/>
          </p:cNvSpPr>
          <p:nvPr>
            <p:ph type="body" sz="quarter" idx="10"/>
          </p:nvPr>
        </p:nvSpPr>
        <p:spPr>
          <a:xfrm>
            <a:off x="434975" y="166688"/>
            <a:ext cx="11266488" cy="727075"/>
          </a:xfrm>
        </p:spPr>
        <p:txBody>
          <a:bodyPr/>
          <a:lstStyle/>
          <a:p>
            <a:pPr>
              <a:buFont typeface="Wingdings 3" panose="05040102010807070707" pitchFamily="18" charset="2"/>
              <a:buNone/>
              <a:defRPr/>
            </a:pPr>
            <a:r>
              <a:rPr lang="en-US"/>
              <a:t>Concepts</a:t>
            </a:r>
          </a:p>
        </p:txBody>
      </p:sp>
      <p:sp>
        <p:nvSpPr>
          <p:cNvPr id="67587" name="Content Placeholder 2">
            <a:extLst>
              <a:ext uri="{FF2B5EF4-FFF2-40B4-BE49-F238E27FC236}">
                <a16:creationId xmlns:a16="http://schemas.microsoft.com/office/drawing/2014/main" id="{3259B27E-E6A1-CBD2-26E2-BB14FF77FF32}"/>
              </a:ext>
            </a:extLst>
          </p:cNvPr>
          <p:cNvSpPr>
            <a:spLocks noGrp="1" noChangeArrowheads="1"/>
          </p:cNvSpPr>
          <p:nvPr>
            <p:ph sz="quarter" idx="11"/>
          </p:nvPr>
        </p:nvSpPr>
        <p:spPr>
          <a:xfrm>
            <a:off x="434975" y="1130300"/>
            <a:ext cx="8147050" cy="5389563"/>
          </a:xfrm>
        </p:spPr>
        <p:txBody>
          <a:bodyPr/>
          <a:lstStyle/>
          <a:p>
            <a:r>
              <a:rPr altLang="ar-EG" sz="1600" b="1"/>
              <a:t>Mean</a:t>
            </a:r>
            <a:r>
              <a:rPr altLang="ar-EG" sz="1600"/>
              <a:t> : Average</a:t>
            </a:r>
          </a:p>
          <a:p>
            <a:r>
              <a:rPr altLang="ar-EG" sz="1600" b="1"/>
              <a:t>Median</a:t>
            </a:r>
            <a:r>
              <a:rPr altLang="ar-EG" sz="1600"/>
              <a:t>: When the frequency of observations in the data is odd, the middle data point is returned as the median.</a:t>
            </a:r>
          </a:p>
          <a:p>
            <a:r>
              <a:rPr altLang="ar-EG" sz="1600" b="1"/>
              <a:t>Mode</a:t>
            </a:r>
            <a:r>
              <a:rPr altLang="ar-EG" sz="1600"/>
              <a:t>: returns the observation in the dataset with the highest frequency.</a:t>
            </a:r>
          </a:p>
          <a:p>
            <a:r>
              <a:rPr altLang="ar-EG" sz="1600" b="1"/>
              <a:t>Variance:</a:t>
            </a:r>
            <a:r>
              <a:rPr altLang="ar-EG" sz="1600"/>
              <a:t> represents variability of data points about the mean.</a:t>
            </a:r>
          </a:p>
          <a:p>
            <a:r>
              <a:rPr altLang="ar-EG" sz="1600" b="1"/>
              <a:t> Standard deviation:</a:t>
            </a:r>
            <a:r>
              <a:rPr altLang="ar-EG" sz="1600"/>
              <a:t> just like variance, also captures the spread of data along the mean. The only difference is that it is a square root of the variance.</a:t>
            </a:r>
          </a:p>
          <a:p>
            <a:r>
              <a:rPr altLang="ar-EG" sz="1600" b="1"/>
              <a:t>Normal distribution (Gaussian distribution):</a:t>
            </a:r>
            <a:r>
              <a:rPr altLang="ar-EG" sz="1600"/>
              <a:t> the mean lies at the center of this distribution with a spread (i.e., standard deviation) around it. Some 68% of the observations lie within 1 standard deviation from the mean; 95% of the observations lie within 2 standard deviations from the mean, whereas 99.7% of the observations lie within 3 standard deviations from the mean.</a:t>
            </a:r>
          </a:p>
          <a:p>
            <a:r>
              <a:rPr altLang="ar-EG" sz="1600" b="1"/>
              <a:t>Outliers:</a:t>
            </a:r>
            <a:r>
              <a:rPr altLang="ar-EG" sz="1600"/>
              <a:t> refer to the values distinct from majority of the observations. These occur either naturally, due to equipment failure, or because of entry mistakes.</a:t>
            </a:r>
            <a:br>
              <a:rPr altLang="ar-EG" sz="1600"/>
            </a:br>
            <a:endParaRPr altLang="ar-EG" sz="1600"/>
          </a:p>
        </p:txBody>
      </p:sp>
      <p:grpSp>
        <p:nvGrpSpPr>
          <p:cNvPr id="67588" name="Group 11">
            <a:extLst>
              <a:ext uri="{FF2B5EF4-FFF2-40B4-BE49-F238E27FC236}">
                <a16:creationId xmlns:a16="http://schemas.microsoft.com/office/drawing/2014/main" id="{D21457EE-3FB1-36C8-28C0-41E65CC075D4}"/>
              </a:ext>
            </a:extLst>
          </p:cNvPr>
          <p:cNvGrpSpPr>
            <a:grpSpLocks/>
          </p:cNvGrpSpPr>
          <p:nvPr/>
        </p:nvGrpSpPr>
        <p:grpSpPr bwMode="auto">
          <a:xfrm>
            <a:off x="8582025" y="1130300"/>
            <a:ext cx="3371850" cy="3197225"/>
            <a:chOff x="8709666" y="3287822"/>
            <a:chExt cx="3371850" cy="3196872"/>
          </a:xfrm>
        </p:grpSpPr>
        <p:pic>
          <p:nvPicPr>
            <p:cNvPr id="67590" name="Picture 5">
              <a:extLst>
                <a:ext uri="{FF2B5EF4-FFF2-40B4-BE49-F238E27FC236}">
                  <a16:creationId xmlns:a16="http://schemas.microsoft.com/office/drawing/2014/main" id="{7B8EF803-1219-CF5C-2376-CB3503B742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9666" y="4932119"/>
              <a:ext cx="33718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1" name="Picture 8">
              <a:extLst>
                <a:ext uri="{FF2B5EF4-FFF2-40B4-BE49-F238E27FC236}">
                  <a16:creationId xmlns:a16="http://schemas.microsoft.com/office/drawing/2014/main" id="{FEC1C8FD-FA25-2410-1CF4-22E3DDB53D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9666" y="3287822"/>
              <a:ext cx="3371850" cy="1644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7589" name="Picture 10">
            <a:extLst>
              <a:ext uri="{FF2B5EF4-FFF2-40B4-BE49-F238E27FC236}">
                <a16:creationId xmlns:a16="http://schemas.microsoft.com/office/drawing/2014/main" id="{3C72CC84-4219-BBC7-CF9D-17C7B24A29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2025" y="5094288"/>
            <a:ext cx="3371850"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B713AE-ED11-457A-8E81-C43B92A39A53}"/>
              </a:ext>
            </a:extLst>
          </p:cNvPr>
          <p:cNvSpPr>
            <a:spLocks noGrp="1"/>
          </p:cNvSpPr>
          <p:nvPr>
            <p:ph type="body" sz="quarter" idx="10"/>
          </p:nvPr>
        </p:nvSpPr>
        <p:spPr/>
        <p:txBody>
          <a:bodyPr/>
          <a:lstStyle/>
          <a:p>
            <a:pPr>
              <a:buFont typeface="Wingdings 3" panose="05040102010807070707" pitchFamily="18" charset="2"/>
              <a:buNone/>
              <a:defRPr/>
            </a:pPr>
            <a:r>
              <a:rPr lang="en-US"/>
              <a:t>Plot mean</a:t>
            </a:r>
            <a:endParaRPr/>
          </a:p>
        </p:txBody>
      </p:sp>
      <p:sp>
        <p:nvSpPr>
          <p:cNvPr id="3" name="Content Placeholder 2">
            <a:extLst>
              <a:ext uri="{FF2B5EF4-FFF2-40B4-BE49-F238E27FC236}">
                <a16:creationId xmlns:a16="http://schemas.microsoft.com/office/drawing/2014/main" id="{F179DCD9-AA21-4893-9DAB-C8CDF208394E}"/>
              </a:ext>
            </a:extLst>
          </p:cNvPr>
          <p:cNvSpPr>
            <a:spLocks noGrp="1"/>
          </p:cNvSpPr>
          <p:nvPr>
            <p:ph sz="quarter" idx="11"/>
          </p:nvPr>
        </p:nvSpPr>
        <p:spPr/>
        <p:txBody>
          <a:bodyPr/>
          <a:lstStyle/>
          <a:p>
            <a:pPr marL="0" indent="0">
              <a:buFont typeface="Wingdings 3" panose="05040102010807070707" pitchFamily="18" charset="2"/>
              <a:buNone/>
              <a:defRPr/>
            </a:pPr>
            <a:r>
              <a:rPr b="1">
                <a:solidFill>
                  <a:srgbClr val="FFFF00"/>
                </a:solidFill>
              </a:rPr>
              <a:t>Draw mean of ‘</a:t>
            </a:r>
            <a:r>
              <a:rPr b="1" err="1">
                <a:solidFill>
                  <a:srgbClr val="FFFF00"/>
                </a:solidFill>
              </a:rPr>
              <a:t>TripDuration</a:t>
            </a:r>
            <a:r>
              <a:rPr b="1">
                <a:solidFill>
                  <a:srgbClr val="FFFF00"/>
                </a:solidFill>
              </a:rPr>
              <a:t>’ group by ‘</a:t>
            </a:r>
            <a:r>
              <a:rPr b="1" err="1">
                <a:solidFill>
                  <a:srgbClr val="FFFF00"/>
                </a:solidFill>
              </a:rPr>
              <a:t>StartTime_date</a:t>
            </a:r>
            <a:r>
              <a:rPr b="1">
                <a:solidFill>
                  <a:srgbClr val="FFFF00"/>
                </a:solidFill>
              </a:rPr>
              <a:t>’</a:t>
            </a:r>
          </a:p>
          <a:p>
            <a:pPr>
              <a:buFont typeface="Wingdings 3" panose="05040102010807070707" pitchFamily="18" charset="2"/>
              <a:buChar char=""/>
              <a:defRPr/>
            </a:pPr>
            <a:r>
              <a:rPr err="1"/>
              <a:t>data.groupby</a:t>
            </a:r>
            <a:r>
              <a:t>('</a:t>
            </a:r>
            <a:r>
              <a:rPr err="1"/>
              <a:t>starttime_date</a:t>
            </a:r>
            <a:r>
              <a:t>')['</a:t>
            </a:r>
            <a:r>
              <a:rPr err="1"/>
              <a:t>tripduration</a:t>
            </a:r>
            <a:r>
              <a:t>'].mean()</a:t>
            </a:r>
            <a:br>
              <a:rPr/>
            </a:br>
            <a:r>
              <a:t>    .</a:t>
            </a:r>
            <a:r>
              <a:rPr err="1"/>
              <a:t>plot.bar</a:t>
            </a:r>
            <a:r>
              <a:t>(title = 'Distribution of Trip duration by date', </a:t>
            </a:r>
            <a:r>
              <a:rPr err="1"/>
              <a:t>figsize</a:t>
            </a:r>
            <a:r>
              <a:t> = (15,4))</a:t>
            </a:r>
          </a:p>
          <a:p>
            <a:pPr>
              <a:buFont typeface="Wingdings 3" panose="05040102010807070707" pitchFamily="18" charset="2"/>
              <a:buChar char=""/>
              <a:defRPr/>
            </a:pPr>
            <a:endParaRPr/>
          </a:p>
          <a:p>
            <a:pPr>
              <a:buFont typeface="Wingdings 3" panose="05040102010807070707" pitchFamily="18" charset="2"/>
              <a:buChar char=""/>
              <a:defRPr/>
            </a:pPr>
            <a:endParaRPr/>
          </a:p>
          <a:p>
            <a:pPr marL="0" indent="0">
              <a:buFont typeface="Wingdings 3" panose="05040102010807070707" pitchFamily="18" charset="2"/>
              <a:buNone/>
              <a:defRPr/>
            </a:pPr>
            <a:r>
              <a:rPr b="1">
                <a:solidFill>
                  <a:srgbClr val="FFFF00"/>
                </a:solidFill>
              </a:rPr>
              <a:t>Calculate Mean, Standard deviation, Median</a:t>
            </a:r>
          </a:p>
          <a:p>
            <a:pPr>
              <a:buFont typeface="Wingdings 3" panose="05040102010807070707" pitchFamily="18" charset="2"/>
              <a:buChar char=""/>
              <a:defRPr/>
            </a:pPr>
            <a:r>
              <a:t>print data['</a:t>
            </a:r>
            <a:r>
              <a:rPr err="1"/>
              <a:t>tripduration_mean</a:t>
            </a:r>
            <a:r>
              <a:t>'].mean()</a:t>
            </a:r>
          </a:p>
          <a:p>
            <a:pPr>
              <a:buFont typeface="Wingdings 3" panose="05040102010807070707" pitchFamily="18" charset="2"/>
              <a:buChar char=""/>
              <a:defRPr/>
            </a:pPr>
            <a:r>
              <a:t>print data['</a:t>
            </a:r>
            <a:r>
              <a:rPr err="1"/>
              <a:t>tripduration_mean</a:t>
            </a:r>
            <a:r>
              <a:t>'].</a:t>
            </a:r>
            <a:r>
              <a:rPr err="1"/>
              <a:t>std</a:t>
            </a:r>
            <a:r>
              <a:t>()</a:t>
            </a:r>
          </a:p>
          <a:p>
            <a:pPr>
              <a:buFont typeface="Wingdings 3" panose="05040102010807070707" pitchFamily="18" charset="2"/>
              <a:buChar char=""/>
              <a:defRPr/>
            </a:pPr>
            <a:r>
              <a:t>print data['</a:t>
            </a:r>
            <a:r>
              <a:rPr err="1"/>
              <a:t>tripduration_mean</a:t>
            </a:r>
            <a:r>
              <a:t>'].median()</a:t>
            </a:r>
          </a:p>
        </p:txBody>
      </p:sp>
      <p:pic>
        <p:nvPicPr>
          <p:cNvPr id="68612" name="Picture 3">
            <a:extLst>
              <a:ext uri="{FF2B5EF4-FFF2-40B4-BE49-F238E27FC236}">
                <a16:creationId xmlns:a16="http://schemas.microsoft.com/office/drawing/2014/main" id="{BA0D89C6-8A63-80D5-0B8C-F264F1B550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7200" y="1222375"/>
            <a:ext cx="2767013" cy="211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3F04B7-E2AA-472E-AC8F-CCD34A6EE012}"/>
              </a:ext>
            </a:extLst>
          </p:cNvPr>
          <p:cNvSpPr>
            <a:spLocks noGrp="1"/>
          </p:cNvSpPr>
          <p:nvPr>
            <p:ph type="body" sz="quarter" idx="10"/>
          </p:nvPr>
        </p:nvSpPr>
        <p:spPr/>
        <p:txBody>
          <a:bodyPr/>
          <a:lstStyle/>
          <a:p>
            <a:pPr>
              <a:buFont typeface="Wingdings 3" panose="05040102010807070707" pitchFamily="18" charset="2"/>
              <a:buNone/>
              <a:defRPr/>
            </a:pPr>
            <a:r>
              <a:rPr lang="en-US"/>
              <a:t>Seasonal pattern vs Cyclic Pattern vs Trend</a:t>
            </a:r>
            <a:endParaRPr/>
          </a:p>
        </p:txBody>
      </p:sp>
      <p:sp>
        <p:nvSpPr>
          <p:cNvPr id="69635" name="Content Placeholder 2">
            <a:extLst>
              <a:ext uri="{FF2B5EF4-FFF2-40B4-BE49-F238E27FC236}">
                <a16:creationId xmlns:a16="http://schemas.microsoft.com/office/drawing/2014/main" id="{FFF25A4D-6281-BB24-7726-A97FF367B39A}"/>
              </a:ext>
            </a:extLst>
          </p:cNvPr>
          <p:cNvSpPr>
            <a:spLocks noGrp="1" noChangeArrowheads="1"/>
          </p:cNvSpPr>
          <p:nvPr>
            <p:ph sz="quarter" idx="11"/>
          </p:nvPr>
        </p:nvSpPr>
        <p:spPr/>
        <p:txBody>
          <a:bodyPr/>
          <a:lstStyle/>
          <a:p>
            <a:r>
              <a:rPr altLang="ar-EG" sz="1800"/>
              <a:t>Seasonal: pattern over fixed period, like monthly pattern</a:t>
            </a:r>
          </a:p>
          <a:p>
            <a:r>
              <a:rPr altLang="ar-EG" sz="1800"/>
              <a:t>Cycle: pattern overall without worry about periods, to check</a:t>
            </a:r>
            <a:br>
              <a:rPr altLang="ar-EG" sz="1800"/>
            </a:br>
            <a:r>
              <a:rPr altLang="ar-EG" sz="1800"/>
              <a:t>if patterns repeat over non-periodic time cycles.</a:t>
            </a:r>
          </a:p>
          <a:p>
            <a:r>
              <a:rPr altLang="ar-EG" sz="1800"/>
              <a:t>Trend: In</a:t>
            </a:r>
            <a:r>
              <a:rPr altLang="ar-EG"/>
              <a:t> </a:t>
            </a:r>
            <a:r>
              <a:rPr altLang="ar-EG" sz="1800"/>
              <a:t>long-term does the continuous variable increase/decrease</a:t>
            </a:r>
            <a:endParaRPr lang="ar-EG" altLang="ar-EG" sz="1800"/>
          </a:p>
        </p:txBody>
      </p:sp>
      <p:pic>
        <p:nvPicPr>
          <p:cNvPr id="69636" name="Picture 3">
            <a:extLst>
              <a:ext uri="{FF2B5EF4-FFF2-40B4-BE49-F238E27FC236}">
                <a16:creationId xmlns:a16="http://schemas.microsoft.com/office/drawing/2014/main" id="{98741320-A12F-09CD-43A5-610A9B72B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2788" y="4506913"/>
            <a:ext cx="3390900"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4">
            <a:extLst>
              <a:ext uri="{FF2B5EF4-FFF2-40B4-BE49-F238E27FC236}">
                <a16:creationId xmlns:a16="http://schemas.microsoft.com/office/drawing/2014/main" id="{501FF3A0-0710-E7A7-68C6-6E7AB3768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4506913"/>
            <a:ext cx="3390900"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5">
            <a:extLst>
              <a:ext uri="{FF2B5EF4-FFF2-40B4-BE49-F238E27FC236}">
                <a16:creationId xmlns:a16="http://schemas.microsoft.com/office/drawing/2014/main" id="{45FC4405-B462-1033-3688-BB88078D32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4506913"/>
            <a:ext cx="3548063"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F6AB3DC3-2039-4CD6-9EDB-161D0D4D309C}"/>
              </a:ext>
            </a:extLst>
          </p:cNvPr>
          <p:cNvSpPr txBox="1"/>
          <p:nvPr/>
        </p:nvSpPr>
        <p:spPr>
          <a:xfrm>
            <a:off x="927100" y="4052888"/>
            <a:ext cx="10564813" cy="922337"/>
          </a:xfrm>
          <a:prstGeom prst="rect">
            <a:avLst/>
          </a:prstGeom>
          <a:noFill/>
        </p:spPr>
        <p:txBody>
          <a:bodyPr rtlCol="1">
            <a:spAutoFit/>
          </a:bodyPr>
          <a:lstStyle/>
          <a:p>
            <a:pPr>
              <a:defRPr/>
            </a:pPr>
            <a:r>
              <a:rPr lang="en-US" b="1" dirty="0">
                <a:solidFill>
                  <a:schemeClr val="accent6"/>
                </a:solidFill>
              </a:rPr>
              <a:t>Seasonal pattern					     Cycle pattern					      Trend</a:t>
            </a:r>
            <a:endParaRPr lang="ar-EG" b="1" dirty="0">
              <a:solidFill>
                <a:schemeClr val="accent6"/>
              </a:solidFill>
            </a:endParaRPr>
          </a:p>
          <a:p>
            <a:pPr>
              <a:defRPr/>
            </a:pPr>
            <a:endParaRPr lang="ar-EG" b="1" dirty="0">
              <a:solidFill>
                <a:schemeClr val="accent6"/>
              </a:solidFill>
            </a:endParaRPr>
          </a:p>
          <a:p>
            <a:pPr>
              <a:defRPr/>
            </a:pPr>
            <a:endParaRPr lang="ar-EG" b="1" dirty="0">
              <a:solidFill>
                <a:schemeClr val="accent6"/>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CBDCF4-708A-4AAB-9160-14727B2FC4BB}"/>
              </a:ext>
            </a:extLst>
          </p:cNvPr>
          <p:cNvSpPr>
            <a:spLocks noGrp="1"/>
          </p:cNvSpPr>
          <p:nvPr>
            <p:ph type="body" sz="quarter" idx="10"/>
          </p:nvPr>
        </p:nvSpPr>
        <p:spPr/>
        <p:txBody>
          <a:bodyPr/>
          <a:lstStyle/>
          <a:p>
            <a:pPr>
              <a:buFont typeface="Wingdings 3" panose="05040102010807070707" pitchFamily="18" charset="2"/>
              <a:buNone/>
              <a:defRPr/>
            </a:pPr>
            <a:r>
              <a:rPr lang="en-US"/>
              <a:t>Correlation directions</a:t>
            </a:r>
            <a:endParaRPr/>
          </a:p>
        </p:txBody>
      </p:sp>
      <p:sp>
        <p:nvSpPr>
          <p:cNvPr id="70659" name="Content Placeholder 2">
            <a:extLst>
              <a:ext uri="{FF2B5EF4-FFF2-40B4-BE49-F238E27FC236}">
                <a16:creationId xmlns:a16="http://schemas.microsoft.com/office/drawing/2014/main" id="{1C49C8FB-1C87-99FA-85FB-088D888F0AFD}"/>
              </a:ext>
            </a:extLst>
          </p:cNvPr>
          <p:cNvSpPr>
            <a:spLocks noGrp="1" noChangeArrowheads="1"/>
          </p:cNvSpPr>
          <p:nvPr>
            <p:ph sz="quarter" idx="11"/>
          </p:nvPr>
        </p:nvSpPr>
        <p:spPr/>
        <p:txBody>
          <a:bodyPr/>
          <a:lstStyle/>
          <a:p>
            <a:endParaRPr lang="ar-EG" altLang="ar-EG"/>
          </a:p>
        </p:txBody>
      </p:sp>
      <p:pic>
        <p:nvPicPr>
          <p:cNvPr id="70660" name="Picture 3">
            <a:extLst>
              <a:ext uri="{FF2B5EF4-FFF2-40B4-BE49-F238E27FC236}">
                <a16:creationId xmlns:a16="http://schemas.microsoft.com/office/drawing/2014/main" id="{6E0030D8-C295-C18F-E0FD-5F583CA90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06638"/>
            <a:ext cx="11268075" cy="421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D53985-FCC6-49D7-928B-AC85E97168CE}"/>
              </a:ext>
            </a:extLst>
          </p:cNvPr>
          <p:cNvSpPr>
            <a:spLocks noGrp="1"/>
          </p:cNvSpPr>
          <p:nvPr>
            <p:ph type="body" sz="quarter" idx="10"/>
          </p:nvPr>
        </p:nvSpPr>
        <p:spPr/>
        <p:txBody>
          <a:bodyPr/>
          <a:lstStyle/>
          <a:p>
            <a:pPr>
              <a:buFont typeface="Wingdings 3" panose="05040102010807070707" pitchFamily="18" charset="2"/>
              <a:buNone/>
              <a:defRPr/>
            </a:pPr>
            <a:r>
              <a:rPr lang="en-US"/>
              <a:t>Calculate the correlation </a:t>
            </a:r>
            <a:endParaRPr/>
          </a:p>
        </p:txBody>
      </p:sp>
      <p:sp>
        <p:nvSpPr>
          <p:cNvPr id="71683" name="Content Placeholder 2">
            <a:extLst>
              <a:ext uri="{FF2B5EF4-FFF2-40B4-BE49-F238E27FC236}">
                <a16:creationId xmlns:a16="http://schemas.microsoft.com/office/drawing/2014/main" id="{DBD6F87F-D4EC-3180-6BBD-A251FA01B506}"/>
              </a:ext>
            </a:extLst>
          </p:cNvPr>
          <p:cNvSpPr>
            <a:spLocks noGrp="1" noChangeArrowheads="1"/>
          </p:cNvSpPr>
          <p:nvPr>
            <p:ph sz="quarter" idx="11"/>
          </p:nvPr>
        </p:nvSpPr>
        <p:spPr/>
        <p:txBody>
          <a:bodyPr/>
          <a:lstStyle/>
          <a:p>
            <a:r>
              <a:rPr altLang="ar-EG"/>
              <a:t>pd.set_option('precision', 3)</a:t>
            </a:r>
          </a:p>
          <a:p>
            <a:r>
              <a:rPr altLang="ar-EG"/>
              <a:t>correlations = data[['tripduration','age']]</a:t>
            </a:r>
            <a:r>
              <a:rPr altLang="ar-EG" b="1">
                <a:solidFill>
                  <a:srgbClr val="FFFF00"/>
                </a:solidFill>
              </a:rPr>
              <a:t>.corr()</a:t>
            </a:r>
          </a:p>
          <a:p>
            <a:r>
              <a:rPr altLang="ar-EG"/>
              <a:t>print(correlations)</a:t>
            </a:r>
            <a:endParaRPr lang="ar-EG" altLang="ar-EG"/>
          </a:p>
          <a:p>
            <a:endParaRPr lang="ar-EG" altLang="ar-EG"/>
          </a:p>
        </p:txBody>
      </p:sp>
      <p:pic>
        <p:nvPicPr>
          <p:cNvPr id="71684" name="Picture 3">
            <a:extLst>
              <a:ext uri="{FF2B5EF4-FFF2-40B4-BE49-F238E27FC236}">
                <a16:creationId xmlns:a16="http://schemas.microsoft.com/office/drawing/2014/main" id="{87CF7DCA-A2F7-4F03-0CC1-3E7058C65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00" y="4119563"/>
            <a:ext cx="519112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TextBox 2">
            <a:extLst>
              <a:ext uri="{FF2B5EF4-FFF2-40B4-BE49-F238E27FC236}">
                <a16:creationId xmlns:a16="http://schemas.microsoft.com/office/drawing/2014/main" id="{F8A83BEF-E41A-EB58-90E2-C8A29A6884B3}"/>
              </a:ext>
            </a:extLst>
          </p:cNvPr>
          <p:cNvSpPr txBox="1">
            <a:spLocks noChangeArrowheads="1"/>
          </p:cNvSpPr>
          <p:nvPr/>
        </p:nvSpPr>
        <p:spPr bwMode="auto">
          <a:xfrm>
            <a:off x="6523038" y="2441575"/>
            <a:ext cx="5200650" cy="17541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b="1">
                <a:solidFill>
                  <a:srgbClr val="FFFF00"/>
                </a:solidFill>
              </a:rPr>
              <a:t>.corr(</a:t>
            </a:r>
            <a:r>
              <a:rPr lang="en-US" altLang="ar-EG" b="1"/>
              <a:t>method='pearson'</a:t>
            </a:r>
            <a:r>
              <a:rPr lang="en-US" altLang="ar-EG" b="1">
                <a:solidFill>
                  <a:srgbClr val="FFFF00"/>
                </a:solidFill>
              </a:rPr>
              <a:t>)</a:t>
            </a:r>
            <a:endParaRPr lang="en-US" altLang="ar-EG" b="1"/>
          </a:p>
          <a:p>
            <a:r>
              <a:rPr lang="en-US" altLang="ar-EG" b="1"/>
              <a:t>method</a:t>
            </a:r>
            <a:r>
              <a:rPr lang="en-US" altLang="ar-EG"/>
              <a:t> : {‘pearson’, ‘kendall’, ‘spearman’}</a:t>
            </a:r>
            <a:br>
              <a:rPr lang="en-US" altLang="ar-EG"/>
            </a:br>
            <a:endParaRPr lang="en-US" altLang="ar-EG"/>
          </a:p>
          <a:p>
            <a:r>
              <a:rPr lang="en-US" altLang="ar-EG" b="1">
                <a:solidFill>
                  <a:srgbClr val="FFFF00"/>
                </a:solidFill>
              </a:rPr>
              <a:t>pearson : standard correlation coefficient</a:t>
            </a:r>
          </a:p>
          <a:p>
            <a:r>
              <a:rPr lang="en-US" altLang="ar-EG"/>
              <a:t>kendall : Kendall Tau correlation coefficient</a:t>
            </a:r>
          </a:p>
          <a:p>
            <a:r>
              <a:rPr lang="en-US" altLang="ar-EG"/>
              <a:t>spearman : Spearman rank correlation</a:t>
            </a:r>
          </a:p>
        </p:txBody>
      </p:sp>
      <p:sp>
        <p:nvSpPr>
          <p:cNvPr id="71686" name="TextBox 3">
            <a:extLst>
              <a:ext uri="{FF2B5EF4-FFF2-40B4-BE49-F238E27FC236}">
                <a16:creationId xmlns:a16="http://schemas.microsoft.com/office/drawing/2014/main" id="{075FA8A8-C629-B80F-C4AA-2F457C6D005B}"/>
              </a:ext>
            </a:extLst>
          </p:cNvPr>
          <p:cNvSpPr txBox="1">
            <a:spLocks noChangeArrowheads="1"/>
          </p:cNvSpPr>
          <p:nvPr/>
        </p:nvSpPr>
        <p:spPr bwMode="auto">
          <a:xfrm>
            <a:off x="457200" y="6421438"/>
            <a:ext cx="10793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r>
              <a:rPr lang="en-US" altLang="ar-EG" b="1"/>
              <a:t>For more information</a:t>
            </a:r>
            <a:r>
              <a:rPr lang="en-US" altLang="ar-EG"/>
              <a:t> http://www.statisticssolutions.com/correlation-pearson-kendall-spearman/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21994-63ED-4363-AFF7-DFBDAF44A4AF}"/>
              </a:ext>
            </a:extLst>
          </p:cNvPr>
          <p:cNvSpPr>
            <a:spLocks noGrp="1"/>
          </p:cNvSpPr>
          <p:nvPr>
            <p:ph type="body" sz="quarter" idx="10"/>
          </p:nvPr>
        </p:nvSpPr>
        <p:spPr/>
        <p:txBody>
          <a:bodyPr/>
          <a:lstStyle/>
          <a:p>
            <a:pPr>
              <a:buFont typeface="Wingdings 3" panose="05040102010807070707" pitchFamily="18" charset="2"/>
              <a:buNone/>
              <a:defRPr/>
            </a:pPr>
            <a:r>
              <a:rPr lang="en-US"/>
              <a:t>Rename Dataset columns' names</a:t>
            </a:r>
            <a:endParaRPr/>
          </a:p>
        </p:txBody>
      </p:sp>
      <p:sp>
        <p:nvSpPr>
          <p:cNvPr id="3" name="Content Placeholder 2">
            <a:extLst>
              <a:ext uri="{FF2B5EF4-FFF2-40B4-BE49-F238E27FC236}">
                <a16:creationId xmlns:a16="http://schemas.microsoft.com/office/drawing/2014/main" id="{A722E0A9-7EE4-4E2E-897D-288CBE8D3AFB}"/>
              </a:ext>
            </a:extLst>
          </p:cNvPr>
          <p:cNvSpPr>
            <a:spLocks noGrp="1"/>
          </p:cNvSpPr>
          <p:nvPr>
            <p:ph sz="quarter" idx="11"/>
          </p:nvPr>
        </p:nvSpPr>
        <p:spPr/>
        <p:txBody>
          <a:bodyPr/>
          <a:lstStyle/>
          <a:p>
            <a:pPr>
              <a:buFont typeface="Wingdings 3" panose="05040102010807070707" pitchFamily="18" charset="2"/>
              <a:buChar char=""/>
              <a:defRPr/>
            </a:pPr>
            <a:r>
              <a:t>Get data from the next URL and save as “concrete_data.csv”</a:t>
            </a:r>
            <a:br>
              <a:rPr/>
            </a:br>
            <a:r>
              <a:t>http://archive.ics.uci.edu/ml/datasets/Concrete+Compressive+Strength</a:t>
            </a:r>
            <a:endParaRPr lang="ar-EG"/>
          </a:p>
          <a:p>
            <a:pPr>
              <a:buFont typeface="Wingdings 3" panose="05040102010807070707" pitchFamily="18" charset="2"/>
              <a:buChar char=""/>
              <a:defRPr/>
            </a:pPr>
            <a:endParaRPr/>
          </a:p>
          <a:p>
            <a:pPr>
              <a:buFont typeface="Wingdings 3" panose="05040102010807070707" pitchFamily="18" charset="2"/>
              <a:buChar char=""/>
              <a:defRPr/>
            </a:pPr>
            <a:r>
              <a:t>data = </a:t>
            </a:r>
            <a:r>
              <a:rPr err="1"/>
              <a:t>pd.read_csv</a:t>
            </a:r>
            <a:r>
              <a:t>('examples/concrete_data.csv’)</a:t>
            </a:r>
          </a:p>
          <a:p>
            <a:pPr>
              <a:buFont typeface="Wingdings 3" panose="05040102010807070707" pitchFamily="18" charset="2"/>
              <a:buChar char=""/>
              <a:defRPr/>
            </a:pPr>
            <a:r>
              <a:t>print </a:t>
            </a:r>
            <a:r>
              <a:rPr err="1"/>
              <a:t>len</a:t>
            </a:r>
            <a:r>
              <a:t>(data)</a:t>
            </a:r>
          </a:p>
          <a:p>
            <a:pPr>
              <a:buFont typeface="Wingdings 3" panose="05040102010807070707" pitchFamily="18" charset="2"/>
              <a:buChar char=""/>
              <a:defRPr/>
            </a:pPr>
            <a:r>
              <a:rPr err="1"/>
              <a:t>data.head</a:t>
            </a:r>
            <a:r>
              <a:t>()</a:t>
            </a:r>
          </a:p>
          <a:p>
            <a:pPr>
              <a:buFont typeface="Wingdings 3" panose="05040102010807070707" pitchFamily="18" charset="2"/>
              <a:buChar char=""/>
              <a:defRPr/>
            </a:pPr>
            <a:endParaRPr/>
          </a:p>
          <a:p>
            <a:pPr>
              <a:buFont typeface="Wingdings 3" panose="05040102010807070707" pitchFamily="18" charset="2"/>
              <a:buChar char=""/>
              <a:defRPr/>
            </a:pPr>
            <a:endParaRPr/>
          </a:p>
          <a:p>
            <a:pPr marL="0" indent="0">
              <a:buFont typeface="Wingdings 3" panose="05040102010807070707" pitchFamily="18" charset="2"/>
              <a:buNone/>
              <a:defRPr/>
            </a:pPr>
            <a:r>
              <a:rPr b="1"/>
              <a:t>Renaming the Columns</a:t>
            </a:r>
          </a:p>
          <a:p>
            <a:pPr>
              <a:buFont typeface="Wingdings 3" panose="05040102010807070707" pitchFamily="18" charset="2"/>
              <a:buChar char=""/>
              <a:defRPr/>
            </a:pPr>
            <a:r>
              <a:rPr err="1"/>
              <a:t>data.columns</a:t>
            </a:r>
            <a:r>
              <a:t> = ['</a:t>
            </a:r>
            <a:r>
              <a:rPr err="1"/>
              <a:t>cement_component</a:t>
            </a:r>
            <a:r>
              <a:t>', '</a:t>
            </a:r>
            <a:r>
              <a:rPr err="1"/>
              <a:t>furnace_slag</a:t>
            </a:r>
            <a:r>
              <a:t>', '</a:t>
            </a:r>
            <a:r>
              <a:rPr err="1"/>
              <a:t>flay_ash</a:t>
            </a:r>
            <a:r>
              <a:t>’,\</a:t>
            </a:r>
          </a:p>
          <a:p>
            <a:pPr marL="457200" lvl="1" indent="0">
              <a:buFont typeface="Wingdings 3" panose="05040102010807070707" pitchFamily="18" charset="2"/>
              <a:buNone/>
              <a:defRPr/>
            </a:pPr>
            <a:r>
              <a:t> '</a:t>
            </a:r>
            <a:r>
              <a:rPr err="1"/>
              <a:t>water_component</a:t>
            </a:r>
            <a:r>
              <a:t>’,  'superplasticizer', '</a:t>
            </a:r>
            <a:r>
              <a:rPr err="1"/>
              <a:t>coarse_aggregate</a:t>
            </a:r>
            <a:r>
              <a:t>’, \</a:t>
            </a:r>
          </a:p>
          <a:p>
            <a:pPr marL="457200" lvl="1" indent="0">
              <a:buFont typeface="Wingdings 3" panose="05040102010807070707" pitchFamily="18" charset="2"/>
              <a:buNone/>
              <a:defRPr/>
            </a:pPr>
            <a:r>
              <a:t> '</a:t>
            </a:r>
            <a:r>
              <a:rPr err="1"/>
              <a:t>fine_aggregate</a:t>
            </a:r>
            <a:r>
              <a:t>', 'age', '</a:t>
            </a:r>
            <a:r>
              <a:rPr err="1"/>
              <a:t>concrete_strength</a:t>
            </a:r>
            <a:r>
              <a:t>']</a:t>
            </a:r>
          </a:p>
        </p:txBody>
      </p:sp>
      <p:pic>
        <p:nvPicPr>
          <p:cNvPr id="72708" name="Picture 3">
            <a:extLst>
              <a:ext uri="{FF2B5EF4-FFF2-40B4-BE49-F238E27FC236}">
                <a16:creationId xmlns:a16="http://schemas.microsoft.com/office/drawing/2014/main" id="{E0B86D47-D4F0-249F-03FE-DDF67043A3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638" y="3030538"/>
            <a:ext cx="6877050"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AA6EB2-0D02-4F74-9189-326FA9E53F1A}"/>
              </a:ext>
            </a:extLst>
          </p:cNvPr>
          <p:cNvSpPr>
            <a:spLocks noGrp="1"/>
          </p:cNvSpPr>
          <p:nvPr>
            <p:ph type="body" sz="quarter" idx="10"/>
          </p:nvPr>
        </p:nvSpPr>
        <p:spPr/>
        <p:txBody>
          <a:bodyPr/>
          <a:lstStyle/>
          <a:p>
            <a:pPr>
              <a:buFont typeface="Wingdings 3" panose="05040102010807070707" pitchFamily="18" charset="2"/>
              <a:buNone/>
              <a:defRPr/>
            </a:pPr>
            <a:r>
              <a:rPr lang="en-US"/>
              <a:t>Loop through dataset </a:t>
            </a:r>
            <a:br>
              <a:rPr lang="en-US"/>
            </a:br>
            <a:r>
              <a:rPr lang="en-US" sz="1800">
                <a:solidFill>
                  <a:schemeClr val="tx1"/>
                </a:solidFill>
              </a:rPr>
              <a:t>Draw relation between each feature and </a:t>
            </a:r>
            <a:r>
              <a:rPr lang="en-US" sz="1800" err="1">
                <a:solidFill>
                  <a:schemeClr val="tx1"/>
                </a:solidFill>
              </a:rPr>
              <a:t>concrete_strength</a:t>
            </a:r>
            <a:endParaRPr>
              <a:solidFill>
                <a:schemeClr val="tx1"/>
              </a:solidFill>
            </a:endParaRPr>
          </a:p>
        </p:txBody>
      </p:sp>
      <p:sp>
        <p:nvSpPr>
          <p:cNvPr id="73731" name="Content Placeholder 2">
            <a:extLst>
              <a:ext uri="{FF2B5EF4-FFF2-40B4-BE49-F238E27FC236}">
                <a16:creationId xmlns:a16="http://schemas.microsoft.com/office/drawing/2014/main" id="{3D9B9DA0-69A8-0AEA-361A-941C41EC1F89}"/>
              </a:ext>
            </a:extLst>
          </p:cNvPr>
          <p:cNvSpPr>
            <a:spLocks noGrp="1" noChangeArrowheads="1"/>
          </p:cNvSpPr>
          <p:nvPr>
            <p:ph sz="quarter" idx="11"/>
          </p:nvPr>
        </p:nvSpPr>
        <p:spPr/>
        <p:txBody>
          <a:bodyPr/>
          <a:lstStyle/>
          <a:p>
            <a:pPr marL="0" indent="0">
              <a:buFont typeface="Wingdings 3" pitchFamily="2" charset="2"/>
              <a:buNone/>
            </a:pPr>
            <a:r>
              <a:rPr altLang="ar-EG" sz="1600"/>
              <a:t>plt.figure(figsize=(15,10.5))</a:t>
            </a:r>
          </a:p>
          <a:p>
            <a:pPr marL="0" indent="0">
              <a:buFont typeface="Wingdings 3" pitchFamily="2" charset="2"/>
              <a:buNone/>
            </a:pPr>
            <a:r>
              <a:rPr altLang="ar-EG" sz="1600"/>
              <a:t>plot_count = 1</a:t>
            </a:r>
          </a:p>
          <a:p>
            <a:pPr marL="0" indent="0">
              <a:buFont typeface="Wingdings 3" pitchFamily="2" charset="2"/>
              <a:buNone/>
            </a:pPr>
            <a:r>
              <a:rPr altLang="ar-EG" sz="1600"/>
              <a:t>for feature in list(data.columns)[:-1]:</a:t>
            </a:r>
          </a:p>
          <a:p>
            <a:pPr marL="457200" lvl="1" indent="0">
              <a:buFont typeface="Wingdings 3" pitchFamily="2" charset="2"/>
              <a:buNone/>
            </a:pPr>
            <a:r>
              <a:rPr altLang="ar-EG" sz="1600"/>
              <a:t>plt.subplot(3,3,plot_count)</a:t>
            </a:r>
          </a:p>
          <a:p>
            <a:pPr marL="457200" lvl="1" indent="0">
              <a:buFont typeface="Wingdings 3" pitchFamily="2" charset="2"/>
              <a:buNone/>
            </a:pPr>
            <a:r>
              <a:rPr altLang="ar-EG" sz="1600"/>
              <a:t>plt.scatter(data[feature], data['concrete_strength'])</a:t>
            </a:r>
          </a:p>
          <a:p>
            <a:pPr marL="457200" lvl="1" indent="0">
              <a:buFont typeface="Wingdings 3" pitchFamily="2" charset="2"/>
              <a:buNone/>
            </a:pPr>
            <a:r>
              <a:rPr altLang="ar-EG" sz="1600"/>
              <a:t>plt.xlabel(feature.replace('_',' ').title())</a:t>
            </a:r>
          </a:p>
          <a:p>
            <a:pPr marL="457200" lvl="1" indent="0">
              <a:buFont typeface="Wingdings 3" pitchFamily="2" charset="2"/>
              <a:buNone/>
            </a:pPr>
            <a:r>
              <a:rPr altLang="ar-EG" sz="1600"/>
              <a:t>plt.ylabel('Concrete strength')</a:t>
            </a:r>
          </a:p>
          <a:p>
            <a:pPr marL="457200" lvl="1" indent="0">
              <a:buFont typeface="Wingdings 3" pitchFamily="2" charset="2"/>
              <a:buNone/>
            </a:pPr>
            <a:r>
              <a:rPr altLang="ar-EG" sz="1600"/>
              <a:t>plot_count+=1</a:t>
            </a:r>
          </a:p>
          <a:p>
            <a:pPr marL="0" indent="0">
              <a:buFont typeface="Wingdings 3" pitchFamily="2" charset="2"/>
              <a:buNone/>
            </a:pPr>
            <a:r>
              <a:rPr altLang="ar-EG" sz="1600"/>
              <a:t>plt.show()</a:t>
            </a:r>
          </a:p>
          <a:p>
            <a:pPr marL="0" indent="0">
              <a:buFont typeface="Wingdings 3" pitchFamily="2" charset="2"/>
              <a:buNone/>
            </a:pPr>
            <a:r>
              <a:rPr altLang="ar-EG" sz="1600" b="1">
                <a:solidFill>
                  <a:srgbClr val="FFFF00"/>
                </a:solidFill>
              </a:rPr>
              <a:t>#//Get the correlation between data</a:t>
            </a:r>
          </a:p>
          <a:p>
            <a:pPr marL="0" indent="0">
              <a:buFont typeface="Wingdings 3" pitchFamily="2" charset="2"/>
              <a:buNone/>
            </a:pPr>
            <a:r>
              <a:rPr altLang="ar-EG" sz="1600"/>
              <a:t>pd.set_option('display.width', 100)</a:t>
            </a:r>
          </a:p>
          <a:p>
            <a:pPr marL="0" indent="0">
              <a:buFont typeface="Wingdings 3" pitchFamily="2" charset="2"/>
              <a:buNone/>
            </a:pPr>
            <a:r>
              <a:rPr altLang="ar-EG" sz="1600"/>
              <a:t>pd.set_option('precision', 3)</a:t>
            </a:r>
          </a:p>
          <a:p>
            <a:pPr marL="0" indent="0">
              <a:buFont typeface="Wingdings 3" pitchFamily="2" charset="2"/>
              <a:buNone/>
            </a:pPr>
            <a:r>
              <a:rPr altLang="ar-EG" sz="1600"/>
              <a:t>correlations = data.corr(method='pearson')</a:t>
            </a:r>
          </a:p>
          <a:p>
            <a:pPr marL="0" indent="0">
              <a:buFont typeface="Wingdings 3" pitchFamily="2" charset="2"/>
              <a:buNone/>
            </a:pPr>
            <a:r>
              <a:rPr altLang="ar-EG" sz="1600"/>
              <a:t>print(correlations)</a:t>
            </a:r>
            <a:endParaRPr lang="ar-EG" altLang="ar-EG" sz="1600"/>
          </a:p>
        </p:txBody>
      </p:sp>
      <p:pic>
        <p:nvPicPr>
          <p:cNvPr id="73732" name="Picture 3">
            <a:extLst>
              <a:ext uri="{FF2B5EF4-FFF2-40B4-BE49-F238E27FC236}">
                <a16:creationId xmlns:a16="http://schemas.microsoft.com/office/drawing/2014/main" id="{3BB5D92B-E418-4AC0-F2CB-A2553D75F8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7013" y="2841625"/>
            <a:ext cx="5386387" cy="387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DB3E2F68-5A26-F2F0-9042-6DFA0AF1E267}"/>
              </a:ext>
            </a:extLst>
          </p:cNvPr>
          <p:cNvSpPr>
            <a:spLocks noGrp="1" noChangeArrowheads="1"/>
          </p:cNvSpPr>
          <p:nvPr>
            <p:ph type="title"/>
          </p:nvPr>
        </p:nvSpPr>
        <p:spPr bwMode="auto"/>
        <p:txBody>
          <a:bodyPr wrap="square" numCol="1" anchorCtr="0" compatLnSpc="1">
            <a:prstTxWarp prst="textNoShape">
              <a:avLst/>
            </a:prstTxWarp>
          </a:bodyPr>
          <a:lstStyle/>
          <a:p>
            <a:r>
              <a:rPr lang="en-US" altLang="ar-EG" cap="none">
                <a:ln>
                  <a:noFill/>
                </a:ln>
              </a:rPr>
              <a:t>Dimensionality Reduction</a:t>
            </a:r>
          </a:p>
        </p:txBody>
      </p:sp>
      <p:sp>
        <p:nvSpPr>
          <p:cNvPr id="3" name="Text Placeholder 2">
            <a:extLst>
              <a:ext uri="{FF2B5EF4-FFF2-40B4-BE49-F238E27FC236}">
                <a16:creationId xmlns:a16="http://schemas.microsoft.com/office/drawing/2014/main" id="{62AC9692-4BEA-4333-9776-B08D4C00A12D}"/>
              </a:ext>
            </a:extLst>
          </p:cNvPr>
          <p:cNvSpPr>
            <a:spLocks noGrp="1"/>
          </p:cNvSpPr>
          <p:nvPr>
            <p:ph type="body" idx="1"/>
          </p:nvPr>
        </p:nvSpPr>
        <p:spPr/>
        <p:txBody>
          <a:bodyPr/>
          <a:lstStyle/>
          <a:p>
            <a:pPr>
              <a:buFont typeface="Wingdings 3" panose="05040102010807070707" pitchFamily="18" charset="2"/>
              <a:buNone/>
              <a:defRPr/>
            </a:pP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B8FB48-D7F8-4527-B9B7-6B116E7EA373}"/>
              </a:ext>
            </a:extLst>
          </p:cNvPr>
          <p:cNvSpPr>
            <a:spLocks noGrp="1"/>
          </p:cNvSpPr>
          <p:nvPr>
            <p:ph type="body" sz="quarter" idx="10"/>
          </p:nvPr>
        </p:nvSpPr>
        <p:spPr/>
        <p:txBody>
          <a:bodyPr/>
          <a:lstStyle/>
          <a:p>
            <a:pPr>
              <a:buFont typeface="Wingdings 3" panose="05040102010807070707" pitchFamily="18" charset="2"/>
              <a:buNone/>
              <a:defRPr/>
            </a:pPr>
            <a:r>
              <a:rPr lang="en-US"/>
              <a:t>PCA Dimensionality Reduction</a:t>
            </a:r>
          </a:p>
        </p:txBody>
      </p:sp>
      <p:sp>
        <p:nvSpPr>
          <p:cNvPr id="75779" name="Content Placeholder 2">
            <a:extLst>
              <a:ext uri="{FF2B5EF4-FFF2-40B4-BE49-F238E27FC236}">
                <a16:creationId xmlns:a16="http://schemas.microsoft.com/office/drawing/2014/main" id="{BFF993BF-313B-460E-E6FF-7CE99EB14422}"/>
              </a:ext>
            </a:extLst>
          </p:cNvPr>
          <p:cNvSpPr>
            <a:spLocks noGrp="1" noChangeArrowheads="1"/>
          </p:cNvSpPr>
          <p:nvPr>
            <p:ph sz="quarter" idx="11"/>
          </p:nvPr>
        </p:nvSpPr>
        <p:spPr/>
        <p:txBody>
          <a:bodyPr/>
          <a:lstStyle/>
          <a:p>
            <a:pPr marL="0" indent="0">
              <a:buFont typeface="Wingdings 3" pitchFamily="2" charset="2"/>
              <a:buNone/>
            </a:pPr>
            <a:r>
              <a:rPr altLang="ar-EG"/>
              <a:t>When we have a big dataset and we need to reduce the number of columns for fast training (remove redundancy features).</a:t>
            </a:r>
          </a:p>
          <a:p>
            <a:pPr marL="0" indent="0">
              <a:buFont typeface="Wingdings 3" pitchFamily="2" charset="2"/>
              <a:buNone/>
            </a:pPr>
            <a:r>
              <a:rPr altLang="ar-EG"/>
              <a:t>Example :  Dataset (data) contains 20 features and we need to reduce them to 4 features</a:t>
            </a:r>
          </a:p>
          <a:p>
            <a:pPr marL="0" indent="0">
              <a:buFont typeface="Wingdings 3" pitchFamily="2" charset="2"/>
              <a:buNone/>
            </a:pPr>
            <a:endParaRPr altLang="ar-EG"/>
          </a:p>
          <a:p>
            <a:pPr marL="0" indent="0">
              <a:buFont typeface="Wingdings 3" pitchFamily="2" charset="2"/>
              <a:buNone/>
            </a:pPr>
            <a:r>
              <a:rPr altLang="ar-EG">
                <a:solidFill>
                  <a:srgbClr val="FFFF00"/>
                </a:solidFill>
              </a:rPr>
              <a:t>from sklearn.decomposition import PCA</a:t>
            </a:r>
          </a:p>
          <a:p>
            <a:pPr marL="0" indent="0">
              <a:buFont typeface="Wingdings 3" pitchFamily="2" charset="2"/>
              <a:buNone/>
            </a:pPr>
            <a:endParaRPr altLang="ar-EG">
              <a:solidFill>
                <a:srgbClr val="FFFF00"/>
              </a:solidFill>
            </a:endParaRPr>
          </a:p>
          <a:p>
            <a:pPr marL="0" indent="0">
              <a:buFont typeface="Wingdings 3" pitchFamily="2" charset="2"/>
              <a:buNone/>
            </a:pPr>
            <a:r>
              <a:rPr altLang="ar-EG">
                <a:solidFill>
                  <a:srgbClr val="FFFF00"/>
                </a:solidFill>
              </a:rPr>
              <a:t>NewDataFrame = PCA(n_components = 4).fit_transform(data)</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3EB20C20-5E3C-90B9-5FF1-019FD6B51E57}"/>
              </a:ext>
            </a:extLst>
          </p:cNvPr>
          <p:cNvSpPr>
            <a:spLocks noGrp="1" noChangeArrowheads="1"/>
          </p:cNvSpPr>
          <p:nvPr>
            <p:ph type="title"/>
          </p:nvPr>
        </p:nvSpPr>
        <p:spPr bwMode="auto"/>
        <p:txBody>
          <a:bodyPr wrap="square" numCol="1" anchorCtr="0" compatLnSpc="1">
            <a:prstTxWarp prst="textNoShape">
              <a:avLst/>
            </a:prstTxWarp>
          </a:bodyPr>
          <a:lstStyle/>
          <a:p>
            <a:r>
              <a:rPr lang="en-US" altLang="ar-EG" cap="none">
                <a:ln>
                  <a:noFill/>
                </a:ln>
              </a:rPr>
              <a:t>Association Algorithm </a:t>
            </a:r>
          </a:p>
        </p:txBody>
      </p:sp>
      <p:sp>
        <p:nvSpPr>
          <p:cNvPr id="3" name="Text Placeholder 2">
            <a:extLst>
              <a:ext uri="{FF2B5EF4-FFF2-40B4-BE49-F238E27FC236}">
                <a16:creationId xmlns:a16="http://schemas.microsoft.com/office/drawing/2014/main" id="{9FF37862-3962-4F3F-AC66-4E30C0C846F7}"/>
              </a:ext>
            </a:extLst>
          </p:cNvPr>
          <p:cNvSpPr>
            <a:spLocks noGrp="1"/>
          </p:cNvSpPr>
          <p:nvPr>
            <p:ph type="body" idx="1"/>
          </p:nvPr>
        </p:nvSpPr>
        <p:spPr/>
        <p:txBody>
          <a:bodyPr/>
          <a:lstStyle/>
          <a:p>
            <a:pPr>
              <a:buFont typeface="Wingdings 3" panose="05040102010807070707" pitchFamily="18" charset="2"/>
              <a:buNone/>
              <a:defRPr/>
            </a:pPr>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14079F-8233-4AA6-AB3A-E07482D01C52}"/>
              </a:ext>
            </a:extLst>
          </p:cNvPr>
          <p:cNvSpPr>
            <a:spLocks noGrp="1"/>
          </p:cNvSpPr>
          <p:nvPr>
            <p:ph type="body" sz="quarter" idx="10"/>
          </p:nvPr>
        </p:nvSpPr>
        <p:spPr/>
        <p:txBody>
          <a:bodyPr/>
          <a:lstStyle/>
          <a:p>
            <a:pPr>
              <a:buFont typeface="Wingdings 3" panose="05040102010807070707" pitchFamily="18" charset="2"/>
              <a:buNone/>
              <a:defRPr/>
            </a:pPr>
            <a:r>
              <a:rPr lang="en-US"/>
              <a:t>Association Rules</a:t>
            </a:r>
          </a:p>
        </p:txBody>
      </p:sp>
      <p:sp>
        <p:nvSpPr>
          <p:cNvPr id="3" name="Content Placeholder 2">
            <a:extLst>
              <a:ext uri="{FF2B5EF4-FFF2-40B4-BE49-F238E27FC236}">
                <a16:creationId xmlns:a16="http://schemas.microsoft.com/office/drawing/2014/main" id="{551505F1-12D0-4C6D-8F57-5F33CE421ADE}"/>
              </a:ext>
            </a:extLst>
          </p:cNvPr>
          <p:cNvSpPr>
            <a:spLocks noGrp="1"/>
          </p:cNvSpPr>
          <p:nvPr>
            <p:ph sz="quarter" idx="11"/>
          </p:nvPr>
        </p:nvSpPr>
        <p:spPr>
          <a:xfrm>
            <a:off x="434975" y="1317625"/>
            <a:ext cx="9436100" cy="5202238"/>
          </a:xfrm>
        </p:spPr>
        <p:txBody>
          <a:bodyPr/>
          <a:lstStyle/>
          <a:p>
            <a:pPr marL="0" indent="0">
              <a:buFont typeface="Wingdings 3" panose="05040102010807070707" pitchFamily="18" charset="2"/>
              <a:buNone/>
              <a:defRPr/>
            </a:pPr>
            <a:r>
              <a:t>Association rules analysis is a technique to uncover how items are associated to each other. </a:t>
            </a:r>
          </a:p>
          <a:p>
            <a:pPr marL="0" indent="0">
              <a:buFont typeface="Wingdings 3" panose="05040102010807070707" pitchFamily="18" charset="2"/>
              <a:buNone/>
              <a:defRPr/>
            </a:pPr>
            <a:r>
              <a:t>There are three common ways to measure association:</a:t>
            </a:r>
          </a:p>
          <a:p>
            <a:pPr marL="457200" indent="-457200">
              <a:buFont typeface="Wingdings 3" panose="05040102010807070707" pitchFamily="18" charset="2"/>
              <a:buAutoNum type="arabicParenR"/>
              <a:defRPr/>
            </a:pPr>
            <a:r>
              <a:t>Support: This says how popular an itemset is, as measured by the proportion of transactions in which an itemset appears.</a:t>
            </a:r>
            <a:br>
              <a:rPr/>
            </a:br>
            <a:endParaRPr/>
          </a:p>
          <a:p>
            <a:pPr marL="457200" indent="-457200">
              <a:buFont typeface="Wingdings 3" panose="05040102010807070707" pitchFamily="18" charset="2"/>
              <a:buAutoNum type="arabicParenR"/>
              <a:defRPr/>
            </a:pPr>
            <a:r>
              <a:t>Confidence: This says how likely item Y is purchased when item X is purchased (not good if one item is common)</a:t>
            </a:r>
            <a:br>
              <a:rPr/>
            </a:br>
            <a:br>
              <a:rPr/>
            </a:br>
            <a:endParaRPr/>
          </a:p>
          <a:p>
            <a:pPr marL="457200" indent="-457200">
              <a:buFont typeface="Wingdings 3" panose="05040102010807070707" pitchFamily="18" charset="2"/>
              <a:buAutoNum type="arabicParenR"/>
              <a:defRPr/>
            </a:pPr>
            <a:r>
              <a:t>Lift: This says how likely item Y is purchased when item X is purchased</a:t>
            </a:r>
            <a:br>
              <a:rPr/>
            </a:br>
            <a:endParaRPr/>
          </a:p>
        </p:txBody>
      </p:sp>
      <p:pic>
        <p:nvPicPr>
          <p:cNvPr id="77828" name="Picture 2" descr="association-rule-support-table">
            <a:extLst>
              <a:ext uri="{FF2B5EF4-FFF2-40B4-BE49-F238E27FC236}">
                <a16:creationId xmlns:a16="http://schemas.microsoft.com/office/drawing/2014/main" id="{6AE764B4-E117-1FEF-5ADD-FC9C482BD7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1075" y="195263"/>
            <a:ext cx="20955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29" name="Picture 3">
            <a:extLst>
              <a:ext uri="{FF2B5EF4-FFF2-40B4-BE49-F238E27FC236}">
                <a16:creationId xmlns:a16="http://schemas.microsoft.com/office/drawing/2014/main" id="{DAC62D0C-CB46-4D6C-5EDA-3EE16F476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4375" y="2819400"/>
            <a:ext cx="2362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Picture 4">
            <a:extLst>
              <a:ext uri="{FF2B5EF4-FFF2-40B4-BE49-F238E27FC236}">
                <a16:creationId xmlns:a16="http://schemas.microsoft.com/office/drawing/2014/main" id="{FE98105D-E842-08B3-9FE1-B655AFFBC0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6900" y="4032250"/>
            <a:ext cx="501967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Picture 5">
            <a:extLst>
              <a:ext uri="{FF2B5EF4-FFF2-40B4-BE49-F238E27FC236}">
                <a16:creationId xmlns:a16="http://schemas.microsoft.com/office/drawing/2014/main" id="{C2BC9F3A-8203-6482-FFE7-771B02B937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5425" y="5616575"/>
            <a:ext cx="539115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5110A7-17C1-4B2E-9399-9005B126F9EA}"/>
              </a:ext>
            </a:extLst>
          </p:cNvPr>
          <p:cNvSpPr>
            <a:spLocks noGrp="1"/>
          </p:cNvSpPr>
          <p:nvPr>
            <p:ph type="body" sz="quarter" idx="10"/>
          </p:nvPr>
        </p:nvSpPr>
        <p:spPr/>
        <p:txBody>
          <a:bodyPr/>
          <a:lstStyle/>
          <a:p>
            <a:pPr>
              <a:buFont typeface="Wingdings 3" panose="05040102010807070707" pitchFamily="18" charset="2"/>
              <a:buNone/>
              <a:defRPr/>
            </a:pPr>
            <a:r>
              <a:rPr lang="en-US"/>
              <a:t>Association Rules (</a:t>
            </a:r>
            <a:r>
              <a:rPr lang="en-US" err="1"/>
              <a:t>Apriori</a:t>
            </a:r>
            <a:r>
              <a:rPr lang="en-US"/>
              <a:t> Algorithm)</a:t>
            </a:r>
          </a:p>
        </p:txBody>
      </p:sp>
      <p:sp>
        <p:nvSpPr>
          <p:cNvPr id="3" name="Content Placeholder 2">
            <a:extLst>
              <a:ext uri="{FF2B5EF4-FFF2-40B4-BE49-F238E27FC236}">
                <a16:creationId xmlns:a16="http://schemas.microsoft.com/office/drawing/2014/main" id="{DFB371C1-3AA8-4A5F-8C0D-A84DAB9A0E8E}"/>
              </a:ext>
            </a:extLst>
          </p:cNvPr>
          <p:cNvSpPr>
            <a:spLocks noGrp="1"/>
          </p:cNvSpPr>
          <p:nvPr>
            <p:ph sz="quarter" idx="11"/>
          </p:nvPr>
        </p:nvSpPr>
        <p:spPr/>
        <p:txBody>
          <a:bodyPr/>
          <a:lstStyle/>
          <a:p>
            <a:pPr marL="0" indent="0">
              <a:buFont typeface="Wingdings 3" panose="05040102010807070707" pitchFamily="18" charset="2"/>
              <a:buNone/>
              <a:defRPr/>
            </a:pPr>
            <a:r>
              <a:t>from </a:t>
            </a:r>
            <a:r>
              <a:rPr err="1"/>
              <a:t>apyori</a:t>
            </a:r>
            <a:r>
              <a:t> import </a:t>
            </a:r>
            <a:r>
              <a:rPr err="1"/>
              <a:t>apriori</a:t>
            </a:r>
            <a:endParaRPr/>
          </a:p>
          <a:p>
            <a:pPr>
              <a:buFont typeface="Wingdings 3" panose="05040102010807070707" pitchFamily="18" charset="2"/>
              <a:buChar char=""/>
              <a:defRPr/>
            </a:pPr>
            <a:endParaRPr/>
          </a:p>
          <a:p>
            <a:pPr marL="0" indent="0">
              <a:buFont typeface="Wingdings 3" panose="05040102010807070707" pitchFamily="18" charset="2"/>
              <a:buNone/>
              <a:defRPr/>
            </a:pPr>
            <a:r>
              <a:t>transactions = [</a:t>
            </a:r>
          </a:p>
          <a:p>
            <a:pPr marL="0" indent="0">
              <a:buFont typeface="Wingdings 3" panose="05040102010807070707" pitchFamily="18" charset="2"/>
              <a:buNone/>
              <a:defRPr/>
            </a:pPr>
            <a:r>
              <a:t>    ['beer', 'nuts'],</a:t>
            </a:r>
          </a:p>
          <a:p>
            <a:pPr marL="0" indent="0">
              <a:buFont typeface="Wingdings 3" panose="05040102010807070707" pitchFamily="18" charset="2"/>
              <a:buNone/>
              <a:defRPr/>
            </a:pPr>
            <a:r>
              <a:t>    ['beer', 'cheese'],</a:t>
            </a:r>
          </a:p>
          <a:p>
            <a:pPr marL="0" indent="0">
              <a:buFont typeface="Wingdings 3" panose="05040102010807070707" pitchFamily="18" charset="2"/>
              <a:buNone/>
              <a:defRPr/>
            </a:pPr>
            <a:r>
              <a:t>]</a:t>
            </a:r>
          </a:p>
          <a:p>
            <a:pPr marL="0" indent="0">
              <a:buFont typeface="Wingdings 3" panose="05040102010807070707" pitchFamily="18" charset="2"/>
              <a:buNone/>
              <a:defRPr/>
            </a:pPr>
            <a:r>
              <a:t>results = list(</a:t>
            </a:r>
            <a:r>
              <a:rPr err="1"/>
              <a:t>apriori</a:t>
            </a:r>
            <a:r>
              <a:t>(transactions))</a:t>
            </a:r>
          </a:p>
        </p:txBody>
      </p:sp>
      <p:pic>
        <p:nvPicPr>
          <p:cNvPr id="78852" name="Picture 5" descr="https://www.kdnuggets.com/wp-content/uploads/apriori_1-300x181.png">
            <a:extLst>
              <a:ext uri="{FF2B5EF4-FFF2-40B4-BE49-F238E27FC236}">
                <a16:creationId xmlns:a16="http://schemas.microsoft.com/office/drawing/2014/main" id="{E4D66DEB-EAC8-471A-818A-B598A7D0D5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1450" y="2016125"/>
            <a:ext cx="4727575" cy="285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537B59-40B5-41BD-9405-364016D3549E}"/>
              </a:ext>
            </a:extLst>
          </p:cNvPr>
          <p:cNvSpPr>
            <a:spLocks noGrp="1"/>
          </p:cNvSpPr>
          <p:nvPr>
            <p:ph type="body" sz="quarter" idx="10"/>
          </p:nvPr>
        </p:nvSpPr>
        <p:spPr/>
        <p:txBody>
          <a:bodyPr/>
          <a:lstStyle/>
          <a:p>
            <a:pPr>
              <a:buFont typeface="Wingdings 3" panose="05040102010807070707" pitchFamily="18" charset="2"/>
              <a:buNone/>
              <a:defRPr/>
            </a:pPr>
            <a:r>
              <a:rPr lang="en-US"/>
              <a:t>Association Rules (Example)</a:t>
            </a:r>
          </a:p>
        </p:txBody>
      </p:sp>
      <p:sp>
        <p:nvSpPr>
          <p:cNvPr id="3" name="Content Placeholder 2">
            <a:extLst>
              <a:ext uri="{FF2B5EF4-FFF2-40B4-BE49-F238E27FC236}">
                <a16:creationId xmlns:a16="http://schemas.microsoft.com/office/drawing/2014/main" id="{84E12974-6060-477F-9350-961A90DED799}"/>
              </a:ext>
            </a:extLst>
          </p:cNvPr>
          <p:cNvSpPr>
            <a:spLocks noGrp="1"/>
          </p:cNvSpPr>
          <p:nvPr>
            <p:ph sz="quarter" idx="11"/>
          </p:nvPr>
        </p:nvSpPr>
        <p:spPr/>
        <p:txBody>
          <a:bodyPr/>
          <a:lstStyle/>
          <a:p>
            <a:pPr>
              <a:buFont typeface="Wingdings 3" panose="05040102010807070707" pitchFamily="18" charset="2"/>
              <a:buChar char=""/>
              <a:defRPr/>
            </a:pPr>
            <a:r>
              <a:rPr sz="1800"/>
              <a:t>pip install </a:t>
            </a:r>
            <a:r>
              <a:rPr sz="1800" err="1"/>
              <a:t>apyori</a:t>
            </a:r>
            <a:endParaRPr sz="1800"/>
          </a:p>
          <a:p>
            <a:pPr>
              <a:buFont typeface="Wingdings 3" panose="05040102010807070707" pitchFamily="18" charset="2"/>
              <a:buChar char=""/>
              <a:defRPr/>
            </a:pPr>
            <a:endParaRPr sz="1800"/>
          </a:p>
          <a:p>
            <a:pPr marL="0" indent="0">
              <a:buFont typeface="Wingdings 3" panose="05040102010807070707" pitchFamily="18" charset="2"/>
              <a:buNone/>
              <a:defRPr/>
            </a:pPr>
            <a:r>
              <a:rPr sz="1800" b="1"/>
              <a:t># Import the libraries</a:t>
            </a:r>
            <a:br>
              <a:rPr sz="1800"/>
            </a:br>
            <a:r>
              <a:rPr sz="1800"/>
              <a:t>import </a:t>
            </a:r>
            <a:r>
              <a:rPr sz="1800" err="1"/>
              <a:t>numpy</a:t>
            </a:r>
            <a:r>
              <a:rPr sz="1800"/>
              <a:t> as np</a:t>
            </a:r>
            <a:br>
              <a:rPr sz="1800"/>
            </a:br>
            <a:r>
              <a:rPr sz="1800"/>
              <a:t>import </a:t>
            </a:r>
            <a:r>
              <a:rPr sz="1800" err="1"/>
              <a:t>matplotlib.pyplot</a:t>
            </a:r>
            <a:r>
              <a:rPr sz="1800"/>
              <a:t> as </a:t>
            </a:r>
            <a:r>
              <a:rPr sz="1800" err="1"/>
              <a:t>plt</a:t>
            </a:r>
            <a:br>
              <a:rPr sz="1800"/>
            </a:br>
            <a:r>
              <a:rPr sz="1800"/>
              <a:t>import pandas as </a:t>
            </a:r>
            <a:r>
              <a:rPr sz="1800" err="1"/>
              <a:t>pd</a:t>
            </a:r>
            <a:endParaRPr sz="1800"/>
          </a:p>
          <a:p>
            <a:pPr marL="0" indent="0">
              <a:buFont typeface="Wingdings 3" panose="05040102010807070707" pitchFamily="18" charset="2"/>
              <a:buNone/>
              <a:defRPr/>
            </a:pPr>
            <a:r>
              <a:rPr sz="1800" b="1"/>
              <a:t># Import Dataset </a:t>
            </a:r>
            <a:br>
              <a:rPr sz="1800"/>
            </a:br>
            <a:r>
              <a:rPr sz="1800" err="1"/>
              <a:t>dataset</a:t>
            </a:r>
            <a:r>
              <a:rPr sz="1800"/>
              <a:t> = </a:t>
            </a:r>
            <a:r>
              <a:rPr sz="1800" err="1"/>
              <a:t>pd.read_csv</a:t>
            </a:r>
            <a:r>
              <a:rPr sz="1800"/>
              <a:t>(‘apriori_data2.csv’, header = None)</a:t>
            </a:r>
            <a:br>
              <a:rPr sz="1800"/>
            </a:br>
            <a:r>
              <a:rPr sz="1800"/>
              <a:t>records = [] for </a:t>
            </a:r>
            <a:r>
              <a:rPr sz="1800" err="1"/>
              <a:t>i</a:t>
            </a:r>
            <a:r>
              <a:rPr sz="1800"/>
              <a:t> in range(0, 11):</a:t>
            </a:r>
            <a:br>
              <a:rPr sz="1800"/>
            </a:br>
            <a:r>
              <a:rPr sz="1800" err="1"/>
              <a:t>records.append</a:t>
            </a:r>
            <a:r>
              <a:rPr sz="1800"/>
              <a:t>([</a:t>
            </a:r>
            <a:r>
              <a:rPr sz="1800" err="1"/>
              <a:t>str</a:t>
            </a:r>
            <a:r>
              <a:rPr sz="1800"/>
              <a:t>(</a:t>
            </a:r>
            <a:r>
              <a:rPr sz="1800" err="1"/>
              <a:t>dataset.values</a:t>
            </a:r>
            <a:r>
              <a:rPr sz="1800"/>
              <a:t>[</a:t>
            </a:r>
            <a:r>
              <a:rPr sz="1800" err="1"/>
              <a:t>i,j</a:t>
            </a:r>
            <a:r>
              <a:rPr sz="1800"/>
              <a:t>]) for j in range(0, 10)])</a:t>
            </a:r>
          </a:p>
          <a:p>
            <a:pPr marL="0" indent="0">
              <a:buFont typeface="Wingdings 3" panose="05040102010807070707" pitchFamily="18" charset="2"/>
              <a:buNone/>
              <a:defRPr/>
            </a:pPr>
            <a:r>
              <a:rPr sz="1800" b="1"/>
              <a:t># Train </a:t>
            </a:r>
            <a:r>
              <a:rPr sz="1800" b="1" err="1"/>
              <a:t>Apriori</a:t>
            </a:r>
            <a:r>
              <a:rPr sz="1800" b="1"/>
              <a:t> Model</a:t>
            </a:r>
            <a:br>
              <a:rPr sz="1800"/>
            </a:br>
            <a:r>
              <a:rPr sz="1800"/>
              <a:t>from </a:t>
            </a:r>
            <a:r>
              <a:rPr sz="1800" err="1"/>
              <a:t>apyori</a:t>
            </a:r>
            <a:r>
              <a:rPr sz="1800"/>
              <a:t> import </a:t>
            </a:r>
            <a:r>
              <a:rPr sz="1800" err="1"/>
              <a:t>apriori</a:t>
            </a:r>
            <a:br>
              <a:rPr sz="1800"/>
            </a:br>
            <a:r>
              <a:rPr sz="1800"/>
              <a:t>rules = </a:t>
            </a:r>
            <a:r>
              <a:rPr sz="1800" err="1"/>
              <a:t>apriori</a:t>
            </a:r>
            <a:r>
              <a:rPr sz="1800"/>
              <a:t>(records, </a:t>
            </a:r>
            <a:r>
              <a:rPr sz="1800" err="1"/>
              <a:t>min_support</a:t>
            </a:r>
            <a:r>
              <a:rPr sz="1800"/>
              <a:t> = 0.003, </a:t>
            </a:r>
            <a:r>
              <a:rPr sz="1800" err="1"/>
              <a:t>min_confidence</a:t>
            </a:r>
            <a:r>
              <a:rPr sz="1800"/>
              <a:t> = 0.2, </a:t>
            </a:r>
            <a:r>
              <a:rPr sz="1800" err="1"/>
              <a:t>min_lift</a:t>
            </a:r>
            <a:r>
              <a:rPr sz="1800"/>
              <a:t> = 3, </a:t>
            </a:r>
            <a:r>
              <a:rPr sz="1800" err="1"/>
              <a:t>min_length</a:t>
            </a:r>
            <a:r>
              <a:rPr sz="1800"/>
              <a:t> = 2)</a:t>
            </a:r>
          </a:p>
          <a:p>
            <a:pPr marL="0" indent="0">
              <a:buFont typeface="Wingdings 3" panose="05040102010807070707" pitchFamily="18" charset="2"/>
              <a:buNone/>
              <a:defRPr/>
            </a:pPr>
            <a:r>
              <a:rPr sz="1800" b="1"/>
              <a:t># </a:t>
            </a:r>
            <a:r>
              <a:rPr sz="1800" b="1" err="1"/>
              <a:t>Visualising</a:t>
            </a:r>
            <a:r>
              <a:rPr sz="1800" b="1"/>
              <a:t> the results</a:t>
            </a:r>
            <a:br>
              <a:rPr sz="1800"/>
            </a:br>
            <a:r>
              <a:rPr sz="1800" err="1"/>
              <a:t>results</a:t>
            </a:r>
            <a:r>
              <a:rPr sz="1800"/>
              <a:t> = list(rules)</a:t>
            </a:r>
          </a:p>
          <a:p>
            <a:pPr>
              <a:buFont typeface="Wingdings 3" panose="05040102010807070707" pitchFamily="18" charset="2"/>
              <a:buChar char=""/>
              <a:defRPr/>
            </a:pPr>
            <a:endParaRPr sz="18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CB7AF-EBA5-43E9-869A-7767D5BD9043}"/>
              </a:ext>
            </a:extLst>
          </p:cNvPr>
          <p:cNvSpPr>
            <a:spLocks noGrp="1"/>
          </p:cNvSpPr>
          <p:nvPr>
            <p:ph type="title"/>
          </p:nvPr>
        </p:nvSpPr>
        <p:spPr/>
        <p:txBody>
          <a:bodyPr/>
          <a:lstStyle/>
          <a:p>
            <a:pPr>
              <a:defRPr/>
            </a:pPr>
            <a:r>
              <a:rPr lang="en-US" cap="none" dirty="0"/>
              <a:t>Regression</a:t>
            </a:r>
            <a:r>
              <a:rPr lang="en-US" dirty="0"/>
              <a:t> </a:t>
            </a:r>
            <a:r>
              <a:rPr lang="en-US" cap="none" dirty="0"/>
              <a:t>Algorithm</a:t>
            </a:r>
            <a:endParaRPr lang="en-US" dirty="0"/>
          </a:p>
        </p:txBody>
      </p:sp>
      <p:sp>
        <p:nvSpPr>
          <p:cNvPr id="3" name="Text Placeholder 2">
            <a:extLst>
              <a:ext uri="{FF2B5EF4-FFF2-40B4-BE49-F238E27FC236}">
                <a16:creationId xmlns:a16="http://schemas.microsoft.com/office/drawing/2014/main" id="{13A2A2DB-A871-4DF1-A2A2-698D9E44096B}"/>
              </a:ext>
            </a:extLst>
          </p:cNvPr>
          <p:cNvSpPr>
            <a:spLocks noGrp="1"/>
          </p:cNvSpPr>
          <p:nvPr>
            <p:ph type="body" idx="1"/>
          </p:nvPr>
        </p:nvSpPr>
        <p:spPr/>
        <p:txBody>
          <a:bodyPr/>
          <a:lstStyle/>
          <a:p>
            <a:pPr>
              <a:buFont typeface="Wingdings 3" panose="05040102010807070707" pitchFamily="18" charset="2"/>
              <a:buNone/>
              <a:defRPr/>
            </a:pPr>
            <a:r>
              <a:rPr lang="en-US" dirty="0">
                <a:solidFill>
                  <a:srgbClr val="FFFF00"/>
                </a:solidFill>
              </a:rPr>
              <a:t>Supervised machine learning </a:t>
            </a:r>
          </a:p>
          <a:p>
            <a:pPr>
              <a:buFont typeface="Wingdings 3" panose="05040102010807070707" pitchFamily="18" charset="2"/>
              <a:buNone/>
              <a:defRPr/>
            </a:pPr>
            <a:endParaRPr lang="en-US" dirty="0"/>
          </a:p>
          <a:p>
            <a:pPr>
              <a:buFont typeface="Wingdings 3" panose="05040102010807070707" pitchFamily="18" charset="2"/>
              <a:buNone/>
              <a:defRPr/>
            </a:pP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3BCDB97-F44E-441E-97C9-BCD4931FB9BD}"/>
              </a:ext>
            </a:extLst>
          </p:cNvPr>
          <p:cNvSpPr>
            <a:spLocks noGrp="1"/>
          </p:cNvSpPr>
          <p:nvPr>
            <p:ph type="body" sz="quarter" idx="10"/>
          </p:nvPr>
        </p:nvSpPr>
        <p:spPr/>
        <p:txBody>
          <a:bodyPr/>
          <a:lstStyle/>
          <a:p>
            <a:pPr>
              <a:buFont typeface="Wingdings 3" panose="05040102010807070707" pitchFamily="18" charset="2"/>
              <a:buNone/>
              <a:defRPr/>
            </a:pPr>
            <a:r>
              <a:rPr lang="en-US"/>
              <a:t>Regression</a:t>
            </a:r>
            <a:endParaRPr/>
          </a:p>
        </p:txBody>
      </p:sp>
      <p:pic>
        <p:nvPicPr>
          <p:cNvPr id="81923" name="Picture 3">
            <a:extLst>
              <a:ext uri="{FF2B5EF4-FFF2-40B4-BE49-F238E27FC236}">
                <a16:creationId xmlns:a16="http://schemas.microsoft.com/office/drawing/2014/main" id="{8D3F30D7-B99C-20D4-39BA-E9E92C8FE1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2038" y="1317625"/>
            <a:ext cx="3125787"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4" name="Picture 2">
            <a:extLst>
              <a:ext uri="{FF2B5EF4-FFF2-40B4-BE49-F238E27FC236}">
                <a16:creationId xmlns:a16="http://schemas.microsoft.com/office/drawing/2014/main" id="{D1166DC9-500F-2BF9-DB80-194E2981B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7275" y="3849688"/>
            <a:ext cx="3087688" cy="245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5" name="Picture 3">
            <a:extLst>
              <a:ext uri="{FF2B5EF4-FFF2-40B4-BE49-F238E27FC236}">
                <a16:creationId xmlns:a16="http://schemas.microsoft.com/office/drawing/2014/main" id="{AD37AB69-793B-4E04-EB06-425F3D495B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 y="1695450"/>
            <a:ext cx="7881938"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E1063A-5127-4C67-A5A5-FD58E0C04A42}"/>
              </a:ext>
            </a:extLst>
          </p:cNvPr>
          <p:cNvSpPr>
            <a:spLocks noGrp="1"/>
          </p:cNvSpPr>
          <p:nvPr>
            <p:ph type="body" sz="quarter" idx="10"/>
          </p:nvPr>
        </p:nvSpPr>
        <p:spPr>
          <a:xfrm>
            <a:off x="457200" y="0"/>
            <a:ext cx="11266488" cy="1066800"/>
          </a:xfrm>
        </p:spPr>
        <p:txBody>
          <a:bodyPr/>
          <a:lstStyle/>
          <a:p>
            <a:pPr>
              <a:buFont typeface="Wingdings 3" panose="05040102010807070707" pitchFamily="18" charset="2"/>
              <a:buNone/>
              <a:defRPr/>
            </a:pPr>
            <a:r>
              <a:rPr lang="en-US"/>
              <a:t>Linear Regression</a:t>
            </a:r>
          </a:p>
        </p:txBody>
      </p:sp>
      <p:sp>
        <p:nvSpPr>
          <p:cNvPr id="210947" name="Content Placeholder 2">
            <a:extLst>
              <a:ext uri="{FF2B5EF4-FFF2-40B4-BE49-F238E27FC236}">
                <a16:creationId xmlns:a16="http://schemas.microsoft.com/office/drawing/2014/main" id="{45D676DA-64E0-4533-8E90-716ED2D16EA2}"/>
              </a:ext>
            </a:extLst>
          </p:cNvPr>
          <p:cNvSpPr>
            <a:spLocks noGrp="1" noChangeArrowheads="1"/>
          </p:cNvSpPr>
          <p:nvPr>
            <p:ph sz="quarter" idx="11"/>
          </p:nvPr>
        </p:nvSpPr>
        <p:spPr>
          <a:xfrm>
            <a:off x="434975" y="949325"/>
            <a:ext cx="11288713" cy="5570538"/>
          </a:xfrm>
        </p:spPr>
        <p:txBody>
          <a:bodyPr/>
          <a:lstStyle/>
          <a:p>
            <a:pPr>
              <a:buFont typeface="Wingdings 3" panose="05040102010807070707" pitchFamily="18" charset="2"/>
              <a:buChar char=""/>
              <a:defRPr/>
            </a:pPr>
            <a:r>
              <a:rPr sz="1400" err="1"/>
              <a:t>x_train,x_test</a:t>
            </a:r>
            <a:r>
              <a:rPr sz="1400"/>
              <a:t>, </a:t>
            </a:r>
            <a:r>
              <a:rPr sz="1400" err="1"/>
              <a:t>y_train</a:t>
            </a:r>
            <a:r>
              <a:rPr sz="1400"/>
              <a:t>,  </a:t>
            </a:r>
            <a:r>
              <a:rPr sz="1400" err="1"/>
              <a:t>y_test</a:t>
            </a:r>
            <a:r>
              <a:rPr sz="1400"/>
              <a:t> = </a:t>
            </a:r>
            <a:r>
              <a:rPr sz="1400" err="1"/>
              <a:t>train_test_split</a:t>
            </a:r>
            <a:r>
              <a:rPr sz="1400"/>
              <a:t>(data[‘x’],data[‘y'], </a:t>
            </a:r>
            <a:r>
              <a:rPr sz="1400" err="1"/>
              <a:t>test_size</a:t>
            </a:r>
            <a:r>
              <a:rPr sz="1400"/>
              <a:t>=0.3, </a:t>
            </a:r>
            <a:r>
              <a:rPr sz="1400" err="1"/>
              <a:t>random_state</a:t>
            </a:r>
            <a:r>
              <a:rPr sz="1400"/>
              <a:t>=1)</a:t>
            </a:r>
          </a:p>
          <a:p>
            <a:pPr>
              <a:buFont typeface="Wingdings 3" panose="05040102010807070707" pitchFamily="18" charset="2"/>
              <a:buChar char=""/>
              <a:defRPr/>
            </a:pPr>
            <a:r>
              <a:rPr sz="1400"/>
              <a:t>regr = </a:t>
            </a:r>
            <a:r>
              <a:rPr sz="1400" err="1"/>
              <a:t>LinearRegression</a:t>
            </a:r>
            <a:r>
              <a:rPr sz="1400"/>
              <a:t>()</a:t>
            </a:r>
          </a:p>
          <a:p>
            <a:pPr>
              <a:buFont typeface="Wingdings 3" panose="05040102010807070707" pitchFamily="18" charset="2"/>
              <a:buChar char=""/>
              <a:defRPr/>
            </a:pPr>
            <a:r>
              <a:rPr lang="fr-FR" sz="1400" err="1"/>
              <a:t>regr.fit</a:t>
            </a:r>
            <a:r>
              <a:rPr lang="fr-FR" sz="1400"/>
              <a:t>(</a:t>
            </a:r>
            <a:r>
              <a:rPr lang="fr-FR" sz="1400" err="1"/>
              <a:t>x_train</a:t>
            </a:r>
            <a:r>
              <a:rPr lang="fr-FR" sz="1400"/>
              <a:t>, </a:t>
            </a:r>
            <a:r>
              <a:rPr lang="fr-FR" sz="1400" err="1"/>
              <a:t>y_train</a:t>
            </a:r>
            <a:r>
              <a:rPr lang="fr-FR" sz="1400"/>
              <a:t>)</a:t>
            </a:r>
          </a:p>
          <a:p>
            <a:pPr>
              <a:buFont typeface="Wingdings 3" panose="05040102010807070707" pitchFamily="18" charset="2"/>
              <a:buChar char=""/>
              <a:defRPr/>
            </a:pPr>
            <a:r>
              <a:rPr sz="1400" err="1"/>
              <a:t>y_pred</a:t>
            </a:r>
            <a:r>
              <a:rPr sz="1400"/>
              <a:t> = </a:t>
            </a:r>
            <a:r>
              <a:rPr sz="1400" err="1"/>
              <a:t>regr.predict</a:t>
            </a:r>
            <a:r>
              <a:rPr sz="1400"/>
              <a:t>(</a:t>
            </a:r>
            <a:r>
              <a:rPr sz="1400" err="1"/>
              <a:t>x_test</a:t>
            </a:r>
            <a:r>
              <a:rPr sz="1400"/>
              <a:t>)</a:t>
            </a:r>
          </a:p>
          <a:p>
            <a:pPr>
              <a:buFont typeface="Wingdings 3" panose="05040102010807070707" pitchFamily="18" charset="2"/>
              <a:buChar char=""/>
              <a:defRPr/>
            </a:pPr>
            <a:r>
              <a:rPr sz="1400"/>
              <a:t>print 'R2 score: %f'%r2_score(</a:t>
            </a:r>
            <a:r>
              <a:rPr sz="1400" err="1"/>
              <a:t>y_test</a:t>
            </a:r>
            <a:r>
              <a:rPr sz="1400"/>
              <a:t>, </a:t>
            </a:r>
            <a:r>
              <a:rPr sz="1400" err="1"/>
              <a:t>y_pred</a:t>
            </a:r>
            <a:r>
              <a:rPr sz="1400"/>
              <a:t>)</a:t>
            </a:r>
          </a:p>
          <a:p>
            <a:pPr>
              <a:buFont typeface="Wingdings 3" panose="05040102010807070707" pitchFamily="18" charset="2"/>
              <a:buChar char=""/>
              <a:defRPr/>
            </a:pPr>
            <a:r>
              <a:rPr lang="fr-FR" sz="1400" err="1"/>
              <a:t>print</a:t>
            </a:r>
            <a:r>
              <a:rPr lang="fr-FR" sz="1400"/>
              <a:t> '</a:t>
            </a:r>
            <a:r>
              <a:rPr lang="fr-FR" sz="1400" err="1"/>
              <a:t>Intercept</a:t>
            </a:r>
            <a:r>
              <a:rPr lang="fr-FR" sz="1400"/>
              <a:t>: %f'%</a:t>
            </a:r>
            <a:r>
              <a:rPr lang="fr-FR" sz="1400" err="1"/>
              <a:t>regr.intercept</a:t>
            </a:r>
            <a:r>
              <a:rPr lang="fr-FR" sz="1400"/>
              <a:t>_</a:t>
            </a:r>
          </a:p>
          <a:p>
            <a:pPr>
              <a:buFont typeface="Wingdings 3" panose="05040102010807070707" pitchFamily="18" charset="2"/>
              <a:buChar char=""/>
              <a:defRPr/>
            </a:pPr>
            <a:r>
              <a:rPr lang="fr-FR" sz="1400" err="1"/>
              <a:t>print</a:t>
            </a:r>
            <a:r>
              <a:rPr lang="fr-FR" sz="1400"/>
              <a:t> 'Coefficients: %s'%</a:t>
            </a:r>
            <a:r>
              <a:rPr lang="fr-FR" sz="1400" err="1"/>
              <a:t>str</a:t>
            </a:r>
            <a:r>
              <a:rPr lang="fr-FR" sz="1400"/>
              <a:t>(</a:t>
            </a:r>
            <a:r>
              <a:rPr lang="fr-FR" sz="1400" err="1"/>
              <a:t>regr.coef</a:t>
            </a:r>
            <a:r>
              <a:rPr lang="fr-FR" sz="1400"/>
              <a:t>_)</a:t>
            </a:r>
            <a:endParaRPr lang="fr-FR" altLang="ar-EG" sz="1400"/>
          </a:p>
          <a:p>
            <a:pPr marL="0" indent="0">
              <a:buFont typeface="Wingdings 3" panose="05040102010807070707" pitchFamily="18" charset="2"/>
              <a:buNone/>
              <a:defRPr/>
            </a:pPr>
            <a:endParaRPr altLang="ar-EG" sz="800"/>
          </a:p>
          <a:p>
            <a:pPr marL="0" indent="0">
              <a:buFont typeface="Wingdings 3" panose="05040102010807070707" pitchFamily="18" charset="2"/>
              <a:buNone/>
              <a:defRPr/>
            </a:pPr>
            <a:r>
              <a:rPr altLang="ar-EG" sz="1400"/>
              <a:t>What is Intercept and Coefficient?</a:t>
            </a:r>
          </a:p>
          <a:p>
            <a:pPr>
              <a:buFont typeface="Wingdings 3" panose="05040102010807070707" pitchFamily="18" charset="2"/>
              <a:buChar char=""/>
              <a:defRPr/>
            </a:pPr>
            <a:endParaRPr lang="ar-EG" altLang="ar-EG" sz="1400"/>
          </a:p>
        </p:txBody>
      </p:sp>
      <p:pic>
        <p:nvPicPr>
          <p:cNvPr id="82948" name="Picture 3">
            <a:extLst>
              <a:ext uri="{FF2B5EF4-FFF2-40B4-BE49-F238E27FC236}">
                <a16:creationId xmlns:a16="http://schemas.microsoft.com/office/drawing/2014/main" id="{EF066D67-B327-9079-5DAC-6C52CC3070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9938" y="3857625"/>
            <a:ext cx="5781675"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Picture 2">
            <a:extLst>
              <a:ext uri="{FF2B5EF4-FFF2-40B4-BE49-F238E27FC236}">
                <a16:creationId xmlns:a16="http://schemas.microsoft.com/office/drawing/2014/main" id="{684F997D-2B0E-D710-C779-F65C6FFD9E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75" y="3857625"/>
            <a:ext cx="5322888"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5">
            <a:extLst>
              <a:ext uri="{FF2B5EF4-FFF2-40B4-BE49-F238E27FC236}">
                <a16:creationId xmlns:a16="http://schemas.microsoft.com/office/drawing/2014/main" id="{937351A1-B843-E729-0DC3-6B4F2012B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8313" y="304800"/>
            <a:ext cx="3740150" cy="406876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7" name="Text Placeholder 6">
            <a:extLst>
              <a:ext uri="{FF2B5EF4-FFF2-40B4-BE49-F238E27FC236}">
                <a16:creationId xmlns:a16="http://schemas.microsoft.com/office/drawing/2014/main" id="{D570F45F-B761-4BDB-9737-F10F790DA123}"/>
              </a:ext>
            </a:extLst>
          </p:cNvPr>
          <p:cNvSpPr>
            <a:spLocks noGrp="1"/>
          </p:cNvSpPr>
          <p:nvPr>
            <p:ph type="body" sz="quarter" idx="10"/>
          </p:nvPr>
        </p:nvSpPr>
        <p:spPr/>
        <p:txBody>
          <a:bodyPr/>
          <a:lstStyle/>
          <a:p>
            <a:pPr>
              <a:buFont typeface="Wingdings 3" panose="05040102010807070707" pitchFamily="18" charset="2"/>
              <a:buNone/>
              <a:defRPr/>
            </a:pPr>
            <a:r>
              <a:rPr lang="en-US"/>
              <a:t>Bias, Overfitting</a:t>
            </a:r>
          </a:p>
        </p:txBody>
      </p:sp>
      <p:sp>
        <p:nvSpPr>
          <p:cNvPr id="83972" name="Content Placeholder 7">
            <a:extLst>
              <a:ext uri="{FF2B5EF4-FFF2-40B4-BE49-F238E27FC236}">
                <a16:creationId xmlns:a16="http://schemas.microsoft.com/office/drawing/2014/main" id="{54F7D46A-AEE7-4BFD-96A9-A38E6D526484}"/>
              </a:ext>
            </a:extLst>
          </p:cNvPr>
          <p:cNvSpPr>
            <a:spLocks noGrp="1" noChangeArrowheads="1"/>
          </p:cNvSpPr>
          <p:nvPr>
            <p:ph sz="quarter" idx="11"/>
          </p:nvPr>
        </p:nvSpPr>
        <p:spPr>
          <a:xfrm>
            <a:off x="434975" y="1317625"/>
            <a:ext cx="7537450" cy="5202238"/>
          </a:xfrm>
        </p:spPr>
        <p:txBody>
          <a:bodyPr/>
          <a:lstStyle/>
          <a:p>
            <a:r>
              <a:rPr altLang="ar-EG"/>
              <a:t>Outliers can create a bias in the outcome of a regression model such that they will pull the best fit line toward themselves. Hence treatment of outliers is critical in regression.</a:t>
            </a:r>
          </a:p>
          <a:p>
            <a:endParaRPr altLang="ar-EG"/>
          </a:p>
          <a:p>
            <a:r>
              <a:rPr altLang="ar-EG"/>
              <a:t>Overfitting refers to the phenomenon where a model is highly fitted on a dataset. This generalization thus deprives the model from making highly accurate predictions about unseen data.</a:t>
            </a:r>
            <a:endParaRPr lang="ar-EG" altLang="ar-EG"/>
          </a:p>
          <a:p>
            <a:endParaRPr altLang="ar-EG"/>
          </a:p>
          <a:p>
            <a:r>
              <a:rPr altLang="ar-EG"/>
              <a:t>Overfitting = high variance </a:t>
            </a:r>
          </a:p>
          <a:p>
            <a:r>
              <a:rPr altLang="ar-EG"/>
              <a:t>Bias = Under fitting </a:t>
            </a:r>
          </a:p>
        </p:txBody>
      </p:sp>
      <p:pic>
        <p:nvPicPr>
          <p:cNvPr id="83973" name="Picture 8">
            <a:extLst>
              <a:ext uri="{FF2B5EF4-FFF2-40B4-BE49-F238E27FC236}">
                <a16:creationId xmlns:a16="http://schemas.microsoft.com/office/drawing/2014/main" id="{0480DEB0-D47F-7CCD-0FE2-3F79CAF158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8313" y="4541838"/>
            <a:ext cx="3740150"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1EE148-98FE-4DE1-9247-D1B3D98DAA57}"/>
              </a:ext>
            </a:extLst>
          </p:cNvPr>
          <p:cNvSpPr>
            <a:spLocks noGrp="1"/>
          </p:cNvSpPr>
          <p:nvPr>
            <p:ph type="body" sz="quarter" idx="10"/>
          </p:nvPr>
        </p:nvSpPr>
        <p:spPr/>
        <p:txBody>
          <a:bodyPr/>
          <a:lstStyle/>
          <a:p>
            <a:pPr>
              <a:buFont typeface="Wingdings 3" panose="05040102010807070707" pitchFamily="18" charset="2"/>
              <a:buNone/>
              <a:defRPr/>
            </a:pPr>
            <a:r>
              <a:rPr lang="en-US"/>
              <a:t>How to find the best regression line?</a:t>
            </a:r>
          </a:p>
        </p:txBody>
      </p:sp>
      <p:sp>
        <p:nvSpPr>
          <p:cNvPr id="3" name="Content Placeholder 2">
            <a:extLst>
              <a:ext uri="{FF2B5EF4-FFF2-40B4-BE49-F238E27FC236}">
                <a16:creationId xmlns:a16="http://schemas.microsoft.com/office/drawing/2014/main" id="{B089A26D-2D6B-4FE1-B8AA-2E9FCEE26CA4}"/>
              </a:ext>
            </a:extLst>
          </p:cNvPr>
          <p:cNvSpPr>
            <a:spLocks noGrp="1"/>
          </p:cNvSpPr>
          <p:nvPr>
            <p:ph sz="quarter" idx="11"/>
          </p:nvPr>
        </p:nvSpPr>
        <p:spPr/>
        <p:txBody>
          <a:bodyPr/>
          <a:lstStyle/>
          <a:p>
            <a:pPr marL="0" indent="0">
              <a:buFont typeface="Wingdings 3" panose="05040102010807070707" pitchFamily="18" charset="2"/>
              <a:buNone/>
              <a:defRPr/>
            </a:pPr>
            <a:r>
              <a:t>Here are some methods which check for error:</a:t>
            </a:r>
          </a:p>
          <a:p>
            <a:pPr>
              <a:buFont typeface="Wingdings 3" panose="05040102010807070707" pitchFamily="18" charset="2"/>
              <a:buChar char=""/>
              <a:defRPr/>
            </a:pPr>
            <a:r>
              <a:t>Sum of all errors (∑error)</a:t>
            </a:r>
          </a:p>
          <a:p>
            <a:pPr>
              <a:buFont typeface="Wingdings 3" panose="05040102010807070707" pitchFamily="18" charset="2"/>
              <a:buChar char=""/>
              <a:defRPr/>
            </a:pPr>
            <a:r>
              <a:t>Sum of absolute value of all errors (∑|error|)</a:t>
            </a:r>
          </a:p>
          <a:p>
            <a:pPr>
              <a:buFont typeface="Wingdings 3" panose="05040102010807070707" pitchFamily="18" charset="2"/>
              <a:buChar char=""/>
              <a:defRPr/>
            </a:pPr>
            <a:r>
              <a:t>Sum of square of all errors (∑error^2)</a:t>
            </a:r>
          </a:p>
        </p:txBody>
      </p:sp>
      <p:pic>
        <p:nvPicPr>
          <p:cNvPr id="84996" name="Picture 3">
            <a:extLst>
              <a:ext uri="{FF2B5EF4-FFF2-40B4-BE49-F238E27FC236}">
                <a16:creationId xmlns:a16="http://schemas.microsoft.com/office/drawing/2014/main" id="{4419CEFE-6461-BF6D-613A-17F14A762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4275" y="3567113"/>
            <a:ext cx="5459413"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Picture 4">
            <a:extLst>
              <a:ext uri="{FF2B5EF4-FFF2-40B4-BE49-F238E27FC236}">
                <a16:creationId xmlns:a16="http://schemas.microsoft.com/office/drawing/2014/main" id="{166DF4AC-E6EF-3AA5-5CBC-6C27DD9BD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567113"/>
            <a:ext cx="526415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8708CE-79E4-4C9B-BAE6-EAAA9B292A7E}"/>
              </a:ext>
            </a:extLst>
          </p:cNvPr>
          <p:cNvSpPr>
            <a:spLocks noGrp="1"/>
          </p:cNvSpPr>
          <p:nvPr>
            <p:ph type="body" sz="quarter" idx="10"/>
          </p:nvPr>
        </p:nvSpPr>
        <p:spPr/>
        <p:txBody>
          <a:bodyPr/>
          <a:lstStyle/>
          <a:p>
            <a:pPr>
              <a:buFont typeface="Wingdings 3" panose="05040102010807070707" pitchFamily="18" charset="2"/>
              <a:buNone/>
              <a:defRPr/>
            </a:pPr>
            <a:r>
              <a:rPr lang="en-US"/>
              <a:t>Ordinary Least Square (OLS)</a:t>
            </a:r>
          </a:p>
        </p:txBody>
      </p:sp>
      <p:sp>
        <p:nvSpPr>
          <p:cNvPr id="86019" name="Content Placeholder 2">
            <a:extLst>
              <a:ext uri="{FF2B5EF4-FFF2-40B4-BE49-F238E27FC236}">
                <a16:creationId xmlns:a16="http://schemas.microsoft.com/office/drawing/2014/main" id="{F11967AB-5742-3364-98CF-041C7DEE9381}"/>
              </a:ext>
            </a:extLst>
          </p:cNvPr>
          <p:cNvSpPr>
            <a:spLocks noGrp="1" noChangeArrowheads="1"/>
          </p:cNvSpPr>
          <p:nvPr>
            <p:ph sz="quarter" idx="11"/>
          </p:nvPr>
        </p:nvSpPr>
        <p:spPr>
          <a:xfrm>
            <a:off x="434975" y="1317625"/>
            <a:ext cx="11612563" cy="5202238"/>
          </a:xfrm>
        </p:spPr>
        <p:txBody>
          <a:bodyPr/>
          <a:lstStyle/>
          <a:p>
            <a:pPr marL="0" indent="0">
              <a:buFont typeface="Wingdings 3" pitchFamily="2" charset="2"/>
              <a:buNone/>
            </a:pPr>
            <a:r>
              <a:rPr altLang="ar-EG"/>
              <a:t> The simplest form of regression formula is : Y= a * X + b</a:t>
            </a:r>
          </a:p>
          <a:p>
            <a:pPr marL="0" indent="0">
              <a:buFont typeface="Wingdings 3" pitchFamily="2" charset="2"/>
              <a:buNone/>
            </a:pPr>
            <a:r>
              <a:rPr altLang="ar-EG" b="1"/>
              <a:t>Now, find the value of a and b?</a:t>
            </a:r>
          </a:p>
          <a:p>
            <a:pPr marL="0" indent="0">
              <a:buFont typeface="Wingdings 3" pitchFamily="2" charset="2"/>
              <a:buNone/>
            </a:pPr>
            <a:r>
              <a:rPr altLang="ar-EG"/>
              <a:t>coefficients a and b are derived based on minimizing the sum of squared difference of distance between data points and regression line.</a:t>
            </a:r>
          </a:p>
          <a:p>
            <a:pPr marL="0" indent="0">
              <a:buFont typeface="Wingdings 3" pitchFamily="2" charset="2"/>
              <a:buNone/>
            </a:pPr>
            <a:br>
              <a:rPr altLang="ar-EG" sz="900"/>
            </a:br>
            <a:r>
              <a:rPr altLang="ar-EG"/>
              <a:t>common algorithm to find the right coefficients for minimum sum of squared errors is Ordinary Least Square (OLS)</a:t>
            </a:r>
            <a:br>
              <a:rPr altLang="ar-EG"/>
            </a:br>
            <a:endParaRPr altLang="ar-EG"/>
          </a:p>
        </p:txBody>
      </p:sp>
      <p:pic>
        <p:nvPicPr>
          <p:cNvPr id="86020" name="Picture 2" descr="Linear2">
            <a:extLst>
              <a:ext uri="{FF2B5EF4-FFF2-40B4-BE49-F238E27FC236}">
                <a16:creationId xmlns:a16="http://schemas.microsoft.com/office/drawing/2014/main" id="{307D59B0-EFF0-D003-B472-20C261E2F0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8863" y="3603625"/>
            <a:ext cx="4638675"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96BC90-17E3-49EB-9899-A31C103400B5}"/>
              </a:ext>
            </a:extLst>
          </p:cNvPr>
          <p:cNvSpPr>
            <a:spLocks noGrp="1"/>
          </p:cNvSpPr>
          <p:nvPr>
            <p:ph type="body" sz="quarter" idx="10"/>
          </p:nvPr>
        </p:nvSpPr>
        <p:spPr>
          <a:xfrm>
            <a:off x="457200" y="115888"/>
            <a:ext cx="11266488" cy="819150"/>
          </a:xfrm>
        </p:spPr>
        <p:txBody>
          <a:bodyPr/>
          <a:lstStyle/>
          <a:p>
            <a:pPr>
              <a:buFont typeface="Wingdings 3" panose="05040102010807070707" pitchFamily="18" charset="2"/>
              <a:buNone/>
              <a:defRPr/>
            </a:pPr>
            <a:r>
              <a:rPr lang="en-US"/>
              <a:t>Regression regularization techniques</a:t>
            </a:r>
          </a:p>
        </p:txBody>
      </p:sp>
      <p:sp>
        <p:nvSpPr>
          <p:cNvPr id="3" name="Content Placeholder 2">
            <a:extLst>
              <a:ext uri="{FF2B5EF4-FFF2-40B4-BE49-F238E27FC236}">
                <a16:creationId xmlns:a16="http://schemas.microsoft.com/office/drawing/2014/main" id="{0DF07DD4-B3A6-46EE-B1C5-6B17BAD64F08}"/>
              </a:ext>
            </a:extLst>
          </p:cNvPr>
          <p:cNvSpPr>
            <a:spLocks noGrp="1"/>
          </p:cNvSpPr>
          <p:nvPr>
            <p:ph sz="quarter" idx="11"/>
          </p:nvPr>
        </p:nvSpPr>
        <p:spPr>
          <a:xfrm>
            <a:off x="434975" y="935038"/>
            <a:ext cx="11596688" cy="5584825"/>
          </a:xfrm>
        </p:spPr>
        <p:txBody>
          <a:bodyPr/>
          <a:lstStyle/>
          <a:p>
            <a:pPr>
              <a:buFont typeface="Wingdings 3" panose="05040102010807070707" pitchFamily="18" charset="2"/>
              <a:buChar char=""/>
              <a:defRPr/>
            </a:pPr>
            <a:r>
              <a:rPr sz="1600"/>
              <a:t>if you are using regression without regularization, you have to be very special!</a:t>
            </a:r>
          </a:p>
          <a:p>
            <a:pPr>
              <a:buFont typeface="Wingdings 3" panose="05040102010807070707" pitchFamily="18" charset="2"/>
              <a:buChar char=""/>
              <a:defRPr/>
            </a:pPr>
            <a:r>
              <a:rPr sz="1600"/>
              <a:t>‘regularization’ techniques means penalizing the magnitude of coefficients of features along with minimizing the error between predicted and actual observations.</a:t>
            </a:r>
          </a:p>
          <a:p>
            <a:pPr>
              <a:buFont typeface="Wingdings 3" panose="05040102010807070707" pitchFamily="18" charset="2"/>
              <a:buChar char=""/>
              <a:defRPr/>
            </a:pPr>
            <a:endParaRPr sz="1600"/>
          </a:p>
          <a:p>
            <a:pPr>
              <a:buFont typeface="Wingdings 3" panose="05040102010807070707" pitchFamily="18" charset="2"/>
              <a:buChar char=""/>
              <a:defRPr/>
            </a:pPr>
            <a:r>
              <a:rPr sz="1600" b="1"/>
              <a:t>Residual Sum of Squares (RSS): </a:t>
            </a:r>
            <a:r>
              <a:rPr sz="1600"/>
              <a:t>sum of square of errors between the predicted and actual values in the training data set.</a:t>
            </a:r>
          </a:p>
          <a:p>
            <a:pPr>
              <a:buFont typeface="Wingdings 3" panose="05040102010807070707" pitchFamily="18" charset="2"/>
              <a:buChar char=""/>
              <a:defRPr/>
            </a:pPr>
            <a:endParaRPr sz="1600"/>
          </a:p>
          <a:p>
            <a:pPr>
              <a:buFont typeface="Wingdings 3" panose="05040102010807070707" pitchFamily="18" charset="2"/>
              <a:buChar char=""/>
              <a:defRPr/>
            </a:pPr>
            <a:endParaRPr sz="100"/>
          </a:p>
          <a:p>
            <a:pPr marL="0" indent="0">
              <a:buFont typeface="Wingdings 3" panose="05040102010807070707" pitchFamily="18" charset="2"/>
              <a:buNone/>
              <a:defRPr/>
            </a:pPr>
            <a:r>
              <a:rPr sz="1600" b="1">
                <a:solidFill>
                  <a:srgbClr val="FFFF00"/>
                </a:solidFill>
              </a:rPr>
              <a:t>Ridge Regression:</a:t>
            </a:r>
            <a:endParaRPr sz="1600">
              <a:solidFill>
                <a:srgbClr val="FFFF00"/>
              </a:solidFill>
            </a:endParaRPr>
          </a:p>
          <a:p>
            <a:pPr lvl="1">
              <a:buFont typeface="Wingdings 3" panose="05040102010807070707" pitchFamily="18" charset="2"/>
              <a:buChar char=""/>
              <a:defRPr/>
            </a:pPr>
            <a:r>
              <a:rPr sz="1600"/>
              <a:t>Performs L2 regularization, i.e. adds penalty equivalent to </a:t>
            </a:r>
            <a:r>
              <a:rPr sz="1600" b="1"/>
              <a:t>square of the magnitude</a:t>
            </a:r>
            <a:r>
              <a:rPr sz="1600"/>
              <a:t> of coefficients</a:t>
            </a:r>
          </a:p>
          <a:p>
            <a:pPr lvl="1">
              <a:buFont typeface="Wingdings 3" panose="05040102010807070707" pitchFamily="18" charset="2"/>
              <a:buChar char=""/>
              <a:defRPr/>
            </a:pPr>
            <a:r>
              <a:rPr sz="1600"/>
              <a:t>Optimizes(Minimization) objective = RSS + α * (sum of </a:t>
            </a:r>
            <a:r>
              <a:rPr sz="1600" u="sng"/>
              <a:t>square</a:t>
            </a:r>
            <a:r>
              <a:rPr sz="1600"/>
              <a:t> of coefficients)</a:t>
            </a:r>
          </a:p>
          <a:p>
            <a:pPr marL="0" indent="0">
              <a:buFont typeface="Wingdings 3" panose="05040102010807070707" pitchFamily="18" charset="2"/>
              <a:buNone/>
              <a:defRPr/>
            </a:pPr>
            <a:r>
              <a:rPr sz="1600" b="1">
                <a:solidFill>
                  <a:srgbClr val="FFFF00"/>
                </a:solidFill>
              </a:rPr>
              <a:t>Lasso Regression:</a:t>
            </a:r>
            <a:endParaRPr sz="1600">
              <a:solidFill>
                <a:srgbClr val="FFFF00"/>
              </a:solidFill>
            </a:endParaRPr>
          </a:p>
          <a:p>
            <a:pPr lvl="1">
              <a:buFont typeface="Wingdings 3" panose="05040102010807070707" pitchFamily="18" charset="2"/>
              <a:buChar char=""/>
              <a:defRPr/>
            </a:pPr>
            <a:r>
              <a:rPr sz="1600"/>
              <a:t>Performs L1 regularization, i.e. adds penalty equivalent to </a:t>
            </a:r>
            <a:r>
              <a:rPr sz="1600" b="1"/>
              <a:t>absolute value of the magnitude</a:t>
            </a:r>
            <a:r>
              <a:rPr sz="1600"/>
              <a:t> of coefficients</a:t>
            </a:r>
          </a:p>
          <a:p>
            <a:pPr lvl="1">
              <a:buFont typeface="Wingdings 3" panose="05040102010807070707" pitchFamily="18" charset="2"/>
              <a:buChar char=""/>
              <a:defRPr/>
            </a:pPr>
            <a:r>
              <a:rPr sz="1600"/>
              <a:t>Optimizes(Minimization) objective = RSS + α * (sum of </a:t>
            </a:r>
            <a:r>
              <a:rPr sz="1600" u="sng"/>
              <a:t>absolute</a:t>
            </a:r>
            <a:r>
              <a:rPr sz="1600"/>
              <a:t> value of coefficients)</a:t>
            </a:r>
          </a:p>
          <a:p>
            <a:pPr lvl="1">
              <a:buFont typeface="Wingdings 3" panose="05040102010807070707" pitchFamily="18" charset="2"/>
              <a:buChar char=""/>
              <a:defRPr/>
            </a:pPr>
            <a:endParaRPr sz="1600"/>
          </a:p>
          <a:p>
            <a:pPr marL="0" indent="0">
              <a:buFont typeface="Wingdings 3" panose="05040102010807070707" pitchFamily="18" charset="2"/>
              <a:buNone/>
              <a:defRPr/>
            </a:pPr>
            <a:r>
              <a:rPr sz="1600"/>
              <a:t>Where a is </a:t>
            </a:r>
            <a:r>
              <a:rPr altLang="ar-EG" sz="1600"/>
              <a:t>alpha parameter, user should change to get the best fit</a:t>
            </a:r>
            <a:endParaRPr sz="1600"/>
          </a:p>
          <a:p>
            <a:pPr>
              <a:buFont typeface="Wingdings 3" panose="05040102010807070707" pitchFamily="18" charset="2"/>
              <a:buChar char=""/>
              <a:defRPr/>
            </a:pPr>
            <a:endParaRPr sz="1600"/>
          </a:p>
        </p:txBody>
      </p:sp>
      <p:pic>
        <p:nvPicPr>
          <p:cNvPr id="87044" name="Picture 4">
            <a:extLst>
              <a:ext uri="{FF2B5EF4-FFF2-40B4-BE49-F238E27FC236}">
                <a16:creationId xmlns:a16="http://schemas.microsoft.com/office/drawing/2014/main" id="{C6E5968D-16CE-1D76-3EFD-B49C2E802D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8375" y="2608263"/>
            <a:ext cx="1865313"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6001C5-8EE2-4E37-B17B-097BA0DBB509}"/>
              </a:ext>
            </a:extLst>
          </p:cNvPr>
          <p:cNvSpPr>
            <a:spLocks noGrp="1"/>
          </p:cNvSpPr>
          <p:nvPr>
            <p:ph type="body" sz="quarter" idx="10"/>
          </p:nvPr>
        </p:nvSpPr>
        <p:spPr/>
        <p:txBody>
          <a:bodyPr/>
          <a:lstStyle/>
          <a:p>
            <a:pPr>
              <a:buFont typeface="Wingdings 3" panose="05040102010807070707" pitchFamily="18" charset="2"/>
              <a:buNone/>
              <a:defRPr/>
            </a:pPr>
            <a:r>
              <a:rPr lang="en-US"/>
              <a:t>Regression Metrics of Evaluation</a:t>
            </a:r>
          </a:p>
        </p:txBody>
      </p:sp>
      <p:sp>
        <p:nvSpPr>
          <p:cNvPr id="221187" name="Content Placeholder 2">
            <a:extLst>
              <a:ext uri="{FF2B5EF4-FFF2-40B4-BE49-F238E27FC236}">
                <a16:creationId xmlns:a16="http://schemas.microsoft.com/office/drawing/2014/main" id="{FF21E2FA-1599-414A-BDCF-E3DC8D369928}"/>
              </a:ext>
            </a:extLst>
          </p:cNvPr>
          <p:cNvSpPr>
            <a:spLocks noGrp="1" noChangeArrowheads="1"/>
          </p:cNvSpPr>
          <p:nvPr>
            <p:ph sz="quarter" idx="11"/>
          </p:nvPr>
        </p:nvSpPr>
        <p:spPr>
          <a:xfrm>
            <a:off x="434975" y="1317625"/>
            <a:ext cx="11288713" cy="5259388"/>
          </a:xfrm>
        </p:spPr>
        <p:txBody>
          <a:bodyPr/>
          <a:lstStyle/>
          <a:p>
            <a:pPr>
              <a:buFont typeface="Wingdings 3" panose="05040102010807070707" pitchFamily="18" charset="2"/>
              <a:buChar char=""/>
              <a:defRPr/>
            </a:pPr>
            <a:r>
              <a:rPr altLang="ar-EG"/>
              <a:t>Explained Variance Score : The best score for this metric is 1.</a:t>
            </a:r>
          </a:p>
          <a:p>
            <a:pPr>
              <a:buFont typeface="Wingdings 3" panose="05040102010807070707" pitchFamily="18" charset="2"/>
              <a:buChar char=""/>
              <a:defRPr/>
            </a:pPr>
            <a:r>
              <a:rPr altLang="ar-EG"/>
              <a:t>Mean absolute error (MAE) : values closer to 0 are better.</a:t>
            </a:r>
          </a:p>
          <a:p>
            <a:pPr>
              <a:buFont typeface="Wingdings 3" panose="05040102010807070707" pitchFamily="18" charset="2"/>
              <a:buChar char=""/>
              <a:defRPr/>
            </a:pPr>
            <a:r>
              <a:rPr altLang="ar-EG"/>
              <a:t>Mean Squared Error : values closer to 0 are better.</a:t>
            </a:r>
          </a:p>
          <a:p>
            <a:pPr>
              <a:buFont typeface="Wingdings 3" panose="05040102010807070707" pitchFamily="18" charset="2"/>
              <a:buChar char=""/>
              <a:defRPr/>
            </a:pPr>
            <a:r>
              <a:rPr altLang="ar-EG"/>
              <a:t>R Square : values between 0% and 100% and closer to 100% is better</a:t>
            </a:r>
            <a:br>
              <a:rPr lang="ar-EG" altLang="ar-EG"/>
            </a:br>
            <a:br>
              <a:rPr altLang="ar-EG"/>
            </a:br>
            <a:endParaRPr altLang="ar-EG"/>
          </a:p>
          <a:p>
            <a:pPr marL="0" indent="0">
              <a:buFont typeface="Wingdings 3" panose="05040102010807070707" pitchFamily="18" charset="2"/>
              <a:buNone/>
              <a:defRPr/>
            </a:pPr>
            <a:r>
              <a:rPr altLang="ar-EG"/>
              <a:t>#Python sample code</a:t>
            </a:r>
          </a:p>
          <a:p>
            <a:pPr>
              <a:buFont typeface="Wingdings 3" panose="05040102010807070707" pitchFamily="18" charset="2"/>
              <a:buChar char=""/>
              <a:defRPr/>
            </a:pPr>
            <a:r>
              <a:rPr altLang="ar-EG"/>
              <a:t>print "Train MAE: ", </a:t>
            </a:r>
            <a:r>
              <a:rPr altLang="ar-EG" err="1"/>
              <a:t>metrics.mean_absolute_error</a:t>
            </a:r>
            <a:r>
              <a:rPr altLang="ar-EG"/>
              <a:t>(</a:t>
            </a:r>
            <a:r>
              <a:rPr altLang="ar-EG" err="1"/>
              <a:t>y_train</a:t>
            </a:r>
            <a:r>
              <a:rPr altLang="ar-EG"/>
              <a:t>, </a:t>
            </a:r>
            <a:r>
              <a:rPr altLang="ar-EG" err="1"/>
              <a:t>y_train_pred</a:t>
            </a:r>
            <a:r>
              <a:rPr altLang="ar-EG"/>
              <a:t>)</a:t>
            </a:r>
          </a:p>
          <a:p>
            <a:pPr>
              <a:buFont typeface="Wingdings 3" panose="05040102010807070707" pitchFamily="18" charset="2"/>
              <a:buChar char=""/>
              <a:defRPr/>
            </a:pPr>
            <a:r>
              <a:rPr altLang="ar-EG"/>
              <a:t>print "Train RMSE: ", </a:t>
            </a:r>
            <a:r>
              <a:rPr altLang="ar-EG" err="1"/>
              <a:t>np.sqrt</a:t>
            </a:r>
            <a:r>
              <a:rPr altLang="ar-EG"/>
              <a:t>(</a:t>
            </a:r>
            <a:r>
              <a:rPr altLang="ar-EG" err="1"/>
              <a:t>metrics.mean_squared_error</a:t>
            </a:r>
            <a:r>
              <a:rPr altLang="ar-EG"/>
              <a:t>(</a:t>
            </a:r>
            <a:r>
              <a:rPr altLang="ar-EG" err="1"/>
              <a:t>y_train</a:t>
            </a:r>
            <a:r>
              <a:rPr altLang="ar-EG"/>
              <a:t>, </a:t>
            </a:r>
            <a:r>
              <a:rPr altLang="ar-EG" err="1"/>
              <a:t>y_train_pred</a:t>
            </a:r>
            <a:r>
              <a:rPr altLang="ar-EG"/>
              <a:t>))</a:t>
            </a:r>
          </a:p>
          <a:p>
            <a:pPr>
              <a:buFont typeface="Wingdings 3" panose="05040102010807070707" pitchFamily="18" charset="2"/>
              <a:buChar char=""/>
              <a:defRPr/>
            </a:pPr>
            <a:endParaRPr altLang="ar-EG"/>
          </a:p>
        </p:txBody>
      </p:sp>
      <p:pic>
        <p:nvPicPr>
          <p:cNvPr id="88068" name="Picture 2">
            <a:extLst>
              <a:ext uri="{FF2B5EF4-FFF2-40B4-BE49-F238E27FC236}">
                <a16:creationId xmlns:a16="http://schemas.microsoft.com/office/drawing/2014/main" id="{FD351D1F-7AB5-625A-B484-6BFFBF0C3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6238" y="5376863"/>
            <a:ext cx="24669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9" name="Picture 3">
            <a:extLst>
              <a:ext uri="{FF2B5EF4-FFF2-40B4-BE49-F238E27FC236}">
                <a16:creationId xmlns:a16="http://schemas.microsoft.com/office/drawing/2014/main" id="{7BC5EC53-77C8-B9E6-B527-08CAECDAC0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1938" y="5378450"/>
            <a:ext cx="2039937"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3FDEA2-C187-40E0-99B1-4744D2997A36}"/>
              </a:ext>
            </a:extLst>
          </p:cNvPr>
          <p:cNvSpPr>
            <a:spLocks noGrp="1"/>
          </p:cNvSpPr>
          <p:nvPr>
            <p:ph type="body" sz="quarter" idx="10"/>
          </p:nvPr>
        </p:nvSpPr>
        <p:spPr/>
        <p:txBody>
          <a:bodyPr/>
          <a:lstStyle/>
          <a:p>
            <a:pPr>
              <a:buFont typeface="Wingdings 3" panose="05040102010807070707" pitchFamily="18" charset="2"/>
              <a:buNone/>
              <a:defRPr/>
            </a:pPr>
            <a:r>
              <a:rPr lang="en-US"/>
              <a:t>What Is R-squared, (Coefficient of determination)?</a:t>
            </a:r>
          </a:p>
        </p:txBody>
      </p:sp>
      <p:sp>
        <p:nvSpPr>
          <p:cNvPr id="89091" name="Content Placeholder 2">
            <a:extLst>
              <a:ext uri="{FF2B5EF4-FFF2-40B4-BE49-F238E27FC236}">
                <a16:creationId xmlns:a16="http://schemas.microsoft.com/office/drawing/2014/main" id="{1633B833-D7B5-1F1F-EB90-F3FEE9BDED39}"/>
              </a:ext>
            </a:extLst>
          </p:cNvPr>
          <p:cNvSpPr>
            <a:spLocks noGrp="1" noChangeArrowheads="1"/>
          </p:cNvSpPr>
          <p:nvPr>
            <p:ph sz="quarter" idx="11"/>
          </p:nvPr>
        </p:nvSpPr>
        <p:spPr>
          <a:xfrm>
            <a:off x="434975" y="1866900"/>
            <a:ext cx="11288713" cy="4652963"/>
          </a:xfrm>
        </p:spPr>
        <p:txBody>
          <a:bodyPr/>
          <a:lstStyle/>
          <a:p>
            <a:r>
              <a:rPr altLang="ar-EG" sz="1600"/>
              <a:t>R-squared is a statistical measure of how close the data are to the fitted regression line. It is also known as the coefficient of determination, or the coefficient of multiple determination for multiple regression.</a:t>
            </a:r>
          </a:p>
          <a:p>
            <a:r>
              <a:rPr altLang="ar-EG" sz="1600"/>
              <a:t>The definition of R-squared is fairly straight-forward; it is the percentage of the response variable variation that is explained by a linear model. Or: </a:t>
            </a:r>
            <a:r>
              <a:rPr altLang="ar-EG" sz="1600" b="1">
                <a:solidFill>
                  <a:srgbClr val="FFFF00"/>
                </a:solidFill>
              </a:rPr>
              <a:t>R-squared = Explained variation / Total variation</a:t>
            </a:r>
          </a:p>
          <a:p>
            <a:r>
              <a:rPr altLang="ar-EG" sz="1600"/>
              <a:t>R-squared is always between 0 and 100%:</a:t>
            </a:r>
          </a:p>
          <a:p>
            <a:r>
              <a:rPr altLang="ar-EG" sz="1600"/>
              <a:t>0% indicates that the model explains none of the variability of the response data around its mean.</a:t>
            </a:r>
          </a:p>
          <a:p>
            <a:r>
              <a:rPr altLang="ar-EG" sz="1600"/>
              <a:t>100% indicates that the model explains all the variability of the response data around its mean.</a:t>
            </a:r>
          </a:p>
          <a:p>
            <a:r>
              <a:rPr altLang="ar-EG" sz="1600"/>
              <a:t>In general, the higher the R-squared, the better the model fits your data</a:t>
            </a:r>
          </a:p>
        </p:txBody>
      </p:sp>
      <p:pic>
        <p:nvPicPr>
          <p:cNvPr id="89092" name="Picture 3">
            <a:extLst>
              <a:ext uri="{FF2B5EF4-FFF2-40B4-BE49-F238E27FC236}">
                <a16:creationId xmlns:a16="http://schemas.microsoft.com/office/drawing/2014/main" id="{DBCA3C71-D5B3-9510-E2E5-97CDA5F4A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87875"/>
            <a:ext cx="511492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3" name="Picture 2">
            <a:extLst>
              <a:ext uri="{FF2B5EF4-FFF2-40B4-BE49-F238E27FC236}">
                <a16:creationId xmlns:a16="http://schemas.microsoft.com/office/drawing/2014/main" id="{00758E48-3C09-2339-05B4-5F0B311139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5688" y="1123950"/>
            <a:ext cx="303847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a:extLst>
              <a:ext uri="{FF2B5EF4-FFF2-40B4-BE49-F238E27FC236}">
                <a16:creationId xmlns:a16="http://schemas.microsoft.com/office/drawing/2014/main" id="{E1295D4D-67EA-61B1-478B-A0BE87A7B7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752D08-9147-4882-9A02-984D6CCF417A}"/>
              </a:ext>
            </a:extLst>
          </p:cNvPr>
          <p:cNvSpPr>
            <a:spLocks noGrp="1"/>
          </p:cNvSpPr>
          <p:nvPr>
            <p:ph type="body" sz="quarter" idx="10"/>
          </p:nvPr>
        </p:nvSpPr>
        <p:spPr/>
        <p:txBody>
          <a:bodyPr/>
          <a:lstStyle/>
          <a:p>
            <a:pPr>
              <a:buFont typeface="Wingdings 3" panose="05040102010807070707" pitchFamily="18" charset="2"/>
              <a:buNone/>
              <a:defRPr/>
            </a:pPr>
            <a:r>
              <a:rPr lang="en-US"/>
              <a:t>Multiple linear regression plot</a:t>
            </a:r>
          </a:p>
        </p:txBody>
      </p:sp>
      <p:sp>
        <p:nvSpPr>
          <p:cNvPr id="91139" name="Content Placeholder 2">
            <a:extLst>
              <a:ext uri="{FF2B5EF4-FFF2-40B4-BE49-F238E27FC236}">
                <a16:creationId xmlns:a16="http://schemas.microsoft.com/office/drawing/2014/main" id="{9C345365-CDD8-92D2-118C-ABC33B18F844}"/>
              </a:ext>
            </a:extLst>
          </p:cNvPr>
          <p:cNvSpPr>
            <a:spLocks noGrp="1" noChangeArrowheads="1"/>
          </p:cNvSpPr>
          <p:nvPr>
            <p:ph sz="quarter" idx="11"/>
          </p:nvPr>
        </p:nvSpPr>
        <p:spPr/>
        <p:txBody>
          <a:bodyPr/>
          <a:lstStyle/>
          <a:p>
            <a:r>
              <a:rPr altLang="ar-EG"/>
              <a:t>Ridge Regression</a:t>
            </a:r>
          </a:p>
          <a:p>
            <a:r>
              <a:rPr altLang="ar-EG"/>
              <a:t>Lasso Regression</a:t>
            </a:r>
          </a:p>
          <a:p>
            <a:r>
              <a:rPr altLang="ar-EG"/>
              <a:t>ElasticNet</a:t>
            </a:r>
          </a:p>
          <a:p>
            <a:r>
              <a:rPr altLang="ar-EG"/>
              <a:t>Gradient Boosting Regression</a:t>
            </a:r>
          </a:p>
          <a:p>
            <a:r>
              <a:rPr altLang="ar-EG"/>
              <a:t>Support Vector Machines</a:t>
            </a:r>
          </a:p>
          <a:p>
            <a:endParaRPr altLang="ar-EG"/>
          </a:p>
          <a:p>
            <a:endParaRPr altLang="ar-EG"/>
          </a:p>
        </p:txBody>
      </p:sp>
      <p:pic>
        <p:nvPicPr>
          <p:cNvPr id="91140" name="Picture 3">
            <a:extLst>
              <a:ext uri="{FF2B5EF4-FFF2-40B4-BE49-F238E27FC236}">
                <a16:creationId xmlns:a16="http://schemas.microsoft.com/office/drawing/2014/main" id="{2AA8382A-A162-F1D0-B941-EDAA1EA77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1513" y="1317625"/>
            <a:ext cx="5972175"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8A239D-397E-4094-8F9F-D37D6FA04FEA}"/>
              </a:ext>
            </a:extLst>
          </p:cNvPr>
          <p:cNvSpPr>
            <a:spLocks noGrp="1"/>
          </p:cNvSpPr>
          <p:nvPr>
            <p:ph type="body" sz="quarter" idx="10"/>
          </p:nvPr>
        </p:nvSpPr>
        <p:spPr/>
        <p:txBody>
          <a:bodyPr/>
          <a:lstStyle/>
          <a:p>
            <a:pPr>
              <a:buFont typeface="Wingdings 3" panose="05040102010807070707" pitchFamily="18" charset="2"/>
              <a:buNone/>
              <a:defRPr/>
            </a:pPr>
            <a:r>
              <a:rPr lang="en-US"/>
              <a:t>Ridge Regression</a:t>
            </a:r>
          </a:p>
        </p:txBody>
      </p:sp>
      <p:sp>
        <p:nvSpPr>
          <p:cNvPr id="233475" name="Content Placeholder 2">
            <a:extLst>
              <a:ext uri="{FF2B5EF4-FFF2-40B4-BE49-F238E27FC236}">
                <a16:creationId xmlns:a16="http://schemas.microsoft.com/office/drawing/2014/main" id="{1F090DBC-A399-4697-948A-97668A62ABF4}"/>
              </a:ext>
            </a:extLst>
          </p:cNvPr>
          <p:cNvSpPr>
            <a:spLocks noGrp="1" noChangeArrowheads="1"/>
          </p:cNvSpPr>
          <p:nvPr>
            <p:ph sz="quarter" idx="11"/>
          </p:nvPr>
        </p:nvSpPr>
        <p:spPr/>
        <p:txBody>
          <a:bodyPr/>
          <a:lstStyle/>
          <a:p>
            <a:pPr>
              <a:buFont typeface="Wingdings 3" panose="05040102010807070707" pitchFamily="18" charset="2"/>
              <a:buChar char=""/>
              <a:defRPr/>
            </a:pPr>
            <a:r>
              <a:rPr altLang="ar-EG" sz="1800" err="1"/>
              <a:t>x_train,x_test</a:t>
            </a:r>
            <a:r>
              <a:rPr altLang="ar-EG" sz="1800"/>
              <a:t>, </a:t>
            </a:r>
            <a:r>
              <a:rPr altLang="ar-EG" sz="1800" err="1"/>
              <a:t>y_train</a:t>
            </a:r>
            <a:r>
              <a:rPr altLang="ar-EG" sz="1800"/>
              <a:t>,  </a:t>
            </a:r>
            <a:r>
              <a:rPr altLang="ar-EG" sz="1800" err="1"/>
              <a:t>y_test</a:t>
            </a:r>
            <a:r>
              <a:rPr altLang="ar-EG" sz="1800"/>
              <a:t> = </a:t>
            </a:r>
            <a:r>
              <a:rPr altLang="ar-EG" sz="1800" err="1"/>
              <a:t>train_test_split</a:t>
            </a:r>
            <a:r>
              <a:rPr altLang="ar-EG" sz="1800"/>
              <a:t>(data[‘x’],data[‘y'], </a:t>
            </a:r>
            <a:r>
              <a:rPr altLang="ar-EG" sz="1800" err="1"/>
              <a:t>test_size</a:t>
            </a:r>
            <a:r>
              <a:rPr altLang="ar-EG" sz="1800"/>
              <a:t>=0.3, </a:t>
            </a:r>
            <a:r>
              <a:rPr altLang="ar-EG" sz="1800" err="1"/>
              <a:t>random_state</a:t>
            </a:r>
            <a:r>
              <a:rPr altLang="ar-EG" sz="1800"/>
              <a:t>=1)</a:t>
            </a:r>
          </a:p>
          <a:p>
            <a:pPr>
              <a:buFont typeface="Wingdings 3" panose="05040102010807070707" pitchFamily="18" charset="2"/>
              <a:buChar char=""/>
              <a:defRPr/>
            </a:pPr>
            <a:r>
              <a:rPr altLang="ar-EG" sz="1800" b="1">
                <a:solidFill>
                  <a:srgbClr val="FFFF00"/>
                </a:solidFill>
              </a:rPr>
              <a:t>model = Ridge()</a:t>
            </a:r>
          </a:p>
          <a:p>
            <a:pPr>
              <a:buFont typeface="Wingdings 3" panose="05040102010807070707" pitchFamily="18" charset="2"/>
              <a:buChar char=""/>
              <a:defRPr/>
            </a:pPr>
            <a:r>
              <a:rPr altLang="ar-EG" sz="1800"/>
              <a:t>alphas = </a:t>
            </a:r>
            <a:r>
              <a:rPr altLang="ar-EG" sz="1800" err="1"/>
              <a:t>np.arange</a:t>
            </a:r>
            <a:r>
              <a:rPr altLang="ar-EG" sz="1800"/>
              <a:t>(0.1 , 5 , 0.1)</a:t>
            </a:r>
            <a:r>
              <a:rPr lang="ar-EG" altLang="ar-EG" sz="1800"/>
              <a:t> </a:t>
            </a:r>
            <a:r>
              <a:rPr altLang="ar-EG" sz="1400">
                <a:solidFill>
                  <a:schemeClr val="accent4">
                    <a:lumMod val="40000"/>
                    <a:lumOff val="60000"/>
                  </a:schemeClr>
                </a:solidFill>
              </a:rPr>
              <a:t>#</a:t>
            </a:r>
            <a:r>
              <a:rPr sz="1600">
                <a:solidFill>
                  <a:schemeClr val="accent4">
                    <a:lumMod val="40000"/>
                    <a:lumOff val="60000"/>
                  </a:schemeClr>
                </a:solidFill>
              </a:rPr>
              <a:t>generate an array of values in the range of 0.1 to 5, with an offset of 0.1</a:t>
            </a:r>
            <a:endParaRPr altLang="ar-EG" sz="1800">
              <a:solidFill>
                <a:schemeClr val="accent4">
                  <a:lumMod val="40000"/>
                  <a:lumOff val="60000"/>
                </a:schemeClr>
              </a:solidFill>
            </a:endParaRPr>
          </a:p>
          <a:p>
            <a:pPr>
              <a:buFont typeface="Wingdings 3" panose="05040102010807070707" pitchFamily="18" charset="2"/>
              <a:buChar char=""/>
              <a:defRPr/>
            </a:pPr>
            <a:r>
              <a:rPr altLang="ar-EG" sz="1800"/>
              <a:t>cv = </a:t>
            </a:r>
            <a:r>
              <a:rPr altLang="ar-EG" sz="1800" err="1"/>
              <a:t>GridSearchCV</a:t>
            </a:r>
            <a:r>
              <a:rPr altLang="ar-EG" sz="1800"/>
              <a:t>(estimator=model, </a:t>
            </a:r>
            <a:r>
              <a:rPr altLang="ar-EG" sz="1800" err="1"/>
              <a:t>param_grid</a:t>
            </a:r>
            <a:r>
              <a:rPr altLang="ar-EG" sz="1800"/>
              <a:t>=</a:t>
            </a:r>
            <a:r>
              <a:rPr altLang="ar-EG" sz="1800" err="1"/>
              <a:t>dict</a:t>
            </a:r>
            <a:r>
              <a:rPr altLang="ar-EG" sz="1800"/>
              <a:t>(alpha=alphas))</a:t>
            </a:r>
          </a:p>
          <a:p>
            <a:pPr>
              <a:buFont typeface="Wingdings 3" panose="05040102010807070707" pitchFamily="18" charset="2"/>
              <a:buChar char=""/>
              <a:defRPr/>
            </a:pPr>
            <a:r>
              <a:rPr altLang="ar-EG" sz="1800" err="1"/>
              <a:t>y_pred</a:t>
            </a:r>
            <a:r>
              <a:rPr altLang="ar-EG" sz="1800"/>
              <a:t> = </a:t>
            </a:r>
            <a:r>
              <a:rPr altLang="ar-EG" sz="1800" err="1"/>
              <a:t>cv.fit</a:t>
            </a:r>
            <a:r>
              <a:rPr altLang="ar-EG" sz="1800"/>
              <a:t>(</a:t>
            </a:r>
            <a:r>
              <a:rPr altLang="ar-EG" sz="1800" err="1"/>
              <a:t>x_train</a:t>
            </a:r>
            <a:r>
              <a:rPr altLang="ar-EG" sz="1800"/>
              <a:t>, </a:t>
            </a:r>
            <a:r>
              <a:rPr altLang="ar-EG" sz="1800" err="1"/>
              <a:t>y_train</a:t>
            </a:r>
            <a:r>
              <a:rPr altLang="ar-EG" sz="1800"/>
              <a:t>).predict(</a:t>
            </a:r>
            <a:r>
              <a:rPr altLang="ar-EG" sz="1800" err="1"/>
              <a:t>x_test</a:t>
            </a:r>
            <a:r>
              <a:rPr altLang="ar-EG" sz="1800"/>
              <a:t>)</a:t>
            </a:r>
          </a:p>
          <a:p>
            <a:pPr>
              <a:buFont typeface="Wingdings 3" panose="05040102010807070707" pitchFamily="18" charset="2"/>
              <a:buChar char=""/>
              <a:defRPr/>
            </a:pPr>
            <a:endParaRPr altLang="ar-EG" sz="1800"/>
          </a:p>
          <a:p>
            <a:pPr>
              <a:buFont typeface="Wingdings 3" panose="05040102010807070707" pitchFamily="18" charset="2"/>
              <a:buChar char=""/>
              <a:defRPr/>
            </a:pPr>
            <a:r>
              <a:rPr altLang="ar-EG" sz="1800"/>
              <a:t>print 'R2 score: %f'%r2_score(</a:t>
            </a:r>
            <a:r>
              <a:rPr altLang="ar-EG" sz="1800" err="1"/>
              <a:t>y_test</a:t>
            </a:r>
            <a:r>
              <a:rPr altLang="ar-EG" sz="1800"/>
              <a:t>, </a:t>
            </a:r>
            <a:r>
              <a:rPr altLang="ar-EG" sz="1800" err="1"/>
              <a:t>y_pred</a:t>
            </a:r>
            <a:r>
              <a:rPr altLang="ar-EG" sz="1800"/>
              <a:t>)</a:t>
            </a:r>
          </a:p>
          <a:p>
            <a:pPr>
              <a:buFont typeface="Wingdings 3" panose="05040102010807070707" pitchFamily="18" charset="2"/>
              <a:buChar char=""/>
              <a:defRPr/>
            </a:pPr>
            <a:r>
              <a:rPr altLang="ar-EG" sz="1800"/>
              <a:t>print 'Intercept: %f'% </a:t>
            </a:r>
            <a:r>
              <a:rPr altLang="ar-EG" sz="1800" err="1"/>
              <a:t>model.intercept</a:t>
            </a:r>
            <a:r>
              <a:rPr altLang="ar-EG" sz="1800"/>
              <a:t>_</a:t>
            </a:r>
          </a:p>
          <a:p>
            <a:pPr>
              <a:buFont typeface="Wingdings 3" panose="05040102010807070707" pitchFamily="18" charset="2"/>
              <a:buChar char=""/>
              <a:defRPr/>
            </a:pPr>
            <a:r>
              <a:rPr altLang="ar-EG" sz="1800"/>
              <a:t>print 'Coefficients: %s'%</a:t>
            </a:r>
            <a:r>
              <a:rPr altLang="ar-EG" sz="1800" err="1"/>
              <a:t>str</a:t>
            </a:r>
            <a:r>
              <a:rPr altLang="ar-EG" sz="1800"/>
              <a:t>(</a:t>
            </a:r>
            <a:r>
              <a:rPr altLang="ar-EG" sz="1800" err="1"/>
              <a:t>model.coef</a:t>
            </a:r>
            <a:r>
              <a:rPr altLang="ar-EG" sz="1800"/>
              <a:t>_)</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30E07A-3EE4-4A82-ADE0-AB74C6FF14EE}"/>
              </a:ext>
            </a:extLst>
          </p:cNvPr>
          <p:cNvSpPr>
            <a:spLocks noGrp="1"/>
          </p:cNvSpPr>
          <p:nvPr>
            <p:ph type="body" sz="quarter" idx="10"/>
          </p:nvPr>
        </p:nvSpPr>
        <p:spPr/>
        <p:txBody>
          <a:bodyPr/>
          <a:lstStyle/>
          <a:p>
            <a:pPr>
              <a:buFont typeface="Wingdings 3" panose="05040102010807070707" pitchFamily="18" charset="2"/>
              <a:buNone/>
              <a:defRPr/>
            </a:pPr>
            <a:r>
              <a:rPr lang="en-US"/>
              <a:t>Lasso Regression</a:t>
            </a:r>
          </a:p>
        </p:txBody>
      </p:sp>
      <p:sp>
        <p:nvSpPr>
          <p:cNvPr id="234499" name="Content Placeholder 2">
            <a:extLst>
              <a:ext uri="{FF2B5EF4-FFF2-40B4-BE49-F238E27FC236}">
                <a16:creationId xmlns:a16="http://schemas.microsoft.com/office/drawing/2014/main" id="{856532EB-9FB9-49B7-93E9-6137EE24286C}"/>
              </a:ext>
            </a:extLst>
          </p:cNvPr>
          <p:cNvSpPr>
            <a:spLocks noGrp="1" noChangeArrowheads="1"/>
          </p:cNvSpPr>
          <p:nvPr>
            <p:ph sz="quarter" idx="11"/>
          </p:nvPr>
        </p:nvSpPr>
        <p:spPr/>
        <p:txBody>
          <a:bodyPr/>
          <a:lstStyle/>
          <a:p>
            <a:pPr>
              <a:buFont typeface="Wingdings 3" panose="05040102010807070707" pitchFamily="18" charset="2"/>
              <a:buChar char=""/>
              <a:defRPr/>
            </a:pPr>
            <a:r>
              <a:rPr altLang="ar-EG" sz="1800" err="1"/>
              <a:t>x_train,x_test</a:t>
            </a:r>
            <a:r>
              <a:rPr altLang="ar-EG" sz="1800"/>
              <a:t>, </a:t>
            </a:r>
            <a:r>
              <a:rPr altLang="ar-EG" sz="1800" err="1"/>
              <a:t>y_train</a:t>
            </a:r>
            <a:r>
              <a:rPr altLang="ar-EG" sz="1800"/>
              <a:t>,  </a:t>
            </a:r>
            <a:r>
              <a:rPr altLang="ar-EG" sz="1800" err="1"/>
              <a:t>y_test</a:t>
            </a:r>
            <a:r>
              <a:rPr altLang="ar-EG" sz="1800"/>
              <a:t> = </a:t>
            </a:r>
            <a:r>
              <a:rPr altLang="ar-EG" sz="1800" err="1"/>
              <a:t>train_test_split</a:t>
            </a:r>
            <a:r>
              <a:rPr altLang="ar-EG" sz="1800"/>
              <a:t>(data[‘x’],data[‘y'], </a:t>
            </a:r>
            <a:r>
              <a:rPr altLang="ar-EG" sz="1800" err="1"/>
              <a:t>test_size</a:t>
            </a:r>
            <a:r>
              <a:rPr altLang="ar-EG" sz="1800"/>
              <a:t>=0.3, </a:t>
            </a:r>
            <a:r>
              <a:rPr altLang="ar-EG" sz="1800" err="1"/>
              <a:t>random_state</a:t>
            </a:r>
            <a:r>
              <a:rPr altLang="ar-EG" sz="1800"/>
              <a:t>=1)</a:t>
            </a:r>
          </a:p>
          <a:p>
            <a:pPr>
              <a:buFont typeface="Wingdings 3" panose="05040102010807070707" pitchFamily="18" charset="2"/>
              <a:buChar char=""/>
              <a:defRPr/>
            </a:pPr>
            <a:r>
              <a:rPr altLang="ar-EG" sz="1800" b="1">
                <a:solidFill>
                  <a:srgbClr val="FFFF00"/>
                </a:solidFill>
              </a:rPr>
              <a:t>model = Lasso()</a:t>
            </a:r>
          </a:p>
          <a:p>
            <a:pPr>
              <a:buFont typeface="Wingdings 3" panose="05040102010807070707" pitchFamily="18" charset="2"/>
              <a:buChar char=""/>
              <a:defRPr/>
            </a:pPr>
            <a:r>
              <a:rPr altLang="ar-EG" sz="1800"/>
              <a:t>alphas = </a:t>
            </a:r>
            <a:r>
              <a:rPr altLang="ar-EG" sz="1800" err="1"/>
              <a:t>np.arange</a:t>
            </a:r>
            <a:r>
              <a:rPr altLang="ar-EG" sz="1800"/>
              <a:t>(0.1 , 5 , 0.1)</a:t>
            </a:r>
            <a:r>
              <a:rPr lang="ar-EG" altLang="ar-EG" sz="1800"/>
              <a:t> </a:t>
            </a:r>
            <a:r>
              <a:rPr altLang="ar-EG" sz="1800"/>
              <a:t>     </a:t>
            </a:r>
            <a:r>
              <a:rPr altLang="ar-EG" sz="1200">
                <a:solidFill>
                  <a:schemeClr val="accent4">
                    <a:lumMod val="40000"/>
                    <a:lumOff val="60000"/>
                  </a:schemeClr>
                </a:solidFill>
              </a:rPr>
              <a:t>#</a:t>
            </a:r>
            <a:r>
              <a:rPr sz="1400">
                <a:solidFill>
                  <a:schemeClr val="accent4">
                    <a:lumMod val="40000"/>
                    <a:lumOff val="60000"/>
                  </a:schemeClr>
                </a:solidFill>
              </a:rPr>
              <a:t>generate an array of values in the range of 0.1 to 5, with an offset of 0.1</a:t>
            </a:r>
            <a:endParaRPr altLang="ar-EG">
              <a:solidFill>
                <a:schemeClr val="accent4">
                  <a:lumMod val="40000"/>
                  <a:lumOff val="60000"/>
                </a:schemeClr>
              </a:solidFill>
            </a:endParaRPr>
          </a:p>
          <a:p>
            <a:pPr>
              <a:buFont typeface="Wingdings 3" panose="05040102010807070707" pitchFamily="18" charset="2"/>
              <a:buChar char=""/>
              <a:defRPr/>
            </a:pPr>
            <a:r>
              <a:rPr altLang="ar-EG" sz="1800"/>
              <a:t>cv = </a:t>
            </a:r>
            <a:r>
              <a:rPr altLang="ar-EG" sz="1800" err="1"/>
              <a:t>GridSearchCV</a:t>
            </a:r>
            <a:r>
              <a:rPr altLang="ar-EG" sz="1800"/>
              <a:t>(estimator=model, </a:t>
            </a:r>
            <a:r>
              <a:rPr altLang="ar-EG" sz="1800" err="1"/>
              <a:t>param_grid</a:t>
            </a:r>
            <a:r>
              <a:rPr altLang="ar-EG" sz="1800"/>
              <a:t>=</a:t>
            </a:r>
            <a:r>
              <a:rPr altLang="ar-EG" sz="1800" err="1"/>
              <a:t>dict</a:t>
            </a:r>
            <a:r>
              <a:rPr altLang="ar-EG" sz="1800"/>
              <a:t>(alpha=alphas))</a:t>
            </a:r>
          </a:p>
          <a:p>
            <a:pPr>
              <a:buFont typeface="Wingdings 3" panose="05040102010807070707" pitchFamily="18" charset="2"/>
              <a:buChar char=""/>
              <a:defRPr/>
            </a:pPr>
            <a:r>
              <a:rPr altLang="ar-EG" sz="1800" err="1"/>
              <a:t>y_pred</a:t>
            </a:r>
            <a:r>
              <a:rPr altLang="ar-EG" sz="1800"/>
              <a:t> = </a:t>
            </a:r>
            <a:r>
              <a:rPr altLang="ar-EG" sz="1800" err="1"/>
              <a:t>cv.fit</a:t>
            </a:r>
            <a:r>
              <a:rPr altLang="ar-EG" sz="1800"/>
              <a:t>(</a:t>
            </a:r>
            <a:r>
              <a:rPr altLang="ar-EG" sz="1800" err="1"/>
              <a:t>x_train</a:t>
            </a:r>
            <a:r>
              <a:rPr altLang="ar-EG" sz="1800"/>
              <a:t>, </a:t>
            </a:r>
            <a:r>
              <a:rPr altLang="ar-EG" sz="1800" err="1"/>
              <a:t>y_train</a:t>
            </a:r>
            <a:r>
              <a:rPr altLang="ar-EG" sz="1800"/>
              <a:t>).predict(</a:t>
            </a:r>
            <a:r>
              <a:rPr altLang="ar-EG" sz="1800" err="1"/>
              <a:t>x_test</a:t>
            </a:r>
            <a:r>
              <a:rPr altLang="ar-EG" sz="1800"/>
              <a:t>)</a:t>
            </a:r>
          </a:p>
          <a:p>
            <a:pPr>
              <a:buFont typeface="Wingdings 3" panose="05040102010807070707" pitchFamily="18" charset="2"/>
              <a:buChar char=""/>
              <a:defRPr/>
            </a:pPr>
            <a:endParaRPr altLang="ar-EG" sz="1800"/>
          </a:p>
          <a:p>
            <a:pPr>
              <a:buFont typeface="Wingdings 3" panose="05040102010807070707" pitchFamily="18" charset="2"/>
              <a:buChar char=""/>
              <a:defRPr/>
            </a:pPr>
            <a:r>
              <a:rPr altLang="ar-EG" sz="1800"/>
              <a:t>print 'R2 score: %f'%r2_score(</a:t>
            </a:r>
            <a:r>
              <a:rPr altLang="ar-EG" sz="1800" err="1"/>
              <a:t>y_test</a:t>
            </a:r>
            <a:r>
              <a:rPr altLang="ar-EG" sz="1800"/>
              <a:t>, </a:t>
            </a:r>
            <a:r>
              <a:rPr altLang="ar-EG" sz="1800" err="1"/>
              <a:t>y_pred</a:t>
            </a:r>
            <a:r>
              <a:rPr altLang="ar-EG" sz="1800"/>
              <a:t>)</a:t>
            </a:r>
          </a:p>
          <a:p>
            <a:pPr>
              <a:buFont typeface="Wingdings 3" panose="05040102010807070707" pitchFamily="18" charset="2"/>
              <a:buChar char=""/>
              <a:defRPr/>
            </a:pPr>
            <a:r>
              <a:rPr altLang="ar-EG" sz="1800"/>
              <a:t>print 'Intercept: %f</a:t>
            </a:r>
            <a:r>
              <a:rPr lang="ar-EG" altLang="ar-EG" sz="1800"/>
              <a:t>’</a:t>
            </a:r>
            <a:r>
              <a:rPr altLang="ar-EG" sz="1800"/>
              <a:t>%</a:t>
            </a:r>
            <a:r>
              <a:rPr altLang="ar-EG" sz="1800" err="1"/>
              <a:t>model.intercept</a:t>
            </a:r>
            <a:r>
              <a:rPr altLang="ar-EG" sz="1800"/>
              <a:t>_</a:t>
            </a:r>
          </a:p>
          <a:p>
            <a:pPr>
              <a:buFont typeface="Wingdings 3" panose="05040102010807070707" pitchFamily="18" charset="2"/>
              <a:buChar char=""/>
              <a:defRPr/>
            </a:pPr>
            <a:r>
              <a:rPr altLang="ar-EG" sz="1800"/>
              <a:t>print 'Coefficients: %s'%</a:t>
            </a:r>
            <a:r>
              <a:rPr altLang="ar-EG" sz="1800" err="1"/>
              <a:t>str</a:t>
            </a:r>
            <a:r>
              <a:rPr altLang="ar-EG" sz="1800"/>
              <a:t>(</a:t>
            </a:r>
            <a:r>
              <a:rPr altLang="ar-EG" sz="1800" err="1"/>
              <a:t>model.coef</a:t>
            </a:r>
            <a:r>
              <a:rPr altLang="ar-EG" sz="1800"/>
              <a:t>_)</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FD5508-C5E7-4B6C-AEDA-25FAE6871AE1}"/>
              </a:ext>
            </a:extLst>
          </p:cNvPr>
          <p:cNvSpPr>
            <a:spLocks noGrp="1"/>
          </p:cNvSpPr>
          <p:nvPr>
            <p:ph type="body" sz="quarter" idx="10"/>
          </p:nvPr>
        </p:nvSpPr>
        <p:spPr/>
        <p:txBody>
          <a:bodyPr/>
          <a:lstStyle/>
          <a:p>
            <a:pPr>
              <a:buFont typeface="Wingdings 3" panose="05040102010807070707" pitchFamily="18" charset="2"/>
              <a:buNone/>
              <a:defRPr/>
            </a:pPr>
            <a:r>
              <a:rPr lang="en-US"/>
              <a:t>ElasticNet</a:t>
            </a:r>
          </a:p>
        </p:txBody>
      </p:sp>
      <p:sp>
        <p:nvSpPr>
          <p:cNvPr id="94211" name="Content Placeholder 2">
            <a:extLst>
              <a:ext uri="{FF2B5EF4-FFF2-40B4-BE49-F238E27FC236}">
                <a16:creationId xmlns:a16="http://schemas.microsoft.com/office/drawing/2014/main" id="{B8AAED76-C97C-2583-31EF-B24028F24944}"/>
              </a:ext>
            </a:extLst>
          </p:cNvPr>
          <p:cNvSpPr>
            <a:spLocks noGrp="1" noChangeArrowheads="1"/>
          </p:cNvSpPr>
          <p:nvPr>
            <p:ph sz="quarter" idx="11"/>
          </p:nvPr>
        </p:nvSpPr>
        <p:spPr/>
        <p:txBody>
          <a:bodyPr/>
          <a:lstStyle/>
          <a:p>
            <a:r>
              <a:rPr altLang="ar-EG" sz="1800"/>
              <a:t>x_train,x_test, y_train,  y_test = train_test_split(data[‘x’],data[‘y'], test_size=0.3, random_state=1)</a:t>
            </a:r>
          </a:p>
          <a:p>
            <a:r>
              <a:rPr altLang="ar-EG" sz="1800" b="1">
                <a:solidFill>
                  <a:srgbClr val="FFFF00"/>
                </a:solidFill>
              </a:rPr>
              <a:t>model = ElasticNet()</a:t>
            </a:r>
          </a:p>
          <a:p>
            <a:r>
              <a:rPr altLang="ar-EG" sz="1800"/>
              <a:t>alphas = np.arange(0.1 , 5 , 0.1)</a:t>
            </a:r>
          </a:p>
          <a:p>
            <a:r>
              <a:rPr altLang="ar-EG" sz="1800"/>
              <a:t>cv = GridSearchCV(estimator=model, param_grid=dict(alpha=alphas))</a:t>
            </a:r>
          </a:p>
          <a:p>
            <a:r>
              <a:rPr altLang="ar-EG" sz="1800"/>
              <a:t>y_pred = cv.fit(x_train, y_train).predict(x_test)</a:t>
            </a:r>
          </a:p>
          <a:p>
            <a:endParaRPr altLang="ar-EG" sz="1800"/>
          </a:p>
          <a:p>
            <a:r>
              <a:rPr altLang="ar-EG" sz="1800"/>
              <a:t>print 'R2 score: %f</a:t>
            </a:r>
            <a:r>
              <a:rPr lang="ar-EG" altLang="ar-EG" sz="1800"/>
              <a:t>’ </a:t>
            </a:r>
            <a:r>
              <a:rPr altLang="ar-EG" sz="1800"/>
              <a:t>        %</a:t>
            </a:r>
            <a:r>
              <a:rPr lang="ar-EG" altLang="ar-EG" sz="1800"/>
              <a:t> </a:t>
            </a:r>
            <a:r>
              <a:rPr altLang="ar-EG" sz="1800"/>
              <a:t>  r2_score(y_test, y_pred)</a:t>
            </a:r>
          </a:p>
          <a:p>
            <a:r>
              <a:rPr altLang="ar-EG" sz="1800"/>
              <a:t>print 'Intercept: %f</a:t>
            </a:r>
            <a:r>
              <a:rPr lang="ar-EG" altLang="ar-EG" sz="1800"/>
              <a:t>’</a:t>
            </a:r>
            <a:r>
              <a:rPr altLang="ar-EG" sz="1800"/>
              <a:t>        %</a:t>
            </a:r>
            <a:r>
              <a:rPr lang="ar-EG" altLang="ar-EG" sz="1800"/>
              <a:t> </a:t>
            </a:r>
            <a:r>
              <a:rPr altLang="ar-EG" sz="1800"/>
              <a:t>  model.intercept_</a:t>
            </a:r>
          </a:p>
          <a:p>
            <a:r>
              <a:rPr altLang="ar-EG" sz="1800"/>
              <a:t>print 'Coefficients: %s</a:t>
            </a:r>
            <a:r>
              <a:rPr lang="ar-EG" altLang="ar-EG" sz="1800"/>
              <a:t>' </a:t>
            </a:r>
            <a:r>
              <a:rPr altLang="ar-EG" sz="1800"/>
              <a:t>   %</a:t>
            </a:r>
            <a:r>
              <a:rPr lang="ar-EG" altLang="ar-EG" sz="1800"/>
              <a:t> </a:t>
            </a:r>
            <a:r>
              <a:rPr altLang="ar-EG" sz="1800"/>
              <a:t>  str(model.coef_)</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E715FD-5A57-4412-A62B-DDCDE701D4A7}"/>
              </a:ext>
            </a:extLst>
          </p:cNvPr>
          <p:cNvSpPr>
            <a:spLocks noGrp="1"/>
          </p:cNvSpPr>
          <p:nvPr>
            <p:ph type="body" sz="quarter" idx="10"/>
          </p:nvPr>
        </p:nvSpPr>
        <p:spPr/>
        <p:txBody>
          <a:bodyPr/>
          <a:lstStyle/>
          <a:p>
            <a:pPr>
              <a:buFont typeface="Wingdings 3" panose="05040102010807070707" pitchFamily="18" charset="2"/>
              <a:buNone/>
              <a:defRPr/>
            </a:pPr>
            <a:r>
              <a:rPr lang="en-US"/>
              <a:t>Gradient Boosting Regression</a:t>
            </a:r>
          </a:p>
        </p:txBody>
      </p:sp>
      <p:sp>
        <p:nvSpPr>
          <p:cNvPr id="95235" name="Content Placeholder 2">
            <a:extLst>
              <a:ext uri="{FF2B5EF4-FFF2-40B4-BE49-F238E27FC236}">
                <a16:creationId xmlns:a16="http://schemas.microsoft.com/office/drawing/2014/main" id="{684A65DD-8D46-D3E7-FA2B-FB0306A50F1F}"/>
              </a:ext>
            </a:extLst>
          </p:cNvPr>
          <p:cNvSpPr>
            <a:spLocks noGrp="1" noChangeArrowheads="1"/>
          </p:cNvSpPr>
          <p:nvPr>
            <p:ph sz="quarter" idx="11"/>
          </p:nvPr>
        </p:nvSpPr>
        <p:spPr/>
        <p:txBody>
          <a:bodyPr/>
          <a:lstStyle/>
          <a:p>
            <a:r>
              <a:rPr altLang="ar-EG" sz="1800"/>
              <a:t>x_train,x_test, y_train,  y_test = train_test_split(data[‘x’],data[‘y'], test_size=0.3, random_state=1)</a:t>
            </a:r>
          </a:p>
          <a:p>
            <a:r>
              <a:rPr altLang="ar-EG" sz="1800" b="1">
                <a:solidFill>
                  <a:srgbClr val="FFFF00"/>
                </a:solidFill>
              </a:rPr>
              <a:t>regr = GradientBoostingRegressor()</a:t>
            </a:r>
          </a:p>
          <a:p>
            <a:r>
              <a:rPr lang="fr-FR" altLang="ar-EG" sz="1800"/>
              <a:t>regr.fit(x_train, y_train)</a:t>
            </a:r>
          </a:p>
          <a:p>
            <a:r>
              <a:rPr altLang="ar-EG" sz="1800"/>
              <a:t>y_pred = regr.predict(x_test)</a:t>
            </a:r>
          </a:p>
          <a:p>
            <a:endParaRPr altLang="ar-EG" sz="1800"/>
          </a:p>
          <a:p>
            <a:r>
              <a:rPr altLang="ar-EG" sz="1800"/>
              <a:t>print 'R2 score: %f'%r2_score(y_test, y_pred)</a:t>
            </a:r>
          </a:p>
          <a:p>
            <a:r>
              <a:rPr lang="fr-FR" altLang="ar-EG" sz="1800"/>
              <a:t>print 'Intercept: %f'%regr.intercept_</a:t>
            </a:r>
          </a:p>
          <a:p>
            <a:r>
              <a:rPr lang="fr-FR" altLang="ar-EG" sz="1800"/>
              <a:t>print 'Coefficients: %s'%str(regr.coef_)</a:t>
            </a:r>
          </a:p>
          <a:p>
            <a:endParaRPr altLang="ar-EG" sz="1800"/>
          </a:p>
          <a:p>
            <a:r>
              <a:rPr altLang="ar-EG" sz="1800"/>
              <a:t>plt.scatter(x_test, y_test, color='black')</a:t>
            </a:r>
          </a:p>
          <a:p>
            <a:r>
              <a:rPr altLang="ar-EG" sz="1800"/>
              <a:t>plt.plot(x_test, y_pred, color='blue’, linewidth=3)</a:t>
            </a:r>
          </a:p>
          <a:p>
            <a:r>
              <a:rPr altLang="ar-EG" sz="1800"/>
              <a:t>plt.xlabel(‘X axis’)</a:t>
            </a:r>
          </a:p>
          <a:p>
            <a:r>
              <a:rPr altLang="ar-EG" sz="1800"/>
              <a:t>plt.ylabel(‘Y axis')</a:t>
            </a:r>
          </a:p>
          <a:p>
            <a:endParaRPr altLang="ar-EG" sz="18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492C1C-9A60-4943-A03B-04B1FDFB2936}"/>
              </a:ext>
            </a:extLst>
          </p:cNvPr>
          <p:cNvSpPr>
            <a:spLocks noGrp="1"/>
          </p:cNvSpPr>
          <p:nvPr>
            <p:ph type="body" sz="quarter" idx="10"/>
          </p:nvPr>
        </p:nvSpPr>
        <p:spPr/>
        <p:txBody>
          <a:bodyPr/>
          <a:lstStyle/>
          <a:p>
            <a:pPr>
              <a:buFont typeface="Wingdings 3" panose="05040102010807070707" pitchFamily="18" charset="2"/>
              <a:buNone/>
              <a:defRPr/>
            </a:pPr>
            <a:r>
              <a:rPr lang="en-US"/>
              <a:t>Support Vector Machines</a:t>
            </a:r>
          </a:p>
        </p:txBody>
      </p:sp>
      <p:sp>
        <p:nvSpPr>
          <p:cNvPr id="96259" name="Content Placeholder 2">
            <a:extLst>
              <a:ext uri="{FF2B5EF4-FFF2-40B4-BE49-F238E27FC236}">
                <a16:creationId xmlns:a16="http://schemas.microsoft.com/office/drawing/2014/main" id="{05FB71E7-F0D7-C515-B6BA-10510EBADFA2}"/>
              </a:ext>
            </a:extLst>
          </p:cNvPr>
          <p:cNvSpPr>
            <a:spLocks noGrp="1" noChangeArrowheads="1"/>
          </p:cNvSpPr>
          <p:nvPr>
            <p:ph sz="quarter" idx="11"/>
          </p:nvPr>
        </p:nvSpPr>
        <p:spPr/>
        <p:txBody>
          <a:bodyPr/>
          <a:lstStyle/>
          <a:p>
            <a:r>
              <a:rPr altLang="ar-EG" sz="1800"/>
              <a:t>x_train,x_test, y_train,  y_test = train_test_split(data[‘x’],data[‘y'], test_size=0.3, random_state=1)</a:t>
            </a:r>
          </a:p>
          <a:p>
            <a:r>
              <a:rPr altLang="ar-EG" sz="1800">
                <a:solidFill>
                  <a:srgbClr val="FFFF00"/>
                </a:solidFill>
              </a:rPr>
              <a:t>regr = SVR(kernel='linear')</a:t>
            </a:r>
          </a:p>
          <a:p>
            <a:r>
              <a:rPr lang="fr-FR" altLang="ar-EG" sz="1800"/>
              <a:t>regr.fit(x_train, y_train)</a:t>
            </a:r>
          </a:p>
          <a:p>
            <a:r>
              <a:rPr altLang="ar-EG" sz="1800"/>
              <a:t>y_pred = regr.predict(x_test)</a:t>
            </a:r>
          </a:p>
          <a:p>
            <a:endParaRPr altLang="ar-EG" sz="1800"/>
          </a:p>
          <a:p>
            <a:r>
              <a:rPr altLang="ar-EG" sz="1800"/>
              <a:t>print 'R2 score: %f'%r2_score(y_test, y_pred)</a:t>
            </a:r>
          </a:p>
          <a:p>
            <a:r>
              <a:rPr lang="fr-FR" altLang="ar-EG" sz="1800"/>
              <a:t>print 'Intercept: %f'%regr.intercept_</a:t>
            </a:r>
          </a:p>
          <a:p>
            <a:r>
              <a:rPr lang="fr-FR" altLang="ar-EG" sz="1800"/>
              <a:t>print 'Coefficients: %s'%str(regr.coef_)</a:t>
            </a:r>
          </a:p>
          <a:p>
            <a:endParaRPr altLang="ar-EG" sz="1800"/>
          </a:p>
          <a:p>
            <a:r>
              <a:rPr altLang="ar-EG" sz="1800"/>
              <a:t>plt.scatter(x_test, y_test, color='black')</a:t>
            </a:r>
          </a:p>
          <a:p>
            <a:r>
              <a:rPr altLang="ar-EG" sz="1800"/>
              <a:t>plt.plot(x_test, y_pred, color='blue’, linewidth=3)</a:t>
            </a:r>
          </a:p>
          <a:p>
            <a:r>
              <a:rPr altLang="ar-EG" sz="1800"/>
              <a:t>plt.xlabel(‘X axis’)</a:t>
            </a:r>
          </a:p>
          <a:p>
            <a:r>
              <a:rPr altLang="ar-EG" sz="1800"/>
              <a:t>plt.ylabel(‘Y axis')</a:t>
            </a:r>
          </a:p>
          <a:p>
            <a:endParaRPr altLang="ar-EG" sz="18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2CA5-2708-499C-BCE3-3B21FB9E056E}"/>
              </a:ext>
            </a:extLst>
          </p:cNvPr>
          <p:cNvSpPr>
            <a:spLocks noGrp="1"/>
          </p:cNvSpPr>
          <p:nvPr>
            <p:ph type="title"/>
          </p:nvPr>
        </p:nvSpPr>
        <p:spPr/>
        <p:txBody>
          <a:bodyPr/>
          <a:lstStyle/>
          <a:p>
            <a:pPr>
              <a:defRPr/>
            </a:pPr>
            <a:r>
              <a:rPr lang="en-US" cap="none" dirty="0"/>
              <a:t>Time</a:t>
            </a:r>
            <a:r>
              <a:rPr lang="en-US" dirty="0"/>
              <a:t> </a:t>
            </a:r>
            <a:r>
              <a:rPr lang="en-US" cap="none" dirty="0"/>
              <a:t>Series</a:t>
            </a:r>
          </a:p>
        </p:txBody>
      </p:sp>
      <p:sp>
        <p:nvSpPr>
          <p:cNvPr id="3" name="Text Placeholder 2">
            <a:extLst>
              <a:ext uri="{FF2B5EF4-FFF2-40B4-BE49-F238E27FC236}">
                <a16:creationId xmlns:a16="http://schemas.microsoft.com/office/drawing/2014/main" id="{49BB51B1-D6C1-4D81-9E4D-15259CA5BAE9}"/>
              </a:ext>
            </a:extLst>
          </p:cNvPr>
          <p:cNvSpPr>
            <a:spLocks noGrp="1"/>
          </p:cNvSpPr>
          <p:nvPr>
            <p:ph type="body" idx="1"/>
          </p:nvPr>
        </p:nvSpPr>
        <p:spPr/>
        <p:txBody>
          <a:bodyPr/>
          <a:lstStyle/>
          <a:p>
            <a:pPr>
              <a:buFont typeface="Wingdings 3" panose="05040102010807070707" pitchFamily="18" charset="2"/>
              <a:buNone/>
              <a:defRPr/>
            </a:pPr>
            <a:r>
              <a:rPr lang="en-US" dirty="0">
                <a:solidFill>
                  <a:srgbClr val="FFFF00"/>
                </a:solidFill>
              </a:rPr>
              <a:t>Supervised machine learning </a:t>
            </a:r>
          </a:p>
          <a:p>
            <a:pPr>
              <a:buFont typeface="Wingdings 3" panose="05040102010807070707" pitchFamily="18" charset="2"/>
              <a:buNone/>
              <a:defRPr/>
            </a:pPr>
            <a:endParaRPr lang="en-US" dirty="0"/>
          </a:p>
          <a:p>
            <a:pPr>
              <a:buFont typeface="Wingdings 3" panose="05040102010807070707" pitchFamily="18" charset="2"/>
              <a:buNone/>
              <a:defRPr/>
            </a:pP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DB3FF8-D838-48F0-A61E-513FBFD48A05}"/>
              </a:ext>
            </a:extLst>
          </p:cNvPr>
          <p:cNvSpPr>
            <a:spLocks noGrp="1"/>
          </p:cNvSpPr>
          <p:nvPr>
            <p:ph type="body" sz="quarter" idx="10"/>
          </p:nvPr>
        </p:nvSpPr>
        <p:spPr>
          <a:xfrm>
            <a:off x="330200" y="231775"/>
            <a:ext cx="11266488" cy="815975"/>
          </a:xfrm>
        </p:spPr>
        <p:txBody>
          <a:bodyPr/>
          <a:lstStyle/>
          <a:p>
            <a:pPr>
              <a:buFont typeface="Wingdings 3" panose="05040102010807070707" pitchFamily="18" charset="2"/>
              <a:buNone/>
              <a:defRPr/>
            </a:pPr>
            <a:r>
              <a:rPr lang="en-US"/>
              <a:t>Time Series</a:t>
            </a:r>
          </a:p>
        </p:txBody>
      </p:sp>
      <p:sp>
        <p:nvSpPr>
          <p:cNvPr id="229379" name="Content Placeholder 2">
            <a:extLst>
              <a:ext uri="{FF2B5EF4-FFF2-40B4-BE49-F238E27FC236}">
                <a16:creationId xmlns:a16="http://schemas.microsoft.com/office/drawing/2014/main" id="{AB63F149-9FAA-4A18-A25B-77A2623FE5B6}"/>
              </a:ext>
            </a:extLst>
          </p:cNvPr>
          <p:cNvSpPr>
            <a:spLocks noGrp="1" noChangeArrowheads="1"/>
          </p:cNvSpPr>
          <p:nvPr>
            <p:ph sz="quarter" idx="11"/>
          </p:nvPr>
        </p:nvSpPr>
        <p:spPr>
          <a:xfrm>
            <a:off x="330200" y="1233488"/>
            <a:ext cx="12085638" cy="5286375"/>
          </a:xfrm>
        </p:spPr>
        <p:txBody>
          <a:bodyPr>
            <a:normAutofit lnSpcReduction="10000"/>
          </a:bodyPr>
          <a:lstStyle/>
          <a:p>
            <a:pPr marL="0" indent="0">
              <a:buFont typeface="Wingdings 3" panose="05040102010807070707" pitchFamily="18" charset="2"/>
              <a:buNone/>
              <a:defRPr/>
            </a:pPr>
            <a:r>
              <a:rPr altLang="ar-EG" sz="1600"/>
              <a:t>A time series forecast is different from regression in that time acts as an exploratory variable and should be continuous along equal intervals.</a:t>
            </a:r>
            <a:endParaRPr lang="ar-EG" altLang="ar-EG" sz="1600"/>
          </a:p>
          <a:p>
            <a:pPr>
              <a:buFont typeface="Wingdings 3" panose="05040102010807070707" pitchFamily="18" charset="2"/>
              <a:buChar char=""/>
              <a:defRPr/>
            </a:pPr>
            <a:endParaRPr altLang="ar-EG" sz="1600"/>
          </a:p>
          <a:p>
            <a:pPr marL="0" indent="0">
              <a:buFont typeface="Wingdings 3" panose="05040102010807070707" pitchFamily="18" charset="2"/>
              <a:buNone/>
              <a:defRPr/>
            </a:pPr>
            <a:r>
              <a:rPr altLang="ar-EG" sz="1600" b="1"/>
              <a:t>Algorithms </a:t>
            </a:r>
          </a:p>
          <a:p>
            <a:pPr marL="0" indent="0">
              <a:buFont typeface="Wingdings 3" panose="05040102010807070707" pitchFamily="18" charset="2"/>
              <a:buNone/>
              <a:defRPr/>
            </a:pPr>
            <a:r>
              <a:rPr sz="1600" b="1"/>
              <a:t>1) Autoregressive Forecast Model: </a:t>
            </a:r>
            <a:r>
              <a:rPr sz="1600"/>
              <a:t>uses observations at previous time steps to predict observations at future time step.</a:t>
            </a:r>
            <a:br>
              <a:rPr lang="ar-EG" sz="1600"/>
            </a:br>
            <a:endParaRPr sz="1600"/>
          </a:p>
          <a:p>
            <a:pPr marL="0" indent="0">
              <a:buFont typeface="Wingdings 3" panose="05040102010807070707" pitchFamily="18" charset="2"/>
              <a:buNone/>
              <a:defRPr/>
            </a:pPr>
            <a:r>
              <a:rPr sz="1600" b="1"/>
              <a:t>2) ARIMA Forecast Model: </a:t>
            </a:r>
            <a:r>
              <a:rPr sz="1600"/>
              <a:t>linear model, predict after remove trends and seasonality.</a:t>
            </a:r>
            <a:br>
              <a:rPr lang="ar-EG" sz="1600"/>
            </a:br>
            <a:endParaRPr sz="1600"/>
          </a:p>
          <a:p>
            <a:pPr marL="0" indent="0">
              <a:buFont typeface="Wingdings 3" panose="05040102010807070707" pitchFamily="18" charset="2"/>
              <a:buNone/>
              <a:defRPr/>
            </a:pPr>
            <a:r>
              <a:rPr sz="1600" b="1"/>
              <a:t>3) Prophet: </a:t>
            </a:r>
            <a:r>
              <a:rPr sz="1600"/>
              <a:t>Facebook library, it is quick and gives very good results, forecasting time series data.</a:t>
            </a:r>
            <a:br>
              <a:rPr sz="1600"/>
            </a:br>
            <a:r>
              <a:rPr sz="1600"/>
              <a:t>         Related Packages: </a:t>
            </a:r>
            <a:r>
              <a:rPr sz="1600" b="1">
                <a:solidFill>
                  <a:srgbClr val="FFFF00"/>
                </a:solidFill>
              </a:rPr>
              <a:t>pip install </a:t>
            </a:r>
            <a:r>
              <a:rPr sz="1600" b="1" err="1">
                <a:solidFill>
                  <a:srgbClr val="FFFF00"/>
                </a:solidFill>
              </a:rPr>
              <a:t>fbprophet</a:t>
            </a:r>
            <a:endParaRPr sz="1600" b="1">
              <a:solidFill>
                <a:srgbClr val="FFFF00"/>
              </a:solidFill>
            </a:endParaRPr>
          </a:p>
          <a:p>
            <a:pPr marL="457200" lvl="1" indent="0">
              <a:buFont typeface="Wingdings 3" panose="05040102010807070707" pitchFamily="18" charset="2"/>
              <a:buNone/>
              <a:defRPr/>
            </a:pPr>
            <a:r>
              <a:rPr sz="1600"/>
              <a:t>The input to Prophet is always a </a:t>
            </a:r>
            <a:r>
              <a:rPr sz="1600" err="1"/>
              <a:t>dataframe</a:t>
            </a:r>
            <a:r>
              <a:rPr sz="1600"/>
              <a:t> with two columns: ds and y. </a:t>
            </a:r>
            <a:br>
              <a:rPr sz="1600"/>
            </a:br>
            <a:r>
              <a:rPr sz="1600"/>
              <a:t>The ds (</a:t>
            </a:r>
            <a:r>
              <a:rPr sz="1600" err="1"/>
              <a:t>datestamp</a:t>
            </a:r>
            <a:r>
              <a:rPr sz="1600"/>
              <a:t>) column must contain a date or datetime (either is fine). </a:t>
            </a:r>
            <a:br>
              <a:rPr sz="1600"/>
            </a:br>
            <a:r>
              <a:rPr sz="1600"/>
              <a:t>The y column must be numeric, and represents the measurement we wish to forecast, </a:t>
            </a:r>
            <a:br>
              <a:rPr sz="1600"/>
            </a:br>
            <a:r>
              <a:rPr sz="1600"/>
              <a:t>It is good to use log(y) and not the actual y to remove trends and noise data</a:t>
            </a:r>
          </a:p>
          <a:p>
            <a:pPr marL="457200" lvl="1" indent="0">
              <a:buFont typeface="Wingdings 3" panose="05040102010807070707" pitchFamily="18" charset="2"/>
              <a:buNone/>
              <a:defRPr/>
            </a:pPr>
            <a:endParaRPr sz="1600"/>
          </a:p>
          <a:p>
            <a:pPr marL="0" indent="0">
              <a:buFont typeface="Wingdings 3" panose="05040102010807070707" pitchFamily="18" charset="2"/>
              <a:buNone/>
              <a:defRPr/>
            </a:pPr>
            <a:br>
              <a:rPr sz="1600"/>
            </a:br>
            <a:br>
              <a:rPr sz="1600"/>
            </a:br>
            <a:br>
              <a:rPr sz="1600"/>
            </a:br>
            <a:br>
              <a:rPr sz="1600"/>
            </a:br>
            <a:endParaRPr sz="1600"/>
          </a:p>
          <a:p>
            <a:pPr marL="0" indent="0">
              <a:buFont typeface="Wingdings 3" panose="05040102010807070707" pitchFamily="18" charset="2"/>
              <a:buNone/>
              <a:defRPr/>
            </a:pPr>
            <a:endParaRPr sz="1600"/>
          </a:p>
          <a:p>
            <a:pPr marL="0" indent="0">
              <a:buFont typeface="Wingdings 3" panose="05040102010807070707" pitchFamily="18" charset="2"/>
              <a:buNone/>
              <a:defRPr/>
            </a:pPr>
            <a:endParaRPr altLang="ar-EG" sz="1600"/>
          </a:p>
        </p:txBody>
      </p:sp>
      <p:pic>
        <p:nvPicPr>
          <p:cNvPr id="98308" name="Picture 3">
            <a:extLst>
              <a:ext uri="{FF2B5EF4-FFF2-40B4-BE49-F238E27FC236}">
                <a16:creationId xmlns:a16="http://schemas.microsoft.com/office/drawing/2014/main" id="{7150EF09-CF43-27CF-A50E-B7BC531C8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6100" y="4243388"/>
            <a:ext cx="2647950" cy="261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AAB545-869A-49A2-B575-387340F749C3}"/>
              </a:ext>
            </a:extLst>
          </p:cNvPr>
          <p:cNvSpPr>
            <a:spLocks noGrp="1"/>
          </p:cNvSpPr>
          <p:nvPr>
            <p:ph type="body" sz="quarter" idx="10"/>
          </p:nvPr>
        </p:nvSpPr>
        <p:spPr/>
        <p:txBody>
          <a:bodyPr/>
          <a:lstStyle/>
          <a:p>
            <a:pPr>
              <a:buFont typeface="Wingdings 3" panose="05040102010807070707" pitchFamily="18" charset="2"/>
              <a:buNone/>
              <a:defRPr/>
            </a:pPr>
            <a:r>
              <a:rPr lang="en-US"/>
              <a:t>FB Prophet</a:t>
            </a:r>
          </a:p>
        </p:txBody>
      </p:sp>
      <p:pic>
        <p:nvPicPr>
          <p:cNvPr id="99331" name="Picture 7">
            <a:extLst>
              <a:ext uri="{FF2B5EF4-FFF2-40B4-BE49-F238E27FC236}">
                <a16:creationId xmlns:a16="http://schemas.microsoft.com/office/drawing/2014/main" id="{F118D0B5-4737-DDC3-1426-B382D4CE2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01725"/>
            <a:ext cx="5476875"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2" name="Picture 8">
            <a:extLst>
              <a:ext uri="{FF2B5EF4-FFF2-40B4-BE49-F238E27FC236}">
                <a16:creationId xmlns:a16="http://schemas.microsoft.com/office/drawing/2014/main" id="{DC19BCEB-0F3A-5894-7836-43B4038F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3925" y="150813"/>
            <a:ext cx="332422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3" name="Picture 10">
            <a:extLst>
              <a:ext uri="{FF2B5EF4-FFF2-40B4-BE49-F238E27FC236}">
                <a16:creationId xmlns:a16="http://schemas.microsoft.com/office/drawing/2014/main" id="{8040BD52-AC23-9456-5CC9-D5A7FFD269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7100" y="3919538"/>
            <a:ext cx="3321050" cy="278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4" name="Picture 13">
            <a:extLst>
              <a:ext uri="{FF2B5EF4-FFF2-40B4-BE49-F238E27FC236}">
                <a16:creationId xmlns:a16="http://schemas.microsoft.com/office/drawing/2014/main" id="{BEEB0D81-C588-8867-4BEC-611779E49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3925" y="2043113"/>
            <a:ext cx="3324225"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F7EBFD8D-45B1-C3C7-DA91-970D8CB47BC7}"/>
              </a:ext>
            </a:extLst>
          </p:cNvPr>
          <p:cNvSpPr>
            <a:spLocks noGrp="1" noChangeArrowheads="1"/>
          </p:cNvSpPr>
          <p:nvPr>
            <p:ph type="title"/>
          </p:nvPr>
        </p:nvSpPr>
        <p:spPr bwMode="auto"/>
        <p:txBody>
          <a:bodyPr wrap="square" numCol="1" anchorCtr="0" compatLnSpc="1">
            <a:prstTxWarp prst="textNoShape">
              <a:avLst/>
            </a:prstTxWarp>
          </a:bodyPr>
          <a:lstStyle/>
          <a:p>
            <a:r>
              <a:rPr lang="en-US" altLang="ar-EG" cap="none">
                <a:ln>
                  <a:noFill/>
                </a:ln>
              </a:rPr>
              <a:t>Classification</a:t>
            </a:r>
          </a:p>
        </p:txBody>
      </p:sp>
      <p:sp>
        <p:nvSpPr>
          <p:cNvPr id="3" name="Text Placeholder 2">
            <a:extLst>
              <a:ext uri="{FF2B5EF4-FFF2-40B4-BE49-F238E27FC236}">
                <a16:creationId xmlns:a16="http://schemas.microsoft.com/office/drawing/2014/main" id="{6B909C45-52F1-4971-B8DC-C738CB6CE35B}"/>
              </a:ext>
            </a:extLst>
          </p:cNvPr>
          <p:cNvSpPr>
            <a:spLocks noGrp="1"/>
          </p:cNvSpPr>
          <p:nvPr>
            <p:ph type="body" idx="1"/>
          </p:nvPr>
        </p:nvSpPr>
        <p:spPr/>
        <p:txBody>
          <a:bodyPr/>
          <a:lstStyle/>
          <a:p>
            <a:pPr>
              <a:buFont typeface="Wingdings 3" panose="05040102010807070707" pitchFamily="18" charset="2"/>
              <a:buNone/>
              <a:defRPr/>
            </a:pPr>
            <a:r>
              <a:rPr lang="en-US" dirty="0">
                <a:solidFill>
                  <a:srgbClr val="FFFF00"/>
                </a:solidFill>
              </a:rPr>
              <a:t>Supervised machine learning </a:t>
            </a:r>
          </a:p>
          <a:p>
            <a:pPr>
              <a:buFont typeface="Wingdings 3" panose="05040102010807070707" pitchFamily="18" charset="2"/>
              <a:buNone/>
              <a:defRPr/>
            </a:pP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36137A-7AB3-479E-973E-88EA5E6A1E9C}"/>
              </a:ext>
            </a:extLst>
          </p:cNvPr>
          <p:cNvSpPr>
            <a:spLocks noGrp="1"/>
          </p:cNvSpPr>
          <p:nvPr>
            <p:ph type="body" sz="quarter" idx="10"/>
          </p:nvPr>
        </p:nvSpPr>
        <p:spPr>
          <a:xfrm>
            <a:off x="385763" y="227013"/>
            <a:ext cx="11415712" cy="819150"/>
          </a:xfrm>
        </p:spPr>
        <p:txBody>
          <a:bodyPr/>
          <a:lstStyle/>
          <a:p>
            <a:pPr>
              <a:buFont typeface="Wingdings 3" panose="05040102010807070707" pitchFamily="18" charset="2"/>
              <a:buNone/>
              <a:defRPr/>
            </a:pPr>
            <a:r>
              <a:rPr lang="en-US"/>
              <a:t>Classification</a:t>
            </a:r>
          </a:p>
        </p:txBody>
      </p:sp>
      <p:sp>
        <p:nvSpPr>
          <p:cNvPr id="232451" name="Content Placeholder 2">
            <a:extLst>
              <a:ext uri="{FF2B5EF4-FFF2-40B4-BE49-F238E27FC236}">
                <a16:creationId xmlns:a16="http://schemas.microsoft.com/office/drawing/2014/main" id="{6D7CC7FA-F534-41B8-B39F-294B9FD05633}"/>
              </a:ext>
            </a:extLst>
          </p:cNvPr>
          <p:cNvSpPr>
            <a:spLocks noGrp="1" noChangeArrowheads="1"/>
          </p:cNvSpPr>
          <p:nvPr>
            <p:ph sz="quarter" idx="11"/>
          </p:nvPr>
        </p:nvSpPr>
        <p:spPr>
          <a:xfrm>
            <a:off x="434975" y="1317625"/>
            <a:ext cx="11288713" cy="5314950"/>
          </a:xfrm>
        </p:spPr>
        <p:txBody>
          <a:bodyPr/>
          <a:lstStyle/>
          <a:p>
            <a:pPr marL="0" indent="0">
              <a:buFont typeface="Wingdings 3" panose="05040102010807070707" pitchFamily="18" charset="2"/>
              <a:buNone/>
              <a:defRPr/>
            </a:pPr>
            <a:r>
              <a:rPr altLang="ar-EG" b="1"/>
              <a:t>Algorithms</a:t>
            </a:r>
            <a:r>
              <a:rPr altLang="ar-EG"/>
              <a:t> </a:t>
            </a:r>
          </a:p>
          <a:p>
            <a:pPr>
              <a:buFont typeface="Wingdings 3" panose="05040102010807070707" pitchFamily="18" charset="2"/>
              <a:buChar char=""/>
              <a:defRPr/>
            </a:pPr>
            <a:r>
              <a:rPr altLang="ar-EG"/>
              <a:t>Naïve </a:t>
            </a:r>
            <a:r>
              <a:rPr altLang="ar-EG" err="1"/>
              <a:t>bayes</a:t>
            </a:r>
            <a:endParaRPr lang="ar-EG" altLang="ar-EG"/>
          </a:p>
          <a:p>
            <a:pPr>
              <a:buFont typeface="Wingdings 3" panose="05040102010807070707" pitchFamily="18" charset="2"/>
              <a:buChar char=""/>
              <a:defRPr/>
            </a:pPr>
            <a:r>
              <a:rPr altLang="ar-EG"/>
              <a:t>Decision Tree</a:t>
            </a:r>
          </a:p>
          <a:p>
            <a:pPr>
              <a:buFont typeface="Wingdings 3" panose="05040102010807070707" pitchFamily="18" charset="2"/>
              <a:buChar char=""/>
              <a:defRPr/>
            </a:pPr>
            <a:r>
              <a:rPr altLang="ar-EG"/>
              <a:t>Kernel Approximation</a:t>
            </a:r>
          </a:p>
          <a:p>
            <a:pPr>
              <a:buFont typeface="Wingdings 3" panose="05040102010807070707" pitchFamily="18" charset="2"/>
              <a:buChar char=""/>
              <a:defRPr/>
            </a:pPr>
            <a:r>
              <a:rPr altLang="ar-EG"/>
              <a:t>Random Forest Classification</a:t>
            </a:r>
          </a:p>
          <a:p>
            <a:pPr>
              <a:buFont typeface="Wingdings 3" panose="05040102010807070707" pitchFamily="18" charset="2"/>
              <a:buChar char=""/>
              <a:defRPr/>
            </a:pPr>
            <a:r>
              <a:rPr altLang="ar-EG"/>
              <a:t>Gradient Bosting</a:t>
            </a:r>
          </a:p>
          <a:p>
            <a:pPr>
              <a:buFont typeface="Wingdings 3" panose="05040102010807070707" pitchFamily="18" charset="2"/>
              <a:buChar char=""/>
              <a:defRPr/>
            </a:pPr>
            <a:endParaRPr lang="ar-EG" altLang="ar-EG"/>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79478A-98E5-41B8-9807-3EFF7E1F9C49}"/>
              </a:ext>
            </a:extLst>
          </p:cNvPr>
          <p:cNvSpPr>
            <a:spLocks noGrp="1"/>
          </p:cNvSpPr>
          <p:nvPr>
            <p:ph type="body" sz="quarter" idx="10"/>
          </p:nvPr>
        </p:nvSpPr>
        <p:spPr/>
        <p:txBody>
          <a:bodyPr/>
          <a:lstStyle/>
          <a:p>
            <a:pPr>
              <a:buFont typeface="Wingdings 3" panose="05040102010807070707" pitchFamily="18" charset="2"/>
              <a:buNone/>
              <a:defRPr/>
            </a:pPr>
            <a:r>
              <a:rPr lang="en-US"/>
              <a:t>Binary classification example</a:t>
            </a:r>
          </a:p>
        </p:txBody>
      </p:sp>
      <p:sp>
        <p:nvSpPr>
          <p:cNvPr id="102403" name="Content Placeholder 2">
            <a:extLst>
              <a:ext uri="{FF2B5EF4-FFF2-40B4-BE49-F238E27FC236}">
                <a16:creationId xmlns:a16="http://schemas.microsoft.com/office/drawing/2014/main" id="{5944BF21-35CE-333E-2A9E-538BA5524E3B}"/>
              </a:ext>
            </a:extLst>
          </p:cNvPr>
          <p:cNvSpPr>
            <a:spLocks noGrp="1" noChangeArrowheads="1"/>
          </p:cNvSpPr>
          <p:nvPr>
            <p:ph sz="quarter" idx="11"/>
          </p:nvPr>
        </p:nvSpPr>
        <p:spPr/>
        <p:txBody>
          <a:bodyPr/>
          <a:lstStyle/>
          <a:p>
            <a:pPr marL="0" indent="0">
              <a:buFont typeface="Wingdings 3" pitchFamily="2" charset="2"/>
              <a:buNone/>
            </a:pPr>
            <a:r>
              <a:rPr altLang="ar-EG" b="1"/>
              <a:t>Diabetes Data Set</a:t>
            </a:r>
            <a:r>
              <a:rPr altLang="ar-EG"/>
              <a:t> </a:t>
            </a:r>
            <a:endParaRPr altLang="ar-EG" sz="1200"/>
          </a:p>
          <a:p>
            <a:pPr marL="0" indent="0">
              <a:buFont typeface="Wingdings 3" pitchFamily="2" charset="2"/>
              <a:buNone/>
            </a:pPr>
            <a:r>
              <a:rPr altLang="ar-EG" sz="1200"/>
              <a:t>Detect Diabetes Disease based on analysis </a:t>
            </a:r>
          </a:p>
          <a:p>
            <a:pPr marL="0" indent="0">
              <a:buFont typeface="Wingdings 3" pitchFamily="2" charset="2"/>
              <a:buNone/>
            </a:pPr>
            <a:r>
              <a:rPr altLang="ar-EG" sz="1200"/>
              <a:t>Dataset Attributes:</a:t>
            </a:r>
          </a:p>
          <a:p>
            <a:pPr marL="0" indent="0">
              <a:buFont typeface="Wingdings 3" pitchFamily="2" charset="2"/>
              <a:buNone/>
            </a:pPr>
            <a:r>
              <a:rPr altLang="ar-EG" sz="1200"/>
              <a:t>1. Number of times pregnant </a:t>
            </a:r>
          </a:p>
          <a:p>
            <a:pPr marL="0" indent="0">
              <a:buFont typeface="Wingdings 3" pitchFamily="2" charset="2"/>
              <a:buNone/>
            </a:pPr>
            <a:r>
              <a:rPr altLang="ar-EG" sz="1200"/>
              <a:t>2. Plasma  </a:t>
            </a:r>
          </a:p>
          <a:p>
            <a:pPr marL="0" indent="0">
              <a:buFont typeface="Wingdings 3" pitchFamily="2" charset="2"/>
              <a:buNone/>
            </a:pPr>
            <a:r>
              <a:rPr altLang="ar-EG" sz="1200"/>
              <a:t>3. Diastolic blood pressure (mm Hg) </a:t>
            </a:r>
          </a:p>
          <a:p>
            <a:pPr marL="0" indent="0">
              <a:buFont typeface="Wingdings 3" pitchFamily="2" charset="2"/>
              <a:buNone/>
            </a:pPr>
            <a:r>
              <a:rPr altLang="ar-EG" sz="1200"/>
              <a:t>4. Triceps skin fold thickness (mm) </a:t>
            </a:r>
          </a:p>
          <a:p>
            <a:pPr marL="0" indent="0">
              <a:buFont typeface="Wingdings 3" pitchFamily="2" charset="2"/>
              <a:buNone/>
            </a:pPr>
            <a:r>
              <a:rPr altLang="ar-EG" sz="1200"/>
              <a:t>5. 2-Hour serum insulin (mu U/ml) </a:t>
            </a:r>
          </a:p>
          <a:p>
            <a:pPr marL="0" indent="0">
              <a:buFont typeface="Wingdings 3" pitchFamily="2" charset="2"/>
              <a:buNone/>
            </a:pPr>
            <a:r>
              <a:rPr altLang="ar-EG" sz="1200"/>
              <a:t>6. Body mass index </a:t>
            </a:r>
          </a:p>
          <a:p>
            <a:pPr marL="0" indent="0">
              <a:buFont typeface="Wingdings 3" pitchFamily="2" charset="2"/>
              <a:buNone/>
            </a:pPr>
            <a:r>
              <a:rPr altLang="ar-EG" sz="1200"/>
              <a:t>7. Diabetes pedigree function </a:t>
            </a:r>
          </a:p>
          <a:p>
            <a:pPr marL="0" indent="0">
              <a:buFont typeface="Wingdings 3" pitchFamily="2" charset="2"/>
              <a:buNone/>
            </a:pPr>
            <a:r>
              <a:rPr altLang="ar-EG" sz="1200"/>
              <a:t>8. Age (years) </a:t>
            </a:r>
          </a:p>
          <a:p>
            <a:pPr marL="0" indent="0">
              <a:buFont typeface="Wingdings 3" pitchFamily="2" charset="2"/>
              <a:buNone/>
            </a:pPr>
            <a:r>
              <a:rPr altLang="ar-EG" sz="1200"/>
              <a:t>9. Class variable (0 or 1) </a:t>
            </a:r>
          </a:p>
        </p:txBody>
      </p:sp>
      <p:pic>
        <p:nvPicPr>
          <p:cNvPr id="102404" name="Picture 2">
            <a:extLst>
              <a:ext uri="{FF2B5EF4-FFF2-40B4-BE49-F238E27FC236}">
                <a16:creationId xmlns:a16="http://schemas.microsoft.com/office/drawing/2014/main" id="{AF55AC82-5BDE-6E04-6D39-47B509DD9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5400" y="1317625"/>
            <a:ext cx="8253413"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5">
            <a:extLst>
              <a:ext uri="{FF2B5EF4-FFF2-40B4-BE49-F238E27FC236}">
                <a16:creationId xmlns:a16="http://schemas.microsoft.com/office/drawing/2014/main" id="{0BD481FC-5B38-EDB2-9A33-A8C54F4CE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623" r="39548" b="13414"/>
          <a:stretch>
            <a:fillRect/>
          </a:stretch>
        </p:blipFill>
        <p:spPr bwMode="auto">
          <a:xfrm>
            <a:off x="987425" y="0"/>
            <a:ext cx="9121775" cy="687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90EF4248-D44B-8C8B-0B3C-1F1CDF11F0AD}"/>
              </a:ext>
            </a:extLst>
          </p:cNvPr>
          <p:cNvSpPr>
            <a:spLocks noGrp="1" noChangeArrowheads="1"/>
          </p:cNvSpPr>
          <p:nvPr>
            <p:ph type="title"/>
          </p:nvPr>
        </p:nvSpPr>
        <p:spPr bwMode="auto"/>
        <p:txBody>
          <a:bodyPr wrap="square" numCol="1" anchorCtr="0" compatLnSpc="1">
            <a:prstTxWarp prst="textNoShape">
              <a:avLst/>
            </a:prstTxWarp>
          </a:bodyPr>
          <a:lstStyle/>
          <a:p>
            <a:r>
              <a:rPr lang="en-US" altLang="ar-EG" cap="none">
                <a:ln>
                  <a:noFill/>
                </a:ln>
              </a:rPr>
              <a:t>Clustering</a:t>
            </a:r>
          </a:p>
        </p:txBody>
      </p:sp>
      <p:sp>
        <p:nvSpPr>
          <p:cNvPr id="104451" name="Text Placeholder 2">
            <a:extLst>
              <a:ext uri="{FF2B5EF4-FFF2-40B4-BE49-F238E27FC236}">
                <a16:creationId xmlns:a16="http://schemas.microsoft.com/office/drawing/2014/main" id="{212FCE56-DC55-2C1D-F3A7-3B361700275F}"/>
              </a:ext>
            </a:extLst>
          </p:cNvPr>
          <p:cNvSpPr>
            <a:spLocks noGrp="1" noChangeArrowheads="1"/>
          </p:cNvSpPr>
          <p:nvPr>
            <p:ph type="body" idx="1"/>
          </p:nvPr>
        </p:nvSpPr>
        <p:spPr/>
        <p:txBody>
          <a:bodyPr/>
          <a:lstStyle/>
          <a:p>
            <a:r>
              <a:rPr lang="en-US" altLang="ar-EG">
                <a:solidFill>
                  <a:srgbClr val="FFFF00"/>
                </a:solidFill>
              </a:rPr>
              <a:t>Unsupervised machine learning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36107E-7A54-4DE3-8B6F-B9659A09D622}"/>
              </a:ext>
            </a:extLst>
          </p:cNvPr>
          <p:cNvSpPr>
            <a:spLocks noGrp="1"/>
          </p:cNvSpPr>
          <p:nvPr>
            <p:ph type="body" sz="quarter" idx="10"/>
          </p:nvPr>
        </p:nvSpPr>
        <p:spPr/>
        <p:txBody>
          <a:bodyPr/>
          <a:lstStyle/>
          <a:p>
            <a:pPr>
              <a:buFont typeface="Wingdings 3" panose="05040102010807070707" pitchFamily="18" charset="2"/>
              <a:buNone/>
              <a:defRPr/>
            </a:pPr>
            <a:r>
              <a:rPr lang="en-US"/>
              <a:t>Cluster</a:t>
            </a:r>
          </a:p>
        </p:txBody>
      </p:sp>
      <p:sp>
        <p:nvSpPr>
          <p:cNvPr id="3" name="Content Placeholder 2">
            <a:extLst>
              <a:ext uri="{FF2B5EF4-FFF2-40B4-BE49-F238E27FC236}">
                <a16:creationId xmlns:a16="http://schemas.microsoft.com/office/drawing/2014/main" id="{4A6D4C01-E668-419C-8335-0FE24F0C9CFE}"/>
              </a:ext>
            </a:extLst>
          </p:cNvPr>
          <p:cNvSpPr>
            <a:spLocks noGrp="1"/>
          </p:cNvSpPr>
          <p:nvPr>
            <p:ph sz="quarter" idx="11"/>
          </p:nvPr>
        </p:nvSpPr>
        <p:spPr/>
        <p:txBody>
          <a:bodyPr/>
          <a:lstStyle/>
          <a:p>
            <a:pPr marL="0" indent="0">
              <a:buFont typeface="Wingdings 3" panose="05040102010807070707" pitchFamily="18" charset="2"/>
              <a:buNone/>
              <a:defRPr/>
            </a:pPr>
            <a:r>
              <a:rPr b="1"/>
              <a:t>k-means clustering</a:t>
            </a:r>
            <a:r>
              <a:t>: needs the number of clusters before work! </a:t>
            </a:r>
            <a:endParaRPr lang="ar-EG"/>
          </a:p>
          <a:p>
            <a:pPr marL="0" indent="0">
              <a:buFont typeface="Wingdings 3" panose="05040102010807070707" pitchFamily="18" charset="2"/>
              <a:buNone/>
              <a:defRPr/>
            </a:pPr>
            <a:r>
              <a:t>we can get the expected numbers of clusters using one of the 3 next methods</a:t>
            </a:r>
            <a:r>
              <a:rPr lang="ar-EG"/>
              <a:t> </a:t>
            </a:r>
            <a:r>
              <a:t> (Elbow method, Variance explained, BIC score)</a:t>
            </a:r>
          </a:p>
          <a:p>
            <a:pPr marL="0" indent="0">
              <a:buFont typeface="Wingdings 3" panose="05040102010807070707" pitchFamily="18" charset="2"/>
              <a:buNone/>
              <a:defRPr/>
            </a:pPr>
            <a:endParaRPr/>
          </a:p>
          <a:p>
            <a:pPr>
              <a:buFont typeface="Wingdings 3" panose="05040102010807070707" pitchFamily="18" charset="2"/>
              <a:buChar char=""/>
              <a:defRPr/>
            </a:pPr>
            <a:r>
              <a:rPr b="1"/>
              <a:t>Silhouette score: </a:t>
            </a:r>
            <a:r>
              <a:t>measure how close observations within a cluster are. </a:t>
            </a:r>
            <a:br>
              <a:rPr lang="ar-EG"/>
            </a:br>
            <a:r>
              <a:t>The best value is 1 and the worst is -1. </a:t>
            </a:r>
            <a:br>
              <a:rPr lang="ar-EG"/>
            </a:br>
            <a:r>
              <a:t>A coefficient value of 0 indicates overlapping clusters.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79AB9B-EA91-4684-BB40-DAA9E3DEFF92}"/>
              </a:ext>
            </a:extLst>
          </p:cNvPr>
          <p:cNvSpPr>
            <a:spLocks noGrp="1"/>
          </p:cNvSpPr>
          <p:nvPr>
            <p:ph type="body" sz="quarter" idx="10"/>
          </p:nvPr>
        </p:nvSpPr>
        <p:spPr/>
        <p:txBody>
          <a:bodyPr/>
          <a:lstStyle/>
          <a:p>
            <a:pPr>
              <a:buFont typeface="Wingdings 3" panose="05040102010807070707" pitchFamily="18" charset="2"/>
              <a:buNone/>
              <a:defRPr/>
            </a:pPr>
            <a:endParaRPr lang="en-US"/>
          </a:p>
        </p:txBody>
      </p:sp>
      <p:sp>
        <p:nvSpPr>
          <p:cNvPr id="106499" name="Content Placeholder 2">
            <a:extLst>
              <a:ext uri="{FF2B5EF4-FFF2-40B4-BE49-F238E27FC236}">
                <a16:creationId xmlns:a16="http://schemas.microsoft.com/office/drawing/2014/main" id="{E85D437F-0081-2F39-CC84-2CFF72D4C844}"/>
              </a:ext>
            </a:extLst>
          </p:cNvPr>
          <p:cNvSpPr>
            <a:spLocks noGrp="1" noChangeArrowheads="1"/>
          </p:cNvSpPr>
          <p:nvPr>
            <p:ph sz="quarter" idx="11"/>
          </p:nvPr>
        </p:nvSpPr>
        <p:spPr/>
        <p:txBody>
          <a:bodyPr/>
          <a:lstStyle/>
          <a:p>
            <a:endParaRPr lang="ar-EG" altLang="ar-EG"/>
          </a:p>
        </p:txBody>
      </p:sp>
      <p:pic>
        <p:nvPicPr>
          <p:cNvPr id="106500" name="Picture 3">
            <a:extLst>
              <a:ext uri="{FF2B5EF4-FFF2-40B4-BE49-F238E27FC236}">
                <a16:creationId xmlns:a16="http://schemas.microsoft.com/office/drawing/2014/main" id="{ADB3E0D8-AC34-8CD3-D903-7A9EF4823C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838" y="-3175"/>
            <a:ext cx="9625012"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8CBB5-8362-4EBD-9BEB-011DF17B7FE2}"/>
              </a:ext>
            </a:extLst>
          </p:cNvPr>
          <p:cNvSpPr>
            <a:spLocks noGrp="1"/>
          </p:cNvSpPr>
          <p:nvPr>
            <p:ph type="title"/>
          </p:nvPr>
        </p:nvSpPr>
        <p:spPr/>
        <p:txBody>
          <a:bodyPr/>
          <a:lstStyle/>
          <a:p>
            <a:pPr>
              <a:defRPr/>
            </a:pPr>
            <a:r>
              <a:rPr lang="en-US" dirty="0"/>
              <a:t>computer vision</a:t>
            </a:r>
          </a:p>
        </p:txBody>
      </p:sp>
      <p:sp>
        <p:nvSpPr>
          <p:cNvPr id="3" name="Text Placeholder 2">
            <a:extLst>
              <a:ext uri="{FF2B5EF4-FFF2-40B4-BE49-F238E27FC236}">
                <a16:creationId xmlns:a16="http://schemas.microsoft.com/office/drawing/2014/main" id="{BBA0E68D-C26E-47EE-A85A-1344F450AF78}"/>
              </a:ext>
            </a:extLst>
          </p:cNvPr>
          <p:cNvSpPr>
            <a:spLocks noGrp="1"/>
          </p:cNvSpPr>
          <p:nvPr>
            <p:ph type="body" idx="1"/>
          </p:nvPr>
        </p:nvSpPr>
        <p:spPr/>
        <p:txBody>
          <a:bodyPr/>
          <a:lstStyle/>
          <a:p>
            <a:pPr>
              <a:buFont typeface="Wingdings 3" panose="05040102010807070707" pitchFamily="18" charset="2"/>
              <a:buNone/>
              <a:defRPr/>
            </a:pPr>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C1FC98-1325-480D-8509-0927359334D8}"/>
              </a:ext>
            </a:extLst>
          </p:cNvPr>
          <p:cNvSpPr>
            <a:spLocks noGrp="1"/>
          </p:cNvSpPr>
          <p:nvPr>
            <p:ph type="body" sz="quarter" idx="10"/>
          </p:nvPr>
        </p:nvSpPr>
        <p:spPr/>
        <p:txBody>
          <a:bodyPr/>
          <a:lstStyle/>
          <a:p>
            <a:pPr>
              <a:buFont typeface="Wingdings 3" panose="05040102010807070707" pitchFamily="18" charset="2"/>
              <a:buNone/>
              <a:defRPr/>
            </a:pPr>
            <a:r>
              <a:rPr lang="en-US"/>
              <a:t>Open CV for computer vision</a:t>
            </a:r>
          </a:p>
        </p:txBody>
      </p:sp>
      <p:sp>
        <p:nvSpPr>
          <p:cNvPr id="3" name="Content Placeholder 2">
            <a:extLst>
              <a:ext uri="{FF2B5EF4-FFF2-40B4-BE49-F238E27FC236}">
                <a16:creationId xmlns:a16="http://schemas.microsoft.com/office/drawing/2014/main" id="{04684E62-F0D5-426D-AF12-FA55E36ABB33}"/>
              </a:ext>
            </a:extLst>
          </p:cNvPr>
          <p:cNvSpPr>
            <a:spLocks noGrp="1"/>
          </p:cNvSpPr>
          <p:nvPr>
            <p:ph sz="quarter" idx="11"/>
          </p:nvPr>
        </p:nvSpPr>
        <p:spPr/>
        <p:txBody>
          <a:bodyPr/>
          <a:lstStyle/>
          <a:p>
            <a:pPr>
              <a:buFont typeface="Wingdings 3" panose="05040102010807070707" pitchFamily="18" charset="2"/>
              <a:buChar char=""/>
              <a:defRPr/>
            </a:pPr>
            <a:r>
              <a:t>To install OpenCV </a:t>
            </a:r>
            <a:r>
              <a:rPr>
                <a:solidFill>
                  <a:srgbClr val="FFFF00"/>
                </a:solidFill>
              </a:rPr>
              <a:t>pip install </a:t>
            </a:r>
            <a:r>
              <a:rPr err="1">
                <a:solidFill>
                  <a:srgbClr val="FFFF00"/>
                </a:solidFill>
              </a:rPr>
              <a:t>opencv</a:t>
            </a:r>
            <a:r>
              <a:rPr>
                <a:solidFill>
                  <a:srgbClr val="FFFF00"/>
                </a:solidFill>
              </a:rPr>
              <a:t>-python</a:t>
            </a:r>
          </a:p>
          <a:p>
            <a:pPr>
              <a:buFont typeface="Wingdings 3" panose="05040102010807070707" pitchFamily="18" charset="2"/>
              <a:buChar char=""/>
              <a:defRPr/>
            </a:pPr>
            <a:r>
              <a:t>Normal images are 4 dimensional array for each pixel (Blue ,Green, Red, and Alpha)</a:t>
            </a:r>
          </a:p>
          <a:p>
            <a:pPr>
              <a:buFont typeface="Wingdings 3" panose="05040102010807070707" pitchFamily="18" charset="2"/>
              <a:buChar char=""/>
              <a:defRPr/>
            </a:pPr>
            <a:r>
              <a:t>It is normal to process images in Gray scale for fast performance</a:t>
            </a:r>
          </a:p>
          <a:p>
            <a:pPr>
              <a:buFont typeface="Wingdings 3" panose="05040102010807070707" pitchFamily="18" charset="2"/>
              <a:buChar char=""/>
              <a:defRPr/>
            </a:pPr>
            <a:r>
              <a:t>Video is just a loop of images. So, any code processing images can process video too</a:t>
            </a:r>
          </a:p>
          <a:p>
            <a:pPr>
              <a:buFont typeface="Wingdings 3" panose="05040102010807070707" pitchFamily="18" charset="2"/>
              <a:buChar char=""/>
              <a:defRPr/>
            </a:pPr>
            <a:endParaRPr/>
          </a:p>
          <a:p>
            <a:pPr>
              <a:buFont typeface="Wingdings 3" panose="05040102010807070707" pitchFamily="18" charset="2"/>
              <a:buChar char=""/>
              <a:defRPr/>
            </a:pPr>
            <a:endParaRPr/>
          </a:p>
          <a:p>
            <a:pPr>
              <a:buFont typeface="Wingdings 3" panose="05040102010807070707" pitchFamily="18" charset="2"/>
              <a:buChar char=""/>
              <a:defRPr/>
            </a:pPr>
            <a:endParaRPr/>
          </a:p>
          <a:p>
            <a:pPr>
              <a:buFont typeface="Wingdings 3" panose="05040102010807070707" pitchFamily="18" charset="2"/>
              <a:buChar char=""/>
              <a:defRPr/>
            </a:pPr>
            <a:endParaRPr/>
          </a:p>
          <a:p>
            <a:pPr marL="0" indent="0">
              <a:buFont typeface="Wingdings 3" panose="05040102010807070707" pitchFamily="18" charset="2"/>
              <a:buNone/>
              <a:defRPr/>
            </a:pPr>
            <a:r>
              <a:t>For more information about open CV please visit</a:t>
            </a:r>
          </a:p>
          <a:p>
            <a:pPr>
              <a:buFont typeface="Wingdings 3" panose="05040102010807070707" pitchFamily="18" charset="2"/>
              <a:buChar char=""/>
              <a:defRPr/>
            </a:pPr>
            <a:r>
              <a:rPr>
                <a:hlinkClick r:id="rId2"/>
              </a:rPr>
              <a:t>https://www.tutorialspoint.com/opencv/index.htm</a:t>
            </a:r>
            <a:endParaRPr/>
          </a:p>
          <a:p>
            <a:pPr>
              <a:buFont typeface="Wingdings 3" panose="05040102010807070707" pitchFamily="18" charset="2"/>
              <a:buChar char=""/>
              <a:defRPr/>
            </a:pPr>
            <a:r>
              <a:rPr>
                <a:hlinkClick r:id="rId3"/>
              </a:rPr>
              <a:t>https://www.youtube.com/playlist?list=PLQVvvaa0QuDdttJXlLtAJxJetJcqmqlQq</a:t>
            </a:r>
            <a:endParaRPr/>
          </a:p>
          <a:p>
            <a:pPr>
              <a:buFont typeface="Wingdings 3" panose="05040102010807070707" pitchFamily="18" charset="2"/>
              <a:buChar char=""/>
              <a:defRPr/>
            </a:pP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E0D60E-E693-49B0-B9E8-565AFD425524}"/>
              </a:ext>
            </a:extLst>
          </p:cNvPr>
          <p:cNvSpPr>
            <a:spLocks noGrp="1"/>
          </p:cNvSpPr>
          <p:nvPr>
            <p:ph type="body" sz="quarter" idx="10"/>
          </p:nvPr>
        </p:nvSpPr>
        <p:spPr>
          <a:xfrm>
            <a:off x="236538" y="79375"/>
            <a:ext cx="11487150" cy="819150"/>
          </a:xfrm>
        </p:spPr>
        <p:txBody>
          <a:bodyPr/>
          <a:lstStyle/>
          <a:p>
            <a:pPr>
              <a:buFont typeface="Wingdings 3" panose="05040102010807070707" pitchFamily="18" charset="2"/>
              <a:buNone/>
              <a:defRPr/>
            </a:pPr>
            <a:r>
              <a:rPr lang="en-US"/>
              <a:t>Common OpenCV functions</a:t>
            </a:r>
          </a:p>
        </p:txBody>
      </p:sp>
      <p:sp>
        <p:nvSpPr>
          <p:cNvPr id="3" name="Content Placeholder 2">
            <a:extLst>
              <a:ext uri="{FF2B5EF4-FFF2-40B4-BE49-F238E27FC236}">
                <a16:creationId xmlns:a16="http://schemas.microsoft.com/office/drawing/2014/main" id="{31D7A9FC-C5A9-4638-99F9-EC9259BF6A2E}"/>
              </a:ext>
            </a:extLst>
          </p:cNvPr>
          <p:cNvSpPr>
            <a:spLocks noGrp="1"/>
          </p:cNvSpPr>
          <p:nvPr>
            <p:ph sz="quarter" idx="11"/>
          </p:nvPr>
        </p:nvSpPr>
        <p:spPr>
          <a:xfrm>
            <a:off x="146050" y="898525"/>
            <a:ext cx="12136438" cy="5610225"/>
          </a:xfrm>
        </p:spPr>
        <p:txBody>
          <a:bodyPr/>
          <a:lstStyle/>
          <a:p>
            <a:pPr>
              <a:buFont typeface="Wingdings 3" panose="05040102010807070707" pitchFamily="18" charset="2"/>
              <a:buChar char=""/>
              <a:defRPr/>
            </a:pPr>
            <a:r>
              <a:rPr sz="1400"/>
              <a:t>image = cv2.imread(</a:t>
            </a:r>
            <a:r>
              <a:rPr sz="1400" err="1"/>
              <a:t>ImgPATH</a:t>
            </a:r>
            <a:r>
              <a:rPr sz="1400"/>
              <a:t>) </a:t>
            </a:r>
            <a:r>
              <a:rPr sz="1400">
                <a:solidFill>
                  <a:srgbClr val="FFFF00"/>
                </a:solidFill>
              </a:rPr>
              <a:t>#Read image</a:t>
            </a:r>
          </a:p>
          <a:p>
            <a:pPr>
              <a:buFont typeface="Wingdings 3" panose="05040102010807070707" pitchFamily="18" charset="2"/>
              <a:buChar char=""/>
              <a:defRPr/>
            </a:pPr>
            <a:r>
              <a:rPr sz="1400"/>
              <a:t>cv2.cvtColor(</a:t>
            </a:r>
            <a:r>
              <a:rPr sz="1400" err="1"/>
              <a:t>ImgPATH</a:t>
            </a:r>
            <a:r>
              <a:rPr sz="1400"/>
              <a:t>, cv2.COLOR_BGR2GRAY) </a:t>
            </a:r>
            <a:r>
              <a:rPr sz="1400">
                <a:solidFill>
                  <a:srgbClr val="FFFF00"/>
                </a:solidFill>
              </a:rPr>
              <a:t>#Convert to gray scale</a:t>
            </a:r>
          </a:p>
          <a:p>
            <a:pPr>
              <a:buFont typeface="Wingdings 3" panose="05040102010807070707" pitchFamily="18" charset="2"/>
              <a:buChar char=""/>
              <a:defRPr/>
            </a:pPr>
            <a:r>
              <a:rPr sz="1400"/>
              <a:t>cv2.imshow( ‘Window Title’, image ) </a:t>
            </a:r>
            <a:r>
              <a:rPr sz="1400">
                <a:solidFill>
                  <a:srgbClr val="FFFF00"/>
                </a:solidFill>
              </a:rPr>
              <a:t>#Show Image in a window</a:t>
            </a:r>
          </a:p>
          <a:p>
            <a:pPr>
              <a:buFont typeface="Wingdings 3" panose="05040102010807070707" pitchFamily="18" charset="2"/>
              <a:buChar char=""/>
              <a:defRPr/>
            </a:pPr>
            <a:r>
              <a:rPr sz="1400"/>
              <a:t>cv2.imwrite(</a:t>
            </a:r>
            <a:r>
              <a:rPr sz="1400" err="1"/>
              <a:t>ImgPATH</a:t>
            </a:r>
            <a:r>
              <a:rPr sz="1400"/>
              <a:t>, image)  </a:t>
            </a:r>
            <a:r>
              <a:rPr sz="1400">
                <a:solidFill>
                  <a:srgbClr val="FFFF00"/>
                </a:solidFill>
              </a:rPr>
              <a:t># to write image to HD</a:t>
            </a:r>
          </a:p>
          <a:p>
            <a:pPr>
              <a:buFont typeface="Wingdings 3" panose="05040102010807070707" pitchFamily="18" charset="2"/>
              <a:buChar char=""/>
              <a:defRPr/>
            </a:pPr>
            <a:r>
              <a:rPr sz="1400"/>
              <a:t>_ , image = cv2.threshold(image, threshold, </a:t>
            </a:r>
            <a:r>
              <a:rPr sz="1400" err="1"/>
              <a:t>maxval</a:t>
            </a:r>
            <a:r>
              <a:rPr sz="1400"/>
              <a:t>, </a:t>
            </a:r>
            <a:r>
              <a:rPr sz="1400" b="1"/>
              <a:t>thresholdType</a:t>
            </a:r>
            <a:r>
              <a:rPr sz="1400"/>
              <a:t>) </a:t>
            </a:r>
            <a:r>
              <a:rPr sz="1400">
                <a:solidFill>
                  <a:srgbClr val="FFFF00"/>
                </a:solidFill>
              </a:rPr>
              <a:t>#change pixel to </a:t>
            </a:r>
            <a:r>
              <a:rPr sz="1400" err="1">
                <a:solidFill>
                  <a:srgbClr val="FFFF00"/>
                </a:solidFill>
              </a:rPr>
              <a:t>maxval</a:t>
            </a:r>
            <a:r>
              <a:rPr sz="1400">
                <a:solidFill>
                  <a:srgbClr val="FFFF00"/>
                </a:solidFill>
              </a:rPr>
              <a:t> if value greater than threshold</a:t>
            </a:r>
          </a:p>
          <a:p>
            <a:pPr>
              <a:buFont typeface="Wingdings 3" panose="05040102010807070707" pitchFamily="18" charset="2"/>
              <a:buChar char=""/>
              <a:defRPr/>
            </a:pPr>
            <a:r>
              <a:rPr sz="1400"/>
              <a:t>image = cv2.adaptiveThreshold(image, </a:t>
            </a:r>
            <a:r>
              <a:rPr sz="1400" err="1"/>
              <a:t>maxValue</a:t>
            </a:r>
            <a:r>
              <a:rPr sz="1400"/>
              <a:t>, </a:t>
            </a:r>
            <a:r>
              <a:rPr sz="1400" b="1" err="1"/>
              <a:t>adaptiveMethod</a:t>
            </a:r>
            <a:r>
              <a:rPr sz="1400"/>
              <a:t>, </a:t>
            </a:r>
            <a:r>
              <a:rPr sz="1400" b="1"/>
              <a:t>thresholdType</a:t>
            </a:r>
            <a:r>
              <a:rPr sz="1400"/>
              <a:t>, </a:t>
            </a:r>
            <a:r>
              <a:rPr sz="1400" err="1"/>
              <a:t>blockSize</a:t>
            </a:r>
            <a:r>
              <a:rPr sz="1400"/>
              <a:t>, C) </a:t>
            </a:r>
            <a:r>
              <a:rPr sz="1400">
                <a:solidFill>
                  <a:srgbClr val="FFFF00"/>
                </a:solidFill>
              </a:rPr>
              <a:t>#Threshold is automatic calculated</a:t>
            </a:r>
          </a:p>
          <a:p>
            <a:pPr marL="0" indent="0">
              <a:buFont typeface="Wingdings 3" panose="05040102010807070707" pitchFamily="18" charset="2"/>
              <a:buNone/>
              <a:defRPr/>
            </a:pPr>
            <a:endParaRPr sz="1400" b="1"/>
          </a:p>
          <a:p>
            <a:pPr marL="0" indent="0">
              <a:buFont typeface="Wingdings 3" panose="05040102010807070707" pitchFamily="18" charset="2"/>
              <a:buNone/>
              <a:defRPr/>
            </a:pPr>
            <a:r>
              <a:rPr sz="1400" b="1">
                <a:solidFill>
                  <a:srgbClr val="FFFF00"/>
                </a:solidFill>
              </a:rPr>
              <a:t>thresholdType</a:t>
            </a:r>
          </a:p>
          <a:p>
            <a:pPr>
              <a:buFont typeface="Wingdings 3" panose="05040102010807070707" pitchFamily="18" charset="2"/>
              <a:buChar char=""/>
              <a:defRPr/>
            </a:pPr>
            <a:endParaRPr/>
          </a:p>
          <a:p>
            <a:pPr>
              <a:buFont typeface="Wingdings 3" panose="05040102010807070707" pitchFamily="18" charset="2"/>
              <a:buChar char=""/>
              <a:defRPr/>
            </a:pPr>
            <a:endParaRPr/>
          </a:p>
          <a:p>
            <a:pPr marL="0" indent="0">
              <a:buFont typeface="Wingdings 3" panose="05040102010807070707" pitchFamily="18" charset="2"/>
              <a:buNone/>
              <a:defRPr/>
            </a:pPr>
            <a:r>
              <a:rPr sz="1400" b="1" err="1">
                <a:solidFill>
                  <a:srgbClr val="FFFF00"/>
                </a:solidFill>
              </a:rPr>
              <a:t>adaptiveMethod</a:t>
            </a:r>
            <a:endParaRPr sz="1400" b="1">
              <a:solidFill>
                <a:srgbClr val="FFFF00"/>
              </a:solidFill>
            </a:endParaRPr>
          </a:p>
          <a:p>
            <a:pPr>
              <a:buFont typeface="Wingdings 3" panose="05040102010807070707" pitchFamily="18" charset="2"/>
              <a:buChar char=""/>
              <a:defRPr/>
            </a:pPr>
            <a:r>
              <a:rPr sz="1400"/>
              <a:t>ADAPTIVE_THRESH_MEAN_C : threshold value is the mean of neighborhood area.</a:t>
            </a:r>
          </a:p>
          <a:p>
            <a:pPr>
              <a:buFont typeface="Wingdings 3" panose="05040102010807070707" pitchFamily="18" charset="2"/>
              <a:buChar char=""/>
              <a:defRPr/>
            </a:pPr>
            <a:r>
              <a:rPr sz="1400"/>
              <a:t>ADAPTIVE_THRESH_GAUSSIAN_C : threshold value is the weighted sum of neighborhood values where weights are a Gaussian window.</a:t>
            </a:r>
          </a:p>
          <a:p>
            <a:pPr marL="0" indent="0">
              <a:buFont typeface="Wingdings 3" panose="05040102010807070707" pitchFamily="18" charset="2"/>
              <a:buNone/>
              <a:defRPr/>
            </a:pPr>
            <a:r>
              <a:rPr sz="1400" b="1" err="1">
                <a:solidFill>
                  <a:srgbClr val="FFFF00"/>
                </a:solidFill>
              </a:rPr>
              <a:t>blockSize</a:t>
            </a:r>
            <a:r>
              <a:rPr sz="1400"/>
              <a:t> : A variable of the integer type representing size of the pixelneighborhood used to calculate the threshold value.</a:t>
            </a:r>
          </a:p>
          <a:p>
            <a:pPr marL="0" indent="0">
              <a:buFont typeface="Wingdings 3" panose="05040102010807070707" pitchFamily="18" charset="2"/>
              <a:buNone/>
              <a:defRPr/>
            </a:pPr>
            <a:r>
              <a:rPr sz="1400" b="1">
                <a:solidFill>
                  <a:srgbClr val="FFFF00"/>
                </a:solidFill>
              </a:rPr>
              <a:t>C</a:t>
            </a:r>
            <a:r>
              <a:rPr sz="1400"/>
              <a:t> : A variable of double type representing the constant used in the both methods (subtracted from the mean or weighted mean).</a:t>
            </a:r>
          </a:p>
          <a:p>
            <a:pPr>
              <a:buFont typeface="Wingdings 3" panose="05040102010807070707" pitchFamily="18" charset="2"/>
              <a:buChar char=""/>
              <a:defRPr/>
            </a:pPr>
            <a:endParaRPr sz="1400"/>
          </a:p>
          <a:p>
            <a:pPr marL="0" indent="0">
              <a:buFont typeface="Wingdings 3" panose="05040102010807070707" pitchFamily="18" charset="2"/>
              <a:buNone/>
              <a:defRPr/>
            </a:pPr>
            <a:endParaRPr sz="1400" b="1"/>
          </a:p>
          <a:p>
            <a:pPr>
              <a:buFont typeface="Wingdings 3" panose="05040102010807070707" pitchFamily="18" charset="2"/>
              <a:buChar char=""/>
              <a:defRPr/>
            </a:pPr>
            <a:endParaRPr/>
          </a:p>
        </p:txBody>
      </p:sp>
      <p:graphicFrame>
        <p:nvGraphicFramePr>
          <p:cNvPr id="5" name="Table 4">
            <a:extLst>
              <a:ext uri="{FF2B5EF4-FFF2-40B4-BE49-F238E27FC236}">
                <a16:creationId xmlns:a16="http://schemas.microsoft.com/office/drawing/2014/main" id="{2918F443-3A1D-46B8-A61A-0E9F1A10D217}"/>
              </a:ext>
            </a:extLst>
          </p:cNvPr>
          <p:cNvGraphicFramePr>
            <a:graphicFrameLocks noGrp="1"/>
          </p:cNvGraphicFramePr>
          <p:nvPr/>
        </p:nvGraphicFramePr>
        <p:xfrm>
          <a:off x="2027238" y="3113088"/>
          <a:ext cx="9696450" cy="1217612"/>
        </p:xfrm>
        <a:graphic>
          <a:graphicData uri="http://schemas.openxmlformats.org/drawingml/2006/table">
            <a:tbl>
              <a:tblPr rtl="1" firstRow="1" bandRow="1">
                <a:tableStyleId>{5C22544A-7EE6-4342-B048-85BDC9FD1C3A}</a:tableStyleId>
              </a:tblPr>
              <a:tblGrid>
                <a:gridCol w="1616075">
                  <a:extLst>
                    <a:ext uri="{9D8B030D-6E8A-4147-A177-3AD203B41FA5}">
                      <a16:colId xmlns:a16="http://schemas.microsoft.com/office/drawing/2014/main" val="3126323971"/>
                    </a:ext>
                  </a:extLst>
                </a:gridCol>
                <a:gridCol w="1616075">
                  <a:extLst>
                    <a:ext uri="{9D8B030D-6E8A-4147-A177-3AD203B41FA5}">
                      <a16:colId xmlns:a16="http://schemas.microsoft.com/office/drawing/2014/main" val="83407398"/>
                    </a:ext>
                  </a:extLst>
                </a:gridCol>
                <a:gridCol w="1616075">
                  <a:extLst>
                    <a:ext uri="{9D8B030D-6E8A-4147-A177-3AD203B41FA5}">
                      <a16:colId xmlns:a16="http://schemas.microsoft.com/office/drawing/2014/main" val="1664914361"/>
                    </a:ext>
                  </a:extLst>
                </a:gridCol>
                <a:gridCol w="1616075">
                  <a:extLst>
                    <a:ext uri="{9D8B030D-6E8A-4147-A177-3AD203B41FA5}">
                      <a16:colId xmlns:a16="http://schemas.microsoft.com/office/drawing/2014/main" val="913276842"/>
                    </a:ext>
                  </a:extLst>
                </a:gridCol>
                <a:gridCol w="1616075">
                  <a:extLst>
                    <a:ext uri="{9D8B030D-6E8A-4147-A177-3AD203B41FA5}">
                      <a16:colId xmlns:a16="http://schemas.microsoft.com/office/drawing/2014/main" val="661409810"/>
                    </a:ext>
                  </a:extLst>
                </a:gridCol>
                <a:gridCol w="1616075">
                  <a:extLst>
                    <a:ext uri="{9D8B030D-6E8A-4147-A177-3AD203B41FA5}">
                      <a16:colId xmlns:a16="http://schemas.microsoft.com/office/drawing/2014/main" val="3357901152"/>
                    </a:ext>
                  </a:extLst>
                </a:gridCol>
              </a:tblGrid>
              <a:tr h="364014">
                <a:tc>
                  <a:txBody>
                    <a:bodyPr/>
                    <a:lstStyle/>
                    <a:p>
                      <a:pPr algn="ctr" fontAlgn="t"/>
                      <a:r>
                        <a:rPr lang="en-US" sz="1100" b="0" dirty="0">
                          <a:effectLst/>
                        </a:rPr>
                        <a:t>THRESH_TOZERO_INV</a:t>
                      </a:r>
                    </a:p>
                  </a:txBody>
                  <a:tcPr marL="76194" marR="76194" marT="76189" marB="76189"/>
                </a:tc>
                <a:tc>
                  <a:txBody>
                    <a:bodyPr/>
                    <a:lstStyle/>
                    <a:p>
                      <a:pPr algn="ctr"/>
                      <a:r>
                        <a:rPr lang="en-US" sz="1100" b="0" i="0" kern="1200" dirty="0">
                          <a:solidFill>
                            <a:schemeClr val="lt1"/>
                          </a:solidFill>
                          <a:effectLst/>
                          <a:latin typeface="+mn-lt"/>
                          <a:ea typeface="+mn-ea"/>
                          <a:cs typeface="+mn-cs"/>
                        </a:rPr>
                        <a:t>THRESH_TOZERO</a:t>
                      </a:r>
                      <a:endParaRPr lang="en-US" sz="1100" b="0" dirty="0"/>
                    </a:p>
                  </a:txBody>
                  <a:tcPr marL="91433" marR="91433" marT="45713" marB="45713"/>
                </a:tc>
                <a:tc>
                  <a:txBody>
                    <a:bodyPr/>
                    <a:lstStyle/>
                    <a:p>
                      <a:pPr algn="ctr"/>
                      <a:r>
                        <a:rPr lang="en-US" sz="1100" b="0" i="0" kern="1200" dirty="0">
                          <a:solidFill>
                            <a:schemeClr val="lt1"/>
                          </a:solidFill>
                          <a:effectLst/>
                          <a:latin typeface="+mn-lt"/>
                          <a:ea typeface="+mn-ea"/>
                          <a:cs typeface="+mn-cs"/>
                        </a:rPr>
                        <a:t>THRESH_TRUNC</a:t>
                      </a:r>
                      <a:endParaRPr lang="en-US" sz="1100" b="0" dirty="0"/>
                    </a:p>
                  </a:txBody>
                  <a:tcPr marL="91433" marR="91433" marT="45713" marB="45713"/>
                </a:tc>
                <a:tc>
                  <a:txBody>
                    <a:bodyPr/>
                    <a:lstStyle/>
                    <a:p>
                      <a:pPr algn="ctr" fontAlgn="t"/>
                      <a:r>
                        <a:rPr lang="en-US" sz="1100" b="0" dirty="0">
                          <a:effectLst/>
                        </a:rPr>
                        <a:t>THRESH_BINARY_INV</a:t>
                      </a:r>
                    </a:p>
                  </a:txBody>
                  <a:tcPr marL="76194" marR="76194" marT="76189" marB="76189"/>
                </a:tc>
                <a:tc>
                  <a:txBody>
                    <a:bodyPr/>
                    <a:lstStyle/>
                    <a:p>
                      <a:pPr algn="ctr" fontAlgn="t"/>
                      <a:r>
                        <a:rPr lang="en-US" sz="1100" b="0" dirty="0">
                          <a:effectLst/>
                        </a:rPr>
                        <a:t>THRESH_BINARY</a:t>
                      </a:r>
                    </a:p>
                  </a:txBody>
                  <a:tcPr marL="76194" marR="76194" marT="76189" marB="76189"/>
                </a:tc>
                <a:tc>
                  <a:txBody>
                    <a:bodyPr/>
                    <a:lstStyle/>
                    <a:p>
                      <a:pPr algn="ctr" fontAlgn="t"/>
                      <a:r>
                        <a:rPr lang="en-US" sz="1100" b="0" dirty="0">
                          <a:effectLst/>
                        </a:rPr>
                        <a:t>Original</a:t>
                      </a:r>
                    </a:p>
                  </a:txBody>
                  <a:tcPr marL="76194" marR="76194" marT="76189" marB="76189">
                    <a:solidFill>
                      <a:schemeClr val="accent4"/>
                    </a:solidFill>
                  </a:tcPr>
                </a:tc>
                <a:extLst>
                  <a:ext uri="{0D108BD9-81ED-4DB2-BD59-A6C34878D82A}">
                    <a16:rowId xmlns:a16="http://schemas.microsoft.com/office/drawing/2014/main" val="4134805923"/>
                  </a:ext>
                </a:extLst>
              </a:tr>
              <a:tr h="853598">
                <a:tc>
                  <a:txBody>
                    <a:bodyPr/>
                    <a:lstStyle/>
                    <a:p>
                      <a:endParaRPr lang="en-US" sz="1800"/>
                    </a:p>
                  </a:txBody>
                  <a:tcPr marL="91433" marR="91433" marT="45713" marB="45713"/>
                </a:tc>
                <a:tc>
                  <a:txBody>
                    <a:bodyPr/>
                    <a:lstStyle/>
                    <a:p>
                      <a:endParaRPr lang="en-US" sz="1800" dirty="0"/>
                    </a:p>
                  </a:txBody>
                  <a:tcPr marL="91433" marR="91433" marT="45713" marB="45713"/>
                </a:tc>
                <a:tc>
                  <a:txBody>
                    <a:bodyPr/>
                    <a:lstStyle/>
                    <a:p>
                      <a:endParaRPr lang="en-US" sz="1800" dirty="0"/>
                    </a:p>
                  </a:txBody>
                  <a:tcPr marL="91433" marR="91433" marT="45713" marB="45713"/>
                </a:tc>
                <a:tc>
                  <a:txBody>
                    <a:bodyPr/>
                    <a:lstStyle/>
                    <a:p>
                      <a:endParaRPr lang="en-US" sz="1800"/>
                    </a:p>
                  </a:txBody>
                  <a:tcPr marL="91433" marR="91433" marT="45713" marB="45713"/>
                </a:tc>
                <a:tc>
                  <a:txBody>
                    <a:bodyPr/>
                    <a:lstStyle/>
                    <a:p>
                      <a:endParaRPr lang="en-US" sz="1800" dirty="0"/>
                    </a:p>
                  </a:txBody>
                  <a:tcPr marL="91433" marR="91433" marT="45713" marB="45713"/>
                </a:tc>
                <a:tc>
                  <a:txBody>
                    <a:bodyPr/>
                    <a:lstStyle/>
                    <a:p>
                      <a:endParaRPr lang="en-US" sz="1800" dirty="0"/>
                    </a:p>
                  </a:txBody>
                  <a:tcPr marL="91433" marR="91433" marT="45713" marB="45713"/>
                </a:tc>
                <a:extLst>
                  <a:ext uri="{0D108BD9-81ED-4DB2-BD59-A6C34878D82A}">
                    <a16:rowId xmlns:a16="http://schemas.microsoft.com/office/drawing/2014/main" val="4251636571"/>
                  </a:ext>
                </a:extLst>
              </a:tr>
            </a:tbl>
          </a:graphicData>
        </a:graphic>
      </p:graphicFrame>
      <p:pic>
        <p:nvPicPr>
          <p:cNvPr id="109595" name="Picture 5">
            <a:extLst>
              <a:ext uri="{FF2B5EF4-FFF2-40B4-BE49-F238E27FC236}">
                <a16:creationId xmlns:a16="http://schemas.microsoft.com/office/drawing/2014/main" id="{E140B7DE-6099-E53B-0103-BD62B6FB55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150" y="3519488"/>
            <a:ext cx="8286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96" name="Picture 6">
            <a:extLst>
              <a:ext uri="{FF2B5EF4-FFF2-40B4-BE49-F238E27FC236}">
                <a16:creationId xmlns:a16="http://schemas.microsoft.com/office/drawing/2014/main" id="{0C47F895-8D22-6673-9FBE-341EE4EC95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2888" y="3519488"/>
            <a:ext cx="750887"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97" name="Picture 7">
            <a:extLst>
              <a:ext uri="{FF2B5EF4-FFF2-40B4-BE49-F238E27FC236}">
                <a16:creationId xmlns:a16="http://schemas.microsoft.com/office/drawing/2014/main" id="{26E532C8-9E54-9480-EBF8-DE12D79936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1338" y="3519488"/>
            <a:ext cx="779462"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98" name="Picture 8">
            <a:extLst>
              <a:ext uri="{FF2B5EF4-FFF2-40B4-BE49-F238E27FC236}">
                <a16:creationId xmlns:a16="http://schemas.microsoft.com/office/drawing/2014/main" id="{BAF7BB8F-0CAA-FCD8-5A6A-F025F5F714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3463" y="3519488"/>
            <a:ext cx="763587"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99" name="Picture 9">
            <a:extLst>
              <a:ext uri="{FF2B5EF4-FFF2-40B4-BE49-F238E27FC236}">
                <a16:creationId xmlns:a16="http://schemas.microsoft.com/office/drawing/2014/main" id="{765BE70A-09F2-23BD-A7C2-C75ABD914B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6025" y="3516313"/>
            <a:ext cx="785813"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600" name="Picture 10">
            <a:extLst>
              <a:ext uri="{FF2B5EF4-FFF2-40B4-BE49-F238E27FC236}">
                <a16:creationId xmlns:a16="http://schemas.microsoft.com/office/drawing/2014/main" id="{968AA3B7-4322-A916-C2CD-B7AD599F1B9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83863" y="3516313"/>
            <a:ext cx="755650"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342BB1-4AFA-4755-A524-DB1591DE2977}"/>
              </a:ext>
            </a:extLst>
          </p:cNvPr>
          <p:cNvSpPr>
            <a:spLocks noGrp="1"/>
          </p:cNvSpPr>
          <p:nvPr>
            <p:ph type="body" sz="quarter" idx="10"/>
          </p:nvPr>
        </p:nvSpPr>
        <p:spPr/>
        <p:txBody>
          <a:bodyPr/>
          <a:lstStyle/>
          <a:p>
            <a:pPr>
              <a:buFont typeface="Wingdings 3" panose="05040102010807070707" pitchFamily="18" charset="2"/>
              <a:buNone/>
              <a:defRPr/>
            </a:pPr>
            <a:r>
              <a:rPr lang="en-US"/>
              <a:t>OpenCV Video Stream Example</a:t>
            </a:r>
          </a:p>
        </p:txBody>
      </p:sp>
      <p:sp>
        <p:nvSpPr>
          <p:cNvPr id="110595" name="Content Placeholder 2">
            <a:extLst>
              <a:ext uri="{FF2B5EF4-FFF2-40B4-BE49-F238E27FC236}">
                <a16:creationId xmlns:a16="http://schemas.microsoft.com/office/drawing/2014/main" id="{E4549EBB-C419-DCCC-D8AA-DC55F8116A72}"/>
              </a:ext>
            </a:extLst>
          </p:cNvPr>
          <p:cNvSpPr>
            <a:spLocks noGrp="1" noChangeArrowheads="1"/>
          </p:cNvSpPr>
          <p:nvPr>
            <p:ph sz="quarter" idx="11"/>
          </p:nvPr>
        </p:nvSpPr>
        <p:spPr/>
        <p:txBody>
          <a:bodyPr/>
          <a:lstStyle/>
          <a:p>
            <a:pPr marL="0" indent="0">
              <a:buFont typeface="Wingdings 3" pitchFamily="2" charset="2"/>
              <a:buNone/>
            </a:pPr>
            <a:r>
              <a:rPr altLang="ar-EG" sz="1400"/>
              <a:t>#VideoStream1 = cv2.VideoCapture('c:/boxed-correct.avi’)  </a:t>
            </a:r>
            <a:r>
              <a:rPr altLang="ar-EG" sz="1400">
                <a:sym typeface="Wingdings" pitchFamily="2" charset="2"/>
              </a:rPr>
              <a:t> read stream from avi video file</a:t>
            </a:r>
            <a:endParaRPr altLang="ar-EG" sz="1400"/>
          </a:p>
          <a:p>
            <a:pPr marL="0" indent="0">
              <a:buFont typeface="Wingdings 3" pitchFamily="2" charset="2"/>
              <a:buNone/>
            </a:pPr>
            <a:r>
              <a:rPr altLang="ar-EG" sz="1400"/>
              <a:t>VideoStream1 = cv2.VideoCapture(0)  </a:t>
            </a:r>
            <a:r>
              <a:rPr altLang="ar-EG" sz="1400">
                <a:sym typeface="Wingdings" pitchFamily="2" charset="2"/>
              </a:rPr>
              <a:t> read stream from the first connected video cam </a:t>
            </a:r>
            <a:endParaRPr altLang="ar-EG" sz="1400"/>
          </a:p>
          <a:p>
            <a:pPr marL="0" indent="0">
              <a:buFont typeface="Wingdings 3" pitchFamily="2" charset="2"/>
              <a:buNone/>
            </a:pPr>
            <a:r>
              <a:rPr altLang="ar-EG" sz="1400"/>
              <a:t>while True:</a:t>
            </a:r>
          </a:p>
          <a:p>
            <a:pPr marL="0" indent="0">
              <a:buFont typeface="Wingdings 3" pitchFamily="2" charset="2"/>
              <a:buNone/>
            </a:pPr>
            <a:r>
              <a:rPr altLang="ar-EG" sz="1400"/>
              <a:t>    IsReturnFrame1,ImgFrame1=VideoStream1.read()</a:t>
            </a:r>
          </a:p>
          <a:p>
            <a:pPr marL="0" indent="0">
              <a:buFont typeface="Wingdings 3" pitchFamily="2" charset="2"/>
              <a:buNone/>
            </a:pPr>
            <a:r>
              <a:rPr altLang="ar-EG" sz="1400"/>
              <a:t>    if IsReturnFrame1 == 0:  break</a:t>
            </a:r>
          </a:p>
          <a:p>
            <a:pPr marL="0" indent="0">
              <a:buFont typeface="Wingdings 3" pitchFamily="2" charset="2"/>
              <a:buNone/>
            </a:pPr>
            <a:r>
              <a:rPr altLang="ar-EG" sz="1400"/>
              <a:t>    GrayImgFrame1=cv2.cvtColor(ImgFrame1,cv2.COLOR_BGR2GRAY)</a:t>
            </a:r>
          </a:p>
          <a:p>
            <a:pPr marL="0" indent="0">
              <a:buFont typeface="Wingdings 3" pitchFamily="2" charset="2"/>
              <a:buNone/>
            </a:pPr>
            <a:r>
              <a:rPr altLang="ar-EG" sz="1400"/>
              <a:t>    cv2.imshow('ImageTitle1',ImgFrame1)</a:t>
            </a:r>
          </a:p>
          <a:p>
            <a:pPr marL="0" indent="0">
              <a:buFont typeface="Wingdings 3" pitchFamily="2" charset="2"/>
              <a:buNone/>
            </a:pPr>
            <a:r>
              <a:rPr altLang="ar-EG" sz="1400"/>
              <a:t>    cv2.imshow('ImageTitle2',GrayImgFrame1)</a:t>
            </a:r>
          </a:p>
          <a:p>
            <a:pPr marL="0" indent="0">
              <a:buFont typeface="Wingdings 3" pitchFamily="2" charset="2"/>
              <a:buNone/>
            </a:pPr>
            <a:r>
              <a:rPr altLang="ar-EG" sz="1400"/>
              <a:t>    if cv2.waitKey(0): break</a:t>
            </a:r>
          </a:p>
          <a:p>
            <a:pPr marL="0" indent="0">
              <a:buFont typeface="Wingdings 3" pitchFamily="2" charset="2"/>
              <a:buNone/>
            </a:pPr>
            <a:endParaRPr altLang="ar-EG" sz="1400"/>
          </a:p>
          <a:p>
            <a:pPr marL="0" indent="0">
              <a:buFont typeface="Wingdings 3" pitchFamily="2" charset="2"/>
              <a:buNone/>
            </a:pPr>
            <a:r>
              <a:rPr altLang="ar-EG" sz="1400"/>
              <a:t>VideoStream1.release()</a:t>
            </a:r>
          </a:p>
          <a:p>
            <a:pPr marL="0" indent="0">
              <a:buFont typeface="Wingdings 3" pitchFamily="2" charset="2"/>
              <a:buNone/>
            </a:pPr>
            <a:r>
              <a:rPr altLang="ar-EG" sz="1400"/>
              <a:t>cv2.destroyAllWindows()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7005AB-1AE8-4240-AC94-44EA490CDD8C}"/>
              </a:ext>
            </a:extLst>
          </p:cNvPr>
          <p:cNvSpPr>
            <a:spLocks noGrp="1"/>
          </p:cNvSpPr>
          <p:nvPr>
            <p:ph type="body" sz="quarter" idx="10"/>
          </p:nvPr>
        </p:nvSpPr>
        <p:spPr>
          <a:xfrm>
            <a:off x="111125" y="0"/>
            <a:ext cx="11612563" cy="715963"/>
          </a:xfrm>
        </p:spPr>
        <p:txBody>
          <a:bodyPr/>
          <a:lstStyle/>
          <a:p>
            <a:pPr>
              <a:buFont typeface="Wingdings 3" panose="05040102010807070707" pitchFamily="18" charset="2"/>
              <a:buNone/>
              <a:defRPr/>
            </a:pPr>
            <a:r>
              <a:rPr lang="en-US"/>
              <a:t>Image processing using OpenCV</a:t>
            </a:r>
          </a:p>
        </p:txBody>
      </p:sp>
      <p:pic>
        <p:nvPicPr>
          <p:cNvPr id="111619" name="Picture 3">
            <a:extLst>
              <a:ext uri="{FF2B5EF4-FFF2-40B4-BE49-F238E27FC236}">
                <a16:creationId xmlns:a16="http://schemas.microsoft.com/office/drawing/2014/main" id="{7809C8C9-3E2C-6FD7-1DB9-6F3DCD8F64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6950" y="120650"/>
            <a:ext cx="3465513"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0" name="Picture 5">
            <a:extLst>
              <a:ext uri="{FF2B5EF4-FFF2-40B4-BE49-F238E27FC236}">
                <a16:creationId xmlns:a16="http://schemas.microsoft.com/office/drawing/2014/main" id="{D6E798B3-A407-6E21-06AC-9B820EC5E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6950" y="2343150"/>
            <a:ext cx="3465513"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1" name="Picture 6">
            <a:extLst>
              <a:ext uri="{FF2B5EF4-FFF2-40B4-BE49-F238E27FC236}">
                <a16:creationId xmlns:a16="http://schemas.microsoft.com/office/drawing/2014/main" id="{3AB488F3-700B-5B07-2C07-679B7550EF9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1125" y="4564063"/>
            <a:ext cx="3406775" cy="2039937"/>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pic>
      <p:pic>
        <p:nvPicPr>
          <p:cNvPr id="111622" name="Picture 7">
            <a:extLst>
              <a:ext uri="{FF2B5EF4-FFF2-40B4-BE49-F238E27FC236}">
                <a16:creationId xmlns:a16="http://schemas.microsoft.com/office/drawing/2014/main" id="{FC7CF184-0217-1C08-F590-B3F91A21EF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3875" y="4564063"/>
            <a:ext cx="3465513"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3" name="Picture 9">
            <a:extLst>
              <a:ext uri="{FF2B5EF4-FFF2-40B4-BE49-F238E27FC236}">
                <a16:creationId xmlns:a16="http://schemas.microsoft.com/office/drawing/2014/main" id="{4D39FD63-1EC7-065B-17D4-F8A1D84D9D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6950" y="4564063"/>
            <a:ext cx="3465513"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16E50CBC-2740-4B6F-A193-1884087D6E3D}"/>
              </a:ext>
            </a:extLst>
          </p:cNvPr>
          <p:cNvSpPr/>
          <p:nvPr/>
        </p:nvSpPr>
        <p:spPr>
          <a:xfrm>
            <a:off x="8616950" y="120650"/>
            <a:ext cx="3465513" cy="2074863"/>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en-US"/>
          </a:p>
        </p:txBody>
      </p:sp>
      <p:sp>
        <p:nvSpPr>
          <p:cNvPr id="12" name="TextBox 11">
            <a:extLst>
              <a:ext uri="{FF2B5EF4-FFF2-40B4-BE49-F238E27FC236}">
                <a16:creationId xmlns:a16="http://schemas.microsoft.com/office/drawing/2014/main" id="{BDD4E053-0548-424A-8C2A-69ADBB2755EA}"/>
              </a:ext>
            </a:extLst>
          </p:cNvPr>
          <p:cNvSpPr txBox="1"/>
          <p:nvPr/>
        </p:nvSpPr>
        <p:spPr>
          <a:xfrm>
            <a:off x="9825801" y="1714957"/>
            <a:ext cx="1047082" cy="369332"/>
          </a:xfrm>
          <a:prstGeom prst="rect">
            <a:avLst/>
          </a:prstGeom>
          <a:noFill/>
        </p:spPr>
        <p:txBody>
          <a:bodyPr wrap="none" rtlCol="1">
            <a:spAutoFit/>
          </a:bodyPr>
          <a:lstStyle/>
          <a:p>
            <a:pPr>
              <a:defRPr/>
            </a:pPr>
            <a:r>
              <a:rPr lang="en-US" dirty="0">
                <a:solidFill>
                  <a:schemeClr val="bg2"/>
                </a:solidFill>
                <a:highlight>
                  <a:srgbClr val="FFFF00"/>
                </a:highlight>
              </a:rPr>
              <a:t>Original</a:t>
            </a:r>
          </a:p>
        </p:txBody>
      </p:sp>
      <p:sp>
        <p:nvSpPr>
          <p:cNvPr id="13" name="TextBox 12">
            <a:extLst>
              <a:ext uri="{FF2B5EF4-FFF2-40B4-BE49-F238E27FC236}">
                <a16:creationId xmlns:a16="http://schemas.microsoft.com/office/drawing/2014/main" id="{C3A968BE-9E43-4DA8-844B-998E6362A014}"/>
              </a:ext>
            </a:extLst>
          </p:cNvPr>
          <p:cNvSpPr txBox="1"/>
          <p:nvPr/>
        </p:nvSpPr>
        <p:spPr>
          <a:xfrm>
            <a:off x="9825801" y="3936597"/>
            <a:ext cx="2013693" cy="369332"/>
          </a:xfrm>
          <a:prstGeom prst="rect">
            <a:avLst/>
          </a:prstGeom>
          <a:noFill/>
        </p:spPr>
        <p:txBody>
          <a:bodyPr wrap="none" rtlCol="1">
            <a:spAutoFit/>
          </a:bodyPr>
          <a:lstStyle/>
          <a:p>
            <a:pPr>
              <a:defRPr/>
            </a:pPr>
            <a:r>
              <a:rPr lang="en-US" dirty="0" err="1">
                <a:solidFill>
                  <a:schemeClr val="bg2"/>
                </a:solidFill>
                <a:highlight>
                  <a:srgbClr val="00FF00"/>
                </a:highlight>
              </a:rPr>
              <a:t>Threshold_Color</a:t>
            </a:r>
            <a:r>
              <a:rPr lang="en-US" dirty="0">
                <a:solidFill>
                  <a:schemeClr val="bg2"/>
                </a:solidFill>
                <a:highlight>
                  <a:srgbClr val="00FF00"/>
                </a:highlight>
              </a:rPr>
              <a:t> </a:t>
            </a:r>
          </a:p>
        </p:txBody>
      </p:sp>
      <p:sp>
        <p:nvSpPr>
          <p:cNvPr id="14" name="TextBox 13">
            <a:extLst>
              <a:ext uri="{FF2B5EF4-FFF2-40B4-BE49-F238E27FC236}">
                <a16:creationId xmlns:a16="http://schemas.microsoft.com/office/drawing/2014/main" id="{6865E2E0-B77F-4D68-A625-22F683861A15}"/>
              </a:ext>
            </a:extLst>
          </p:cNvPr>
          <p:cNvSpPr txBox="1"/>
          <p:nvPr/>
        </p:nvSpPr>
        <p:spPr>
          <a:xfrm>
            <a:off x="9941204" y="6234001"/>
            <a:ext cx="2087431" cy="369332"/>
          </a:xfrm>
          <a:prstGeom prst="rect">
            <a:avLst/>
          </a:prstGeom>
          <a:noFill/>
        </p:spPr>
        <p:txBody>
          <a:bodyPr wrap="none" rtlCol="1">
            <a:spAutoFit/>
          </a:bodyPr>
          <a:lstStyle/>
          <a:p>
            <a:pPr>
              <a:defRPr/>
            </a:pPr>
            <a:r>
              <a:rPr lang="en-US" dirty="0" err="1">
                <a:solidFill>
                  <a:schemeClr val="bg2"/>
                </a:solidFill>
                <a:highlight>
                  <a:srgbClr val="00FFFF"/>
                </a:highlight>
              </a:rPr>
              <a:t>Threshold_MEAN</a:t>
            </a:r>
            <a:r>
              <a:rPr lang="en-US" dirty="0">
                <a:solidFill>
                  <a:schemeClr val="bg2"/>
                </a:solidFill>
                <a:highlight>
                  <a:srgbClr val="00FFFF"/>
                </a:highlight>
              </a:rPr>
              <a:t> </a:t>
            </a:r>
          </a:p>
        </p:txBody>
      </p:sp>
      <p:sp>
        <p:nvSpPr>
          <p:cNvPr id="15" name="TextBox 14">
            <a:extLst>
              <a:ext uri="{FF2B5EF4-FFF2-40B4-BE49-F238E27FC236}">
                <a16:creationId xmlns:a16="http://schemas.microsoft.com/office/drawing/2014/main" id="{80F965D8-3FBD-4223-8C8F-93FECED425DA}"/>
              </a:ext>
            </a:extLst>
          </p:cNvPr>
          <p:cNvSpPr txBox="1"/>
          <p:nvPr/>
        </p:nvSpPr>
        <p:spPr>
          <a:xfrm>
            <a:off x="5081568" y="6229834"/>
            <a:ext cx="2560316" cy="369332"/>
          </a:xfrm>
          <a:prstGeom prst="rect">
            <a:avLst/>
          </a:prstGeom>
          <a:noFill/>
        </p:spPr>
        <p:txBody>
          <a:bodyPr wrap="none" rtlCol="1">
            <a:spAutoFit/>
          </a:bodyPr>
          <a:lstStyle/>
          <a:p>
            <a:pPr>
              <a:defRPr/>
            </a:pPr>
            <a:r>
              <a:rPr lang="en-US" dirty="0" err="1">
                <a:solidFill>
                  <a:schemeClr val="bg2"/>
                </a:solidFill>
                <a:highlight>
                  <a:srgbClr val="00FFFF"/>
                </a:highlight>
              </a:rPr>
              <a:t>Threshold_GAUSSIAN</a:t>
            </a:r>
            <a:r>
              <a:rPr lang="en-US" dirty="0">
                <a:solidFill>
                  <a:schemeClr val="bg2"/>
                </a:solidFill>
                <a:highlight>
                  <a:srgbClr val="00FFFF"/>
                </a:highlight>
              </a:rPr>
              <a:t> </a:t>
            </a:r>
          </a:p>
        </p:txBody>
      </p:sp>
      <p:sp>
        <p:nvSpPr>
          <p:cNvPr id="16" name="TextBox 15">
            <a:extLst>
              <a:ext uri="{FF2B5EF4-FFF2-40B4-BE49-F238E27FC236}">
                <a16:creationId xmlns:a16="http://schemas.microsoft.com/office/drawing/2014/main" id="{C278473E-8C63-4533-BCF8-FA903476E3B3}"/>
              </a:ext>
            </a:extLst>
          </p:cNvPr>
          <p:cNvSpPr txBox="1"/>
          <p:nvPr/>
        </p:nvSpPr>
        <p:spPr>
          <a:xfrm>
            <a:off x="1736050" y="6229834"/>
            <a:ext cx="1781257" cy="369332"/>
          </a:xfrm>
          <a:prstGeom prst="rect">
            <a:avLst/>
          </a:prstGeom>
          <a:noFill/>
        </p:spPr>
        <p:txBody>
          <a:bodyPr wrap="none" rtlCol="1">
            <a:spAutoFit/>
          </a:bodyPr>
          <a:lstStyle/>
          <a:p>
            <a:pPr>
              <a:defRPr/>
            </a:pPr>
            <a:r>
              <a:rPr lang="en-US" dirty="0" err="1">
                <a:solidFill>
                  <a:schemeClr val="bg2"/>
                </a:solidFill>
                <a:highlight>
                  <a:srgbClr val="00FFFF"/>
                </a:highlight>
              </a:rPr>
              <a:t>ThresholdGray</a:t>
            </a:r>
            <a:endParaRPr lang="en-US" dirty="0">
              <a:solidFill>
                <a:schemeClr val="bg2"/>
              </a:solidFill>
              <a:highlight>
                <a:srgbClr val="00FFFF"/>
              </a:highlight>
            </a:endParaRPr>
          </a:p>
        </p:txBody>
      </p:sp>
      <p:pic>
        <p:nvPicPr>
          <p:cNvPr id="111630" name="Picture 16">
            <a:extLst>
              <a:ext uri="{FF2B5EF4-FFF2-40B4-BE49-F238E27FC236}">
                <a16:creationId xmlns:a16="http://schemas.microsoft.com/office/drawing/2014/main" id="{3CEC7074-F556-5800-B5DB-A01B967C77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125" y="800100"/>
            <a:ext cx="8086725"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299B7D-53B8-4315-9105-95B3B6CC3C73}"/>
              </a:ext>
            </a:extLst>
          </p:cNvPr>
          <p:cNvSpPr>
            <a:spLocks noGrp="1"/>
          </p:cNvSpPr>
          <p:nvPr>
            <p:ph type="body" sz="quarter" idx="10"/>
          </p:nvPr>
        </p:nvSpPr>
        <p:spPr>
          <a:xfrm>
            <a:off x="303213" y="146050"/>
            <a:ext cx="11398250" cy="598488"/>
          </a:xfrm>
        </p:spPr>
        <p:txBody>
          <a:bodyPr/>
          <a:lstStyle/>
          <a:p>
            <a:pPr>
              <a:buFont typeface="Wingdings 3" panose="05040102010807070707" pitchFamily="18" charset="2"/>
              <a:buNone/>
              <a:defRPr/>
            </a:pPr>
            <a:r>
              <a:rPr lang="en-US"/>
              <a:t>Object Recognition</a:t>
            </a:r>
          </a:p>
        </p:txBody>
      </p:sp>
      <p:pic>
        <p:nvPicPr>
          <p:cNvPr id="112643" name="Picture 3">
            <a:extLst>
              <a:ext uri="{FF2B5EF4-FFF2-40B4-BE49-F238E27FC236}">
                <a16:creationId xmlns:a16="http://schemas.microsoft.com/office/drawing/2014/main" id="{08ED75BD-A98C-537B-D4BC-BA32D317B7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107" r="33545" b="38721"/>
          <a:stretch>
            <a:fillRect/>
          </a:stretch>
        </p:blipFill>
        <p:spPr bwMode="auto">
          <a:xfrm>
            <a:off x="8553450" y="146050"/>
            <a:ext cx="3646488"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4" name="Picture 4">
            <a:extLst>
              <a:ext uri="{FF2B5EF4-FFF2-40B4-BE49-F238E27FC236}">
                <a16:creationId xmlns:a16="http://schemas.microsoft.com/office/drawing/2014/main" id="{4B8CB52B-7906-02B6-06E4-01AA851E3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3788" y="1120775"/>
            <a:ext cx="4032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5" name="Picture 5">
            <a:extLst>
              <a:ext uri="{FF2B5EF4-FFF2-40B4-BE49-F238E27FC236}">
                <a16:creationId xmlns:a16="http://schemas.microsoft.com/office/drawing/2014/main" id="{AD8DCB55-DCC7-A164-E809-CBADA5EBE1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8761" t="5927" r="35628" b="36131"/>
          <a:stretch>
            <a:fillRect/>
          </a:stretch>
        </p:blipFill>
        <p:spPr bwMode="auto">
          <a:xfrm>
            <a:off x="8553450" y="3432175"/>
            <a:ext cx="3638550" cy="333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6" name="Picture 6">
            <a:extLst>
              <a:ext uri="{FF2B5EF4-FFF2-40B4-BE49-F238E27FC236}">
                <a16:creationId xmlns:a16="http://schemas.microsoft.com/office/drawing/2014/main" id="{7FFC95AF-804C-EE98-B098-08CB2FE37E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3" y="2254250"/>
            <a:ext cx="8080375" cy="376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7" name="TextBox 7">
            <a:extLst>
              <a:ext uri="{FF2B5EF4-FFF2-40B4-BE49-F238E27FC236}">
                <a16:creationId xmlns:a16="http://schemas.microsoft.com/office/drawing/2014/main" id="{77442F41-4D7D-E495-CB56-E8D9AF98B133}"/>
              </a:ext>
            </a:extLst>
          </p:cNvPr>
          <p:cNvSpPr txBox="1">
            <a:spLocks noChangeArrowheads="1"/>
          </p:cNvSpPr>
          <p:nvPr/>
        </p:nvSpPr>
        <p:spPr bwMode="auto">
          <a:xfrm>
            <a:off x="6173788" y="247650"/>
            <a:ext cx="1701800" cy="36988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ctr"/>
            <a:r>
              <a:rPr lang="en-US" altLang="ar-EG"/>
              <a:t>MainImage</a:t>
            </a:r>
          </a:p>
        </p:txBody>
      </p:sp>
      <p:sp>
        <p:nvSpPr>
          <p:cNvPr id="9" name="Arrow: Right 8">
            <a:extLst>
              <a:ext uri="{FF2B5EF4-FFF2-40B4-BE49-F238E27FC236}">
                <a16:creationId xmlns:a16="http://schemas.microsoft.com/office/drawing/2014/main" id="{9A85E165-46B9-4BCD-889C-614DE39C0841}"/>
              </a:ext>
            </a:extLst>
          </p:cNvPr>
          <p:cNvSpPr/>
          <p:nvPr/>
        </p:nvSpPr>
        <p:spPr>
          <a:xfrm>
            <a:off x="7947025" y="247650"/>
            <a:ext cx="474663" cy="3730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en-US"/>
          </a:p>
        </p:txBody>
      </p:sp>
      <p:sp>
        <p:nvSpPr>
          <p:cNvPr id="112649" name="TextBox 9">
            <a:extLst>
              <a:ext uri="{FF2B5EF4-FFF2-40B4-BE49-F238E27FC236}">
                <a16:creationId xmlns:a16="http://schemas.microsoft.com/office/drawing/2014/main" id="{97DEBFE3-05EF-57B1-0C20-FE636784BD96}"/>
              </a:ext>
            </a:extLst>
          </p:cNvPr>
          <p:cNvSpPr txBox="1">
            <a:spLocks noChangeArrowheads="1"/>
          </p:cNvSpPr>
          <p:nvPr/>
        </p:nvSpPr>
        <p:spPr bwMode="auto">
          <a:xfrm>
            <a:off x="7045325" y="1169988"/>
            <a:ext cx="1338263" cy="3698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ctr"/>
            <a:r>
              <a:rPr lang="en-US" altLang="ar-EG"/>
              <a:t>template </a:t>
            </a:r>
          </a:p>
        </p:txBody>
      </p:sp>
      <p:sp>
        <p:nvSpPr>
          <p:cNvPr id="11" name="Arrow: Left 10">
            <a:extLst>
              <a:ext uri="{FF2B5EF4-FFF2-40B4-BE49-F238E27FC236}">
                <a16:creationId xmlns:a16="http://schemas.microsoft.com/office/drawing/2014/main" id="{45080534-7CF8-46CA-873F-8E8248572747}"/>
              </a:ext>
            </a:extLst>
          </p:cNvPr>
          <p:cNvSpPr/>
          <p:nvPr/>
        </p:nvSpPr>
        <p:spPr>
          <a:xfrm>
            <a:off x="6624638" y="1182688"/>
            <a:ext cx="373062" cy="3429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en-US"/>
          </a:p>
        </p:txBody>
      </p:sp>
      <p:sp>
        <p:nvSpPr>
          <p:cNvPr id="112651" name="TextBox 11">
            <a:extLst>
              <a:ext uri="{FF2B5EF4-FFF2-40B4-BE49-F238E27FC236}">
                <a16:creationId xmlns:a16="http://schemas.microsoft.com/office/drawing/2014/main" id="{58100927-7FBE-FB4D-4EC7-71681271826F}"/>
              </a:ext>
            </a:extLst>
          </p:cNvPr>
          <p:cNvSpPr txBox="1">
            <a:spLocks noChangeArrowheads="1"/>
          </p:cNvSpPr>
          <p:nvPr/>
        </p:nvSpPr>
        <p:spPr bwMode="auto">
          <a:xfrm>
            <a:off x="6135688" y="6146800"/>
            <a:ext cx="1703387" cy="369888"/>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ctr"/>
            <a:r>
              <a:rPr lang="en-US" altLang="ar-EG"/>
              <a:t>Result</a:t>
            </a:r>
          </a:p>
        </p:txBody>
      </p:sp>
      <p:sp>
        <p:nvSpPr>
          <p:cNvPr id="13" name="Arrow: Right 12">
            <a:extLst>
              <a:ext uri="{FF2B5EF4-FFF2-40B4-BE49-F238E27FC236}">
                <a16:creationId xmlns:a16="http://schemas.microsoft.com/office/drawing/2014/main" id="{72D087E0-1380-4050-A8CF-F84F552FCE5B}"/>
              </a:ext>
            </a:extLst>
          </p:cNvPr>
          <p:cNvSpPr/>
          <p:nvPr/>
        </p:nvSpPr>
        <p:spPr>
          <a:xfrm>
            <a:off x="7910513" y="6146800"/>
            <a:ext cx="473075" cy="373063"/>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en-US"/>
          </a:p>
        </p:txBody>
      </p:sp>
      <p:sp>
        <p:nvSpPr>
          <p:cNvPr id="14" name="TextBox 13">
            <a:extLst>
              <a:ext uri="{FF2B5EF4-FFF2-40B4-BE49-F238E27FC236}">
                <a16:creationId xmlns:a16="http://schemas.microsoft.com/office/drawing/2014/main" id="{04F7F138-0CF7-464A-836C-80AC5B9AAA3B}"/>
              </a:ext>
            </a:extLst>
          </p:cNvPr>
          <p:cNvSpPr txBox="1"/>
          <p:nvPr/>
        </p:nvSpPr>
        <p:spPr>
          <a:xfrm>
            <a:off x="1510223" y="1821908"/>
            <a:ext cx="5666936" cy="369332"/>
          </a:xfrm>
          <a:prstGeom prst="rect">
            <a:avLst/>
          </a:prstGeom>
          <a:noFill/>
        </p:spPr>
        <p:txBody>
          <a:bodyPr wrap="none" rtlCol="1">
            <a:spAutoFit/>
          </a:bodyPr>
          <a:lstStyle/>
          <a:p>
            <a:pPr>
              <a:defRPr/>
            </a:pPr>
            <a:r>
              <a:rPr lang="en-US" dirty="0">
                <a:highlight>
                  <a:srgbClr val="FF0000"/>
                </a:highlight>
              </a:rPr>
              <a:t>Search for image with exact lighting/scale/angle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8EB8-5113-4D0B-B3AC-FB13AD71B690}"/>
              </a:ext>
            </a:extLst>
          </p:cNvPr>
          <p:cNvSpPr>
            <a:spLocks noGrp="1"/>
          </p:cNvSpPr>
          <p:nvPr>
            <p:ph type="title"/>
          </p:nvPr>
        </p:nvSpPr>
        <p:spPr/>
        <p:txBody>
          <a:bodyPr/>
          <a:lstStyle/>
          <a:p>
            <a:pPr>
              <a:defRPr/>
            </a:pPr>
            <a:r>
              <a:rPr lang="en-US" dirty="0"/>
              <a:t>NLP </a:t>
            </a:r>
            <a:br>
              <a:rPr lang="en-US" dirty="0"/>
            </a:br>
            <a:endParaRPr lang="en-US" dirty="0"/>
          </a:p>
        </p:txBody>
      </p:sp>
      <p:sp>
        <p:nvSpPr>
          <p:cNvPr id="113667" name="Text Placeholder 2">
            <a:extLst>
              <a:ext uri="{FF2B5EF4-FFF2-40B4-BE49-F238E27FC236}">
                <a16:creationId xmlns:a16="http://schemas.microsoft.com/office/drawing/2014/main" id="{DA364D32-9E6F-7B7C-6B98-9BBE65D7F31D}"/>
              </a:ext>
            </a:extLst>
          </p:cNvPr>
          <p:cNvSpPr>
            <a:spLocks noGrp="1" noChangeArrowheads="1"/>
          </p:cNvSpPr>
          <p:nvPr>
            <p:ph type="body" idx="1"/>
          </p:nvPr>
        </p:nvSpPr>
        <p:spPr/>
        <p:txBody>
          <a:bodyPr/>
          <a:lstStyle/>
          <a:p>
            <a:r>
              <a:rPr lang="en-US" altLang="ar-EG">
                <a:solidFill>
                  <a:srgbClr val="FFFF00"/>
                </a:solidFill>
              </a:rPr>
              <a:t>Natural Language Processing</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4560C4-4102-4732-9DFD-8A6606FF5C23}"/>
              </a:ext>
            </a:extLst>
          </p:cNvPr>
          <p:cNvSpPr>
            <a:spLocks noGrp="1"/>
          </p:cNvSpPr>
          <p:nvPr>
            <p:ph type="body" sz="quarter" idx="10"/>
          </p:nvPr>
        </p:nvSpPr>
        <p:spPr/>
        <p:txBody>
          <a:bodyPr/>
          <a:lstStyle/>
          <a:p>
            <a:pPr>
              <a:buFont typeface="Wingdings 3" panose="05040102010807070707" pitchFamily="18" charset="2"/>
              <a:buNone/>
              <a:defRPr/>
            </a:pPr>
            <a:r>
              <a:rPr lang="en-US"/>
              <a:t>NLP (Natural Language Processing)</a:t>
            </a:r>
          </a:p>
        </p:txBody>
      </p:sp>
      <p:sp>
        <p:nvSpPr>
          <p:cNvPr id="3" name="Content Placeholder 2">
            <a:extLst>
              <a:ext uri="{FF2B5EF4-FFF2-40B4-BE49-F238E27FC236}">
                <a16:creationId xmlns:a16="http://schemas.microsoft.com/office/drawing/2014/main" id="{4B3F551F-4C54-4BFC-A095-499F2C0F0155}"/>
              </a:ext>
            </a:extLst>
          </p:cNvPr>
          <p:cNvSpPr>
            <a:spLocks noGrp="1"/>
          </p:cNvSpPr>
          <p:nvPr>
            <p:ph sz="quarter" idx="11"/>
          </p:nvPr>
        </p:nvSpPr>
        <p:spPr/>
        <p:txBody>
          <a:bodyPr/>
          <a:lstStyle/>
          <a:p>
            <a:pPr marL="0" indent="0">
              <a:buFont typeface="Wingdings 3" panose="05040102010807070707" pitchFamily="18" charset="2"/>
              <a:buNone/>
              <a:defRPr/>
            </a:pPr>
            <a:r>
              <a:rPr sz="1400" b="1"/>
              <a:t>Why we need NLP packages?</a:t>
            </a:r>
          </a:p>
          <a:p>
            <a:pPr>
              <a:buFont typeface="Wingdings 3" panose="05040102010807070707" pitchFamily="18" charset="2"/>
              <a:buChar char=""/>
              <a:defRPr/>
            </a:pPr>
            <a:r>
              <a:rPr sz="1400"/>
              <a:t>NLP Package handle a wide range of tasks such as Named-entity recognition , part-of-speech (POS) tagging, sentiment analysis, document classification, topic modeling, and much more.</a:t>
            </a:r>
          </a:p>
          <a:p>
            <a:pPr marL="0" indent="0">
              <a:buFont typeface="Wingdings 3" panose="05040102010807070707" pitchFamily="18" charset="2"/>
              <a:buNone/>
              <a:defRPr/>
            </a:pPr>
            <a:endParaRPr sz="1400" b="1"/>
          </a:p>
          <a:p>
            <a:pPr marL="0" indent="0">
              <a:buFont typeface="Wingdings 3" panose="05040102010807070707" pitchFamily="18" charset="2"/>
              <a:buNone/>
              <a:defRPr/>
            </a:pPr>
            <a:r>
              <a:rPr sz="1400" b="1"/>
              <a:t>Named-entity recognition: </a:t>
            </a:r>
            <a:r>
              <a:rPr sz="1400"/>
              <a:t>means extract names of persons, organizations, locations, time, quantities, percentages, etc.</a:t>
            </a:r>
            <a:br>
              <a:rPr sz="1400"/>
            </a:br>
            <a:r>
              <a:rPr sz="1400"/>
              <a:t>example: </a:t>
            </a:r>
            <a:r>
              <a:rPr sz="1400">
                <a:solidFill>
                  <a:srgbClr val="FF0000"/>
                </a:solidFill>
              </a:rPr>
              <a:t>Jim bought 300 shares of Acme Corp. in 2006.</a:t>
            </a:r>
            <a:r>
              <a:rPr sz="1400">
                <a:solidFill>
                  <a:srgbClr val="FFFF00"/>
                </a:solidFill>
              </a:rPr>
              <a:t> </a:t>
            </a:r>
            <a:r>
              <a:rPr sz="1400">
                <a:solidFill>
                  <a:srgbClr val="FFFF00"/>
                </a:solidFill>
                <a:sym typeface="Wingdings" panose="05000000000000000000" pitchFamily="2" charset="2"/>
              </a:rPr>
              <a:t> </a:t>
            </a:r>
            <a:r>
              <a:rPr sz="1400"/>
              <a:t>[Jim]</a:t>
            </a:r>
            <a:r>
              <a:rPr sz="1100">
                <a:solidFill>
                  <a:srgbClr val="FFFF00"/>
                </a:solidFill>
              </a:rPr>
              <a:t>Person</a:t>
            </a:r>
            <a:r>
              <a:rPr sz="1400"/>
              <a:t> bought 300 shares of [Acme Corp.]</a:t>
            </a:r>
            <a:r>
              <a:rPr sz="1100">
                <a:solidFill>
                  <a:srgbClr val="FFFF00"/>
                </a:solidFill>
              </a:rPr>
              <a:t>Organization</a:t>
            </a:r>
            <a:r>
              <a:rPr sz="1400"/>
              <a:t> in [2006]</a:t>
            </a:r>
            <a:r>
              <a:rPr sz="1100">
                <a:solidFill>
                  <a:srgbClr val="FFFF00"/>
                </a:solidFill>
              </a:rPr>
              <a:t>Time</a:t>
            </a:r>
            <a:r>
              <a:rPr sz="1400"/>
              <a:t>.</a:t>
            </a:r>
          </a:p>
          <a:p>
            <a:pPr marL="0" indent="0">
              <a:buFont typeface="Wingdings 3" panose="05040102010807070707" pitchFamily="18" charset="2"/>
              <a:buNone/>
              <a:defRPr/>
            </a:pPr>
            <a:r>
              <a:rPr sz="1400" b="1"/>
              <a:t>Part-of-speech tagging: </a:t>
            </a:r>
            <a:r>
              <a:rPr sz="1400"/>
              <a:t>used to identification of words as nouns, verbs, adjectives, adverbs, etc.</a:t>
            </a:r>
          </a:p>
          <a:p>
            <a:pPr marL="0" indent="0">
              <a:buFont typeface="Wingdings 3" panose="05040102010807070707" pitchFamily="18" charset="2"/>
              <a:buNone/>
              <a:defRPr/>
            </a:pPr>
            <a:endParaRPr lang="ar-EG" sz="1400" b="1"/>
          </a:p>
          <a:p>
            <a:pPr marL="0" indent="0">
              <a:buFont typeface="Wingdings 3" panose="05040102010807070707" pitchFamily="18" charset="2"/>
              <a:buNone/>
              <a:defRPr/>
            </a:pPr>
            <a:r>
              <a:rPr sz="1400" b="1"/>
              <a:t>Top 5 Python NLP libraries</a:t>
            </a:r>
          </a:p>
          <a:p>
            <a:pPr>
              <a:buFont typeface="Wingdings 3" panose="05040102010807070707" pitchFamily="18" charset="2"/>
              <a:buChar char=""/>
              <a:defRPr/>
            </a:pPr>
            <a:r>
              <a:rPr sz="1400" b="1"/>
              <a:t>NLTK</a:t>
            </a:r>
            <a:r>
              <a:rPr sz="1400"/>
              <a:t> good as education and research tool. Its modularized structure makes it excellent for learning and exploring NLP concepts, but it's not meant for production.</a:t>
            </a:r>
          </a:p>
          <a:p>
            <a:pPr>
              <a:buFont typeface="Wingdings 3" panose="05040102010807070707" pitchFamily="18" charset="2"/>
              <a:buChar char=""/>
              <a:defRPr/>
            </a:pPr>
            <a:r>
              <a:rPr sz="1400" b="1" err="1"/>
              <a:t>TextBlob</a:t>
            </a:r>
            <a:r>
              <a:rPr sz="1400"/>
              <a:t> is built on top of NLTK, and it's more easily-accessible. good library for fast-prototyping or building applications that don't require highly optimized performance. Beginners should start here.</a:t>
            </a:r>
          </a:p>
          <a:p>
            <a:pPr>
              <a:buFont typeface="Wingdings 3" panose="05040102010807070707" pitchFamily="18" charset="2"/>
              <a:buChar char=""/>
              <a:defRPr/>
            </a:pPr>
            <a:r>
              <a:rPr sz="1400" b="1"/>
              <a:t>Stanford's </a:t>
            </a:r>
            <a:r>
              <a:rPr sz="1400" b="1" err="1"/>
              <a:t>CoreNLP</a:t>
            </a:r>
            <a:r>
              <a:rPr sz="1400" b="1"/>
              <a:t> </a:t>
            </a:r>
            <a:r>
              <a:rPr sz="1400"/>
              <a:t>is a Java library with Python wrappers. It's in many existing production systems due to its speed.</a:t>
            </a:r>
          </a:p>
          <a:p>
            <a:pPr>
              <a:buFont typeface="Wingdings 3" panose="05040102010807070707" pitchFamily="18" charset="2"/>
              <a:buChar char=""/>
              <a:defRPr/>
            </a:pPr>
            <a:r>
              <a:rPr sz="1400" b="1" err="1"/>
              <a:t>SpaCy</a:t>
            </a:r>
            <a:r>
              <a:rPr sz="1400"/>
              <a:t> is a new NLP library that's designed to be fast, streamlined, and production-ready. It's not as widely adopted.</a:t>
            </a:r>
          </a:p>
          <a:p>
            <a:pPr>
              <a:buFont typeface="Wingdings 3" panose="05040102010807070707" pitchFamily="18" charset="2"/>
              <a:buChar char=""/>
              <a:defRPr/>
            </a:pPr>
            <a:r>
              <a:rPr sz="1400" b="1" err="1"/>
              <a:t>Gensim</a:t>
            </a:r>
            <a:r>
              <a:rPr sz="1400"/>
              <a:t> is most commonly used for topic modeling and similarity detection. It's not a general-purpose NLP library, but for the tasks it does handle, it does them well.</a:t>
            </a:r>
          </a:p>
          <a:p>
            <a:pPr>
              <a:buFont typeface="Wingdings 3" panose="05040102010807070707" pitchFamily="18" charset="2"/>
              <a:buChar char=""/>
              <a:defRPr/>
            </a:pPr>
            <a:endParaRPr sz="14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D609EE-80E6-4E6A-9269-2216DBAA6409}"/>
              </a:ext>
            </a:extLst>
          </p:cNvPr>
          <p:cNvSpPr>
            <a:spLocks noGrp="1"/>
          </p:cNvSpPr>
          <p:nvPr>
            <p:ph type="body" sz="quarter" idx="10"/>
          </p:nvPr>
        </p:nvSpPr>
        <p:spPr>
          <a:xfrm>
            <a:off x="457200" y="0"/>
            <a:ext cx="11266488" cy="738188"/>
          </a:xfrm>
        </p:spPr>
        <p:txBody>
          <a:bodyPr/>
          <a:lstStyle/>
          <a:p>
            <a:pPr>
              <a:buFont typeface="Wingdings 3" panose="05040102010807070707" pitchFamily="18" charset="2"/>
              <a:buNone/>
              <a:defRPr/>
            </a:pPr>
            <a:r>
              <a:rPr lang="en-US"/>
              <a:t>NLTK Package for Natural Language Processing</a:t>
            </a:r>
          </a:p>
        </p:txBody>
      </p:sp>
      <p:sp>
        <p:nvSpPr>
          <p:cNvPr id="115715" name="Content Placeholder 2">
            <a:extLst>
              <a:ext uri="{FF2B5EF4-FFF2-40B4-BE49-F238E27FC236}">
                <a16:creationId xmlns:a16="http://schemas.microsoft.com/office/drawing/2014/main" id="{94FCB5A0-F25D-D9E1-C8C3-F2D057AF88F8}"/>
              </a:ext>
            </a:extLst>
          </p:cNvPr>
          <p:cNvSpPr>
            <a:spLocks noGrp="1" noChangeArrowheads="1"/>
          </p:cNvSpPr>
          <p:nvPr>
            <p:ph sz="quarter" idx="11"/>
          </p:nvPr>
        </p:nvSpPr>
        <p:spPr>
          <a:xfrm>
            <a:off x="434975" y="738188"/>
            <a:ext cx="11288713" cy="2049462"/>
          </a:xfrm>
        </p:spPr>
        <p:txBody>
          <a:bodyPr/>
          <a:lstStyle/>
          <a:p>
            <a:r>
              <a:rPr altLang="ar-EG"/>
              <a:t>Pip install nltk</a:t>
            </a:r>
          </a:p>
          <a:p>
            <a:r>
              <a:rPr altLang="ar-EG"/>
              <a:t>To download all packages using GUI, write </a:t>
            </a:r>
            <a:r>
              <a:rPr altLang="ar-EG">
                <a:sym typeface="Wingdings" pitchFamily="2" charset="2"/>
              </a:rPr>
              <a:t> nltk.download()</a:t>
            </a:r>
            <a:endParaRPr altLang="ar-EG"/>
          </a:p>
        </p:txBody>
      </p:sp>
      <p:pic>
        <p:nvPicPr>
          <p:cNvPr id="115716" name="Picture 3">
            <a:extLst>
              <a:ext uri="{FF2B5EF4-FFF2-40B4-BE49-F238E27FC236}">
                <a16:creationId xmlns:a16="http://schemas.microsoft.com/office/drawing/2014/main" id="{C34DD154-3A0B-2DF4-72A9-BF5406DA65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7163" y="3113088"/>
            <a:ext cx="8008937"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7" name="Picture 4">
            <a:extLst>
              <a:ext uri="{FF2B5EF4-FFF2-40B4-BE49-F238E27FC236}">
                <a16:creationId xmlns:a16="http://schemas.microsoft.com/office/drawing/2014/main" id="{EB9F34A9-F10C-18C3-C564-9391C889B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57350"/>
            <a:ext cx="64484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rrow: Bent 5">
            <a:extLst>
              <a:ext uri="{FF2B5EF4-FFF2-40B4-BE49-F238E27FC236}">
                <a16:creationId xmlns:a16="http://schemas.microsoft.com/office/drawing/2014/main" id="{FF98CBB0-C635-4681-AE6F-F6112CC07C29}"/>
              </a:ext>
            </a:extLst>
          </p:cNvPr>
          <p:cNvSpPr/>
          <p:nvPr/>
        </p:nvSpPr>
        <p:spPr>
          <a:xfrm rot="10800000" flipH="1">
            <a:off x="2613025" y="3113088"/>
            <a:ext cx="1354138" cy="1366837"/>
          </a:xfrm>
          <a:prstGeom prst="bentArrow">
            <a:avLst>
              <a:gd name="adj1" fmla="val 25000"/>
              <a:gd name="adj2" fmla="val 27804"/>
              <a:gd name="adj3" fmla="val 25000"/>
              <a:gd name="adj4" fmla="val 6711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en-US">
              <a:solidFill>
                <a:schemeClr val="tx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735B4A-4901-4A18-8C50-66658F828A65}"/>
              </a:ext>
            </a:extLst>
          </p:cNvPr>
          <p:cNvSpPr>
            <a:spLocks noGrp="1"/>
          </p:cNvSpPr>
          <p:nvPr>
            <p:ph type="body" sz="quarter" idx="10"/>
          </p:nvPr>
        </p:nvSpPr>
        <p:spPr/>
        <p:txBody>
          <a:bodyPr/>
          <a:lstStyle/>
          <a:p>
            <a:pPr>
              <a:buFont typeface="Wingdings 3" panose="05040102010807070707" pitchFamily="18" charset="2"/>
              <a:buNone/>
              <a:defRPr/>
            </a:pPr>
            <a:r>
              <a:rPr lang="en-US"/>
              <a:t>NLTK concepts</a:t>
            </a:r>
          </a:p>
        </p:txBody>
      </p:sp>
      <p:sp>
        <p:nvSpPr>
          <p:cNvPr id="3" name="Content Placeholder 2">
            <a:extLst>
              <a:ext uri="{FF2B5EF4-FFF2-40B4-BE49-F238E27FC236}">
                <a16:creationId xmlns:a16="http://schemas.microsoft.com/office/drawing/2014/main" id="{A1692440-8894-4ED9-B223-287F90C0736A}"/>
              </a:ext>
            </a:extLst>
          </p:cNvPr>
          <p:cNvSpPr>
            <a:spLocks noGrp="1"/>
          </p:cNvSpPr>
          <p:nvPr>
            <p:ph sz="quarter" idx="11"/>
          </p:nvPr>
        </p:nvSpPr>
        <p:spPr>
          <a:xfrm>
            <a:off x="434975" y="1123950"/>
            <a:ext cx="11288713" cy="5395913"/>
          </a:xfrm>
        </p:spPr>
        <p:txBody>
          <a:bodyPr/>
          <a:lstStyle/>
          <a:p>
            <a:pPr marL="0" indent="0">
              <a:buFont typeface="Wingdings 3" panose="05040102010807070707" pitchFamily="18" charset="2"/>
              <a:buNone/>
              <a:defRPr/>
            </a:pPr>
            <a:r>
              <a:t>Tokenizing</a:t>
            </a:r>
          </a:p>
          <a:p>
            <a:pPr>
              <a:buFont typeface="Wingdings 3" panose="05040102010807070707" pitchFamily="18" charset="2"/>
              <a:buChar char=""/>
              <a:defRPr/>
            </a:pPr>
            <a:r>
              <a:t>Word tokenizers : split text by words</a:t>
            </a:r>
          </a:p>
          <a:p>
            <a:pPr>
              <a:buFont typeface="Wingdings 3" panose="05040102010807070707" pitchFamily="18" charset="2"/>
              <a:buChar char=""/>
              <a:defRPr/>
            </a:pPr>
            <a:r>
              <a:t>Sentence tokenizers : split text by paragraphs </a:t>
            </a:r>
          </a:p>
          <a:p>
            <a:pPr>
              <a:buFont typeface="Wingdings 3" panose="05040102010807070707" pitchFamily="18" charset="2"/>
              <a:buChar char=""/>
              <a:defRPr/>
            </a:pPr>
            <a:endParaRPr sz="600"/>
          </a:p>
          <a:p>
            <a:pPr marL="0" indent="0">
              <a:buFont typeface="Wingdings 3" panose="05040102010807070707" pitchFamily="18" charset="2"/>
              <a:buNone/>
              <a:defRPr/>
            </a:pPr>
            <a:r>
              <a:t>Lexicon</a:t>
            </a:r>
          </a:p>
          <a:p>
            <a:pPr>
              <a:buFont typeface="Wingdings 3" panose="05040102010807070707" pitchFamily="18" charset="2"/>
              <a:buChar char=""/>
              <a:defRPr/>
            </a:pPr>
            <a:r>
              <a:t>Get words and their actual means in the context </a:t>
            </a:r>
          </a:p>
          <a:p>
            <a:pPr>
              <a:buFont typeface="Wingdings 3" panose="05040102010807070707" pitchFamily="18" charset="2"/>
              <a:buChar char=""/>
              <a:defRPr/>
            </a:pPr>
            <a:endParaRPr sz="400"/>
          </a:p>
          <a:p>
            <a:pPr marL="0" indent="0">
              <a:buFont typeface="Wingdings 3" panose="05040102010807070707" pitchFamily="18" charset="2"/>
              <a:buNone/>
              <a:defRPr/>
            </a:pPr>
            <a:r>
              <a:t>Corpora</a:t>
            </a:r>
          </a:p>
          <a:p>
            <a:pPr>
              <a:buFont typeface="Wingdings 3" panose="05040102010807070707" pitchFamily="18" charset="2"/>
              <a:buChar char=""/>
              <a:defRPr/>
            </a:pPr>
            <a:r>
              <a:t>Text classification. Ex: medical journals, presidential speech</a:t>
            </a:r>
            <a:endParaRPr lang="ar-EG"/>
          </a:p>
          <a:p>
            <a:pPr>
              <a:buFont typeface="Wingdings 3" panose="05040102010807070707" pitchFamily="18" charset="2"/>
              <a:buChar char=""/>
              <a:defRPr/>
            </a:pPr>
            <a:endParaRPr sz="700"/>
          </a:p>
          <a:p>
            <a:pPr marL="0" indent="0">
              <a:buFont typeface="Wingdings 3" panose="05040102010807070707" pitchFamily="18" charset="2"/>
              <a:buNone/>
              <a:defRPr/>
            </a:pPr>
            <a:r>
              <a:t>Lemmatizing (stemming)</a:t>
            </a:r>
          </a:p>
          <a:p>
            <a:pPr>
              <a:buFont typeface="Wingdings 3" panose="05040102010807070707" pitchFamily="18" charset="2"/>
              <a:buChar char=""/>
              <a:defRPr/>
            </a:pPr>
            <a:r>
              <a:t> return the word to its root, </a:t>
            </a:r>
            <a:r>
              <a:rPr err="1"/>
              <a:t>ie</a:t>
            </a:r>
            <a:r>
              <a:t> (gone, went, going) </a:t>
            </a:r>
            <a:r>
              <a:rPr>
                <a:sym typeface="Wingdings" panose="05000000000000000000" pitchFamily="2" charset="2"/>
              </a:rPr>
              <a:t> go</a:t>
            </a:r>
          </a:p>
          <a:p>
            <a:pPr marL="0" indent="0">
              <a:buFont typeface="Wingdings 3" panose="05040102010807070707" pitchFamily="18" charset="2"/>
              <a:buNone/>
              <a:defRPr/>
            </a:pPr>
            <a:r>
              <a:rPr>
                <a:sym typeface="Wingdings" panose="05000000000000000000" pitchFamily="2" charset="2"/>
              </a:rPr>
              <a:t>WordNet</a:t>
            </a:r>
          </a:p>
          <a:p>
            <a:pPr>
              <a:buFont typeface="Wingdings 3" panose="05040102010807070707" pitchFamily="18" charset="2"/>
              <a:buChar char=""/>
              <a:defRPr/>
            </a:pPr>
            <a:r>
              <a:rPr>
                <a:sym typeface="Wingdings" panose="05000000000000000000" pitchFamily="2" charset="2"/>
              </a:rPr>
              <a:t>List of different words that have the same meaning for the given word</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412069-6BF7-42D9-8867-1B924D5D093C}"/>
              </a:ext>
            </a:extLst>
          </p:cNvPr>
          <p:cNvSpPr>
            <a:spLocks noGrp="1"/>
          </p:cNvSpPr>
          <p:nvPr>
            <p:ph type="body" sz="quarter" idx="10"/>
          </p:nvPr>
        </p:nvSpPr>
        <p:spPr/>
        <p:txBody>
          <a:bodyPr/>
          <a:lstStyle/>
          <a:p>
            <a:pPr>
              <a:buFont typeface="Wingdings 3" panose="05040102010807070707" pitchFamily="18" charset="2"/>
              <a:buNone/>
              <a:defRPr/>
            </a:pPr>
            <a:r>
              <a:rPr lang="en-US"/>
              <a:t>NLTK Simple example</a:t>
            </a:r>
          </a:p>
        </p:txBody>
      </p:sp>
      <p:sp>
        <p:nvSpPr>
          <p:cNvPr id="117763" name="Content Placeholder 2">
            <a:extLst>
              <a:ext uri="{FF2B5EF4-FFF2-40B4-BE49-F238E27FC236}">
                <a16:creationId xmlns:a16="http://schemas.microsoft.com/office/drawing/2014/main" id="{7A6E3033-82DC-D124-BC6F-2396106139E4}"/>
              </a:ext>
            </a:extLst>
          </p:cNvPr>
          <p:cNvSpPr>
            <a:spLocks noGrp="1" noChangeArrowheads="1"/>
          </p:cNvSpPr>
          <p:nvPr>
            <p:ph sz="quarter" idx="11"/>
          </p:nvPr>
        </p:nvSpPr>
        <p:spPr/>
        <p:txBody>
          <a:bodyPr/>
          <a:lstStyle/>
          <a:p>
            <a:pPr marL="0" indent="0">
              <a:buFont typeface="Wingdings 3" pitchFamily="2" charset="2"/>
              <a:buNone/>
            </a:pPr>
            <a:r>
              <a:rPr altLang="ar-EG"/>
              <a:t>from nltk.tokenize import sent_tokenize, word_tokenize</a:t>
            </a:r>
          </a:p>
          <a:p>
            <a:pPr marL="0" indent="0">
              <a:buFont typeface="Wingdings 3" pitchFamily="2" charset="2"/>
              <a:buNone/>
            </a:pPr>
            <a:r>
              <a:rPr altLang="ar-EG"/>
              <a:t>from nltk.corpus import stopwords</a:t>
            </a:r>
          </a:p>
          <a:p>
            <a:pPr marL="0" indent="0">
              <a:buFont typeface="Wingdings 3" pitchFamily="2" charset="2"/>
              <a:buNone/>
            </a:pPr>
            <a:endParaRPr altLang="ar-EG"/>
          </a:p>
          <a:p>
            <a:pPr marL="0" indent="0">
              <a:buFont typeface="Wingdings 3" pitchFamily="2" charset="2"/>
              <a:buNone/>
            </a:pPr>
            <a:r>
              <a:rPr altLang="ar-EG"/>
              <a:t>EXAMPLE_TEXT = "</a:t>
            </a:r>
            <a:r>
              <a:rPr altLang="ar-EG" sz="1000"/>
              <a:t>Hello Mr. Smith, how are you doing today? The weather is great, and Python is awesome. The sky is pinkish-blue. You shouldn't eat cardboard</a:t>
            </a:r>
            <a:r>
              <a:rPr altLang="ar-EG"/>
              <a:t>."</a:t>
            </a:r>
          </a:p>
          <a:p>
            <a:pPr marL="0" indent="0">
              <a:buFont typeface="Wingdings 3" pitchFamily="2" charset="2"/>
              <a:buNone/>
            </a:pPr>
            <a:r>
              <a:rPr altLang="ar-EG"/>
              <a:t>WordsArray = sent_tokenize(EXAMPLE_TEXT)</a:t>
            </a:r>
          </a:p>
          <a:p>
            <a:pPr marL="0" indent="0">
              <a:buFont typeface="Wingdings 3" pitchFamily="2" charset="2"/>
              <a:buNone/>
            </a:pPr>
            <a:r>
              <a:rPr altLang="ar-EG"/>
              <a:t>print(WordsArray)</a:t>
            </a:r>
          </a:p>
          <a:p>
            <a:pPr marL="0" indent="0">
              <a:buFont typeface="Wingdings 3" pitchFamily="2" charset="2"/>
              <a:buNone/>
            </a:pPr>
            <a:endParaRPr altLang="ar-EG"/>
          </a:p>
          <a:p>
            <a:pPr marL="0" indent="0">
              <a:buFont typeface="Wingdings 3" pitchFamily="2" charset="2"/>
              <a:buNone/>
            </a:pPr>
            <a:r>
              <a:rPr altLang="ar-EG"/>
              <a:t>ListOfAvailableStopWords= set(stopwords.words("english"))</a:t>
            </a:r>
          </a:p>
          <a:p>
            <a:pPr marL="0" indent="0">
              <a:buFont typeface="Wingdings 3" pitchFamily="2" charset="2"/>
              <a:buNone/>
            </a:pPr>
            <a:r>
              <a:rPr altLang="ar-EG"/>
              <a:t>print(ListOfAvailableStopWords)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E8C0B8-EF18-499B-AB95-100A08A4A56D}"/>
              </a:ext>
            </a:extLst>
          </p:cNvPr>
          <p:cNvSpPr>
            <a:spLocks noGrp="1"/>
          </p:cNvSpPr>
          <p:nvPr>
            <p:ph type="body" sz="quarter" idx="10"/>
          </p:nvPr>
        </p:nvSpPr>
        <p:spPr>
          <a:xfrm>
            <a:off x="457200" y="0"/>
            <a:ext cx="11266488" cy="847725"/>
          </a:xfrm>
        </p:spPr>
        <p:txBody>
          <a:bodyPr/>
          <a:lstStyle/>
          <a:p>
            <a:pPr>
              <a:buFont typeface="Wingdings 3" panose="05040102010807070707" pitchFamily="18" charset="2"/>
              <a:buNone/>
              <a:defRPr/>
            </a:pPr>
            <a:r>
              <a:rPr lang="en-US" err="1"/>
              <a:t>textblob</a:t>
            </a:r>
            <a:endParaRPr lang="en-US"/>
          </a:p>
        </p:txBody>
      </p:sp>
      <p:sp>
        <p:nvSpPr>
          <p:cNvPr id="118787" name="Content Placeholder 2">
            <a:extLst>
              <a:ext uri="{FF2B5EF4-FFF2-40B4-BE49-F238E27FC236}">
                <a16:creationId xmlns:a16="http://schemas.microsoft.com/office/drawing/2014/main" id="{62DD498C-0730-A9AC-976E-923AD6DEDB80}"/>
              </a:ext>
            </a:extLst>
          </p:cNvPr>
          <p:cNvSpPr>
            <a:spLocks noGrp="1" noChangeArrowheads="1"/>
          </p:cNvSpPr>
          <p:nvPr>
            <p:ph sz="quarter" idx="11"/>
          </p:nvPr>
        </p:nvSpPr>
        <p:spPr>
          <a:xfrm>
            <a:off x="434975" y="992188"/>
            <a:ext cx="11288713" cy="5527675"/>
          </a:xfrm>
        </p:spPr>
        <p:txBody>
          <a:bodyPr/>
          <a:lstStyle/>
          <a:p>
            <a:r>
              <a:rPr altLang="ar-EG"/>
              <a:t>pip install textblob</a:t>
            </a:r>
          </a:p>
          <a:p>
            <a:r>
              <a:rPr altLang="ar-EG"/>
              <a:t>python -m textblob.download_corpora</a:t>
            </a:r>
          </a:p>
          <a:p>
            <a:endParaRPr altLang="ar-EG"/>
          </a:p>
        </p:txBody>
      </p:sp>
      <p:pic>
        <p:nvPicPr>
          <p:cNvPr id="118788" name="Picture 2">
            <a:extLst>
              <a:ext uri="{FF2B5EF4-FFF2-40B4-BE49-F238E27FC236}">
                <a16:creationId xmlns:a16="http://schemas.microsoft.com/office/drawing/2014/main" id="{142ACC44-1B9A-E181-2CE9-05240929A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876425"/>
            <a:ext cx="73533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6FE876-C2C9-4DA8-846D-71E428301C0E}"/>
              </a:ext>
            </a:extLst>
          </p:cNvPr>
          <p:cNvSpPr>
            <a:spLocks noGrp="1"/>
          </p:cNvSpPr>
          <p:nvPr>
            <p:ph type="body" sz="quarter" idx="10"/>
          </p:nvPr>
        </p:nvSpPr>
        <p:spPr/>
        <p:txBody>
          <a:bodyPr/>
          <a:lstStyle/>
          <a:p>
            <a:pPr>
              <a:buFont typeface="Wingdings 3" panose="05040102010807070707" pitchFamily="18" charset="2"/>
              <a:buNone/>
              <a:defRPr/>
            </a:pPr>
            <a:r>
              <a:rPr lang="en-US"/>
              <a:t>Sentimental Analysis Example</a:t>
            </a:r>
          </a:p>
        </p:txBody>
      </p:sp>
      <p:sp>
        <p:nvSpPr>
          <p:cNvPr id="119811" name="Content Placeholder 2">
            <a:extLst>
              <a:ext uri="{FF2B5EF4-FFF2-40B4-BE49-F238E27FC236}">
                <a16:creationId xmlns:a16="http://schemas.microsoft.com/office/drawing/2014/main" id="{35FC8B10-D77B-847E-42C9-46BC03A6F8CC}"/>
              </a:ext>
            </a:extLst>
          </p:cNvPr>
          <p:cNvSpPr>
            <a:spLocks noGrp="1" noChangeArrowheads="1"/>
          </p:cNvSpPr>
          <p:nvPr>
            <p:ph sz="quarter" idx="11"/>
          </p:nvPr>
        </p:nvSpPr>
        <p:spPr/>
        <p:txBody>
          <a:bodyPr/>
          <a:lstStyle/>
          <a:p>
            <a:r>
              <a:rPr altLang="ar-EG"/>
              <a:t>We have a sample of 3000 random users comments on imdb.com, amazon.com, and yelp.com website</a:t>
            </a:r>
            <a:br>
              <a:rPr altLang="ar-EG"/>
            </a:br>
            <a:r>
              <a:rPr altLang="ar-EG">
                <a:hlinkClick r:id="rId2"/>
              </a:rPr>
              <a:t>http://archive.ics.uci.edu/ml/machine-learning-databases/00331/</a:t>
            </a:r>
            <a:endParaRPr altLang="ar-EG"/>
          </a:p>
          <a:p>
            <a:r>
              <a:rPr altLang="ar-EG"/>
              <a:t>Each comment has a score, Score is either 1 (for positive) or 0 (for negative) </a:t>
            </a:r>
          </a:p>
          <a:p>
            <a:endParaRPr altLang="ar-EG"/>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3">
            <a:extLst>
              <a:ext uri="{FF2B5EF4-FFF2-40B4-BE49-F238E27FC236}">
                <a16:creationId xmlns:a16="http://schemas.microsoft.com/office/drawing/2014/main" id="{95E3C8E2-704D-65C2-1F1E-9962BA087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915275"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5" name="Picture 4">
            <a:extLst>
              <a:ext uri="{FF2B5EF4-FFF2-40B4-BE49-F238E27FC236}">
                <a16:creationId xmlns:a16="http://schemas.microsoft.com/office/drawing/2014/main" id="{8798D0CB-7DB2-EB4E-8905-1000553A8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375" y="4419600"/>
            <a:ext cx="65246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
            <a:extLst>
              <a:ext uri="{FF2B5EF4-FFF2-40B4-BE49-F238E27FC236}">
                <a16:creationId xmlns:a16="http://schemas.microsoft.com/office/drawing/2014/main" id="{95058E6B-6E30-876F-CC1E-002630EB03BC}"/>
              </a:ext>
            </a:extLst>
          </p:cNvPr>
          <p:cNvSpPr>
            <a:spLocks noGrp="1" noChangeArrowheads="1"/>
          </p:cNvSpPr>
          <p:nvPr>
            <p:ph type="ctrTitle"/>
          </p:nvPr>
        </p:nvSpPr>
        <p:spPr bwMode="auto"/>
        <p:txBody>
          <a:bodyPr wrap="square" numCol="1" anchorCtr="0" compatLnSpc="1">
            <a:prstTxWarp prst="textNoShape">
              <a:avLst/>
            </a:prstTxWarp>
          </a:bodyPr>
          <a:lstStyle/>
          <a:p>
            <a:r>
              <a:rPr lang="en-US" altLang="ar-EG" b="1" cap="none">
                <a:ln>
                  <a:noFill/>
                </a:ln>
              </a:rPr>
              <a:t>Python Deep Learning</a:t>
            </a:r>
            <a:endParaRPr lang="ar-EG" altLang="ar-EG" b="1" cap="none">
              <a:ln>
                <a:noFill/>
              </a:ln>
            </a:endParaRPr>
          </a:p>
        </p:txBody>
      </p:sp>
      <p:sp>
        <p:nvSpPr>
          <p:cNvPr id="3" name="Subtitle 2">
            <a:extLst>
              <a:ext uri="{FF2B5EF4-FFF2-40B4-BE49-F238E27FC236}">
                <a16:creationId xmlns:a16="http://schemas.microsoft.com/office/drawing/2014/main" id="{5A01DA13-63A5-4B72-83EE-8C37EF5DA68B}"/>
              </a:ext>
            </a:extLst>
          </p:cNvPr>
          <p:cNvSpPr>
            <a:spLocks noGrp="1"/>
          </p:cNvSpPr>
          <p:nvPr>
            <p:ph type="subTitle" idx="1"/>
          </p:nvPr>
        </p:nvSpPr>
        <p:spPr/>
        <p:txBody>
          <a:bodyPr/>
          <a:lstStyle/>
          <a:p>
            <a:pPr>
              <a:buFont typeface="Wingdings 3" panose="05040102010807070707" pitchFamily="18" charset="2"/>
              <a:buNone/>
              <a:defRPr/>
            </a:pPr>
            <a:endParaRPr lang="ar-EG"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88EAFD-3816-4AB5-96B1-7AED7F0577B1}"/>
              </a:ext>
            </a:extLst>
          </p:cNvPr>
          <p:cNvSpPr>
            <a:spLocks noGrp="1"/>
          </p:cNvSpPr>
          <p:nvPr>
            <p:ph type="body" sz="quarter" idx="10"/>
          </p:nvPr>
        </p:nvSpPr>
        <p:spPr/>
        <p:txBody>
          <a:bodyPr/>
          <a:lstStyle/>
          <a:p>
            <a:pPr>
              <a:buFont typeface="Wingdings 3" panose="05040102010807070707" pitchFamily="18" charset="2"/>
              <a:buNone/>
              <a:defRPr/>
            </a:pPr>
            <a:r>
              <a:rPr lang="en-US"/>
              <a:t>Common Deep learning fields</a:t>
            </a:r>
          </a:p>
        </p:txBody>
      </p:sp>
      <p:sp>
        <p:nvSpPr>
          <p:cNvPr id="3" name="Content Placeholder 2">
            <a:extLst>
              <a:ext uri="{FF2B5EF4-FFF2-40B4-BE49-F238E27FC236}">
                <a16:creationId xmlns:a16="http://schemas.microsoft.com/office/drawing/2014/main" id="{EBA80BD7-7DBD-4980-8234-969D1F2CB5D2}"/>
              </a:ext>
            </a:extLst>
          </p:cNvPr>
          <p:cNvSpPr>
            <a:spLocks noGrp="1"/>
          </p:cNvSpPr>
          <p:nvPr>
            <p:ph sz="quarter" idx="11"/>
          </p:nvPr>
        </p:nvSpPr>
        <p:spPr>
          <a:xfrm>
            <a:off x="434975" y="1317625"/>
            <a:ext cx="5073650" cy="5202238"/>
          </a:xfrm>
        </p:spPr>
        <p:txBody>
          <a:bodyPr/>
          <a:lstStyle/>
          <a:p>
            <a:pPr marL="0" indent="0">
              <a:buFont typeface="Wingdings 3" panose="05040102010807070707" pitchFamily="18" charset="2"/>
              <a:buNone/>
              <a:defRPr/>
            </a:pPr>
            <a:r>
              <a:rPr b="1"/>
              <a:t>Main Fields</a:t>
            </a:r>
          </a:p>
          <a:p>
            <a:pPr>
              <a:buFont typeface="Wingdings 3" panose="05040102010807070707" pitchFamily="18" charset="2"/>
              <a:buChar char=""/>
              <a:defRPr/>
            </a:pPr>
            <a:r>
              <a:t>Computer vision</a:t>
            </a:r>
          </a:p>
          <a:p>
            <a:pPr>
              <a:buFont typeface="Wingdings 3" panose="05040102010807070707" pitchFamily="18" charset="2"/>
              <a:buChar char=""/>
              <a:defRPr/>
            </a:pPr>
            <a:r>
              <a:t>Speech recognition</a:t>
            </a:r>
          </a:p>
          <a:p>
            <a:pPr>
              <a:buFont typeface="Wingdings 3" panose="05040102010807070707" pitchFamily="18" charset="2"/>
              <a:buChar char=""/>
              <a:defRPr/>
            </a:pPr>
            <a:r>
              <a:t>Natural language processing</a:t>
            </a:r>
          </a:p>
          <a:p>
            <a:pPr>
              <a:buFont typeface="Wingdings 3" panose="05040102010807070707" pitchFamily="18" charset="2"/>
              <a:buChar char=""/>
              <a:defRPr/>
            </a:pPr>
            <a:r>
              <a:t>Audio recognition</a:t>
            </a:r>
          </a:p>
          <a:p>
            <a:pPr>
              <a:buFont typeface="Wingdings 3" panose="05040102010807070707" pitchFamily="18" charset="2"/>
              <a:buChar char=""/>
              <a:defRPr/>
            </a:pPr>
            <a:r>
              <a:t>Social network filtering</a:t>
            </a:r>
          </a:p>
          <a:p>
            <a:pPr>
              <a:buFont typeface="Wingdings 3" panose="05040102010807070707" pitchFamily="18" charset="2"/>
              <a:buChar char=""/>
              <a:defRPr/>
            </a:pPr>
            <a:r>
              <a:t>Machine translation</a:t>
            </a:r>
          </a:p>
          <a:p>
            <a:pPr>
              <a:buFont typeface="Wingdings 3" panose="05040102010807070707" pitchFamily="18" charset="2"/>
              <a:buChar char=""/>
              <a:defRPr/>
            </a:pPr>
            <a:endParaRPr/>
          </a:p>
          <a:p>
            <a:pPr>
              <a:buFont typeface="Wingdings 3" panose="05040102010807070707" pitchFamily="18" charset="2"/>
              <a:buChar char=""/>
              <a:defRPr/>
            </a:pPr>
            <a:endParaRPr/>
          </a:p>
        </p:txBody>
      </p:sp>
      <p:sp>
        <p:nvSpPr>
          <p:cNvPr id="4" name="Content Placeholder 2">
            <a:extLst>
              <a:ext uri="{FF2B5EF4-FFF2-40B4-BE49-F238E27FC236}">
                <a16:creationId xmlns:a16="http://schemas.microsoft.com/office/drawing/2014/main" id="{93DF1C28-6FFE-40A8-B58A-B9F4D213EF74}"/>
              </a:ext>
            </a:extLst>
          </p:cNvPr>
          <p:cNvSpPr txBox="1">
            <a:spLocks/>
          </p:cNvSpPr>
          <p:nvPr/>
        </p:nvSpPr>
        <p:spPr bwMode="auto">
          <a:xfrm>
            <a:off x="5365750" y="1312863"/>
            <a:ext cx="6565900" cy="520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1pPr>
            <a:lvl2pPr marL="7429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2pPr>
            <a:lvl3pPr marL="1200150" indent="-2857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3pPr>
            <a:lvl4pPr marL="1543050" indent="-1714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en-US" sz="2000" kern="1200" dirty="0" smtClean="0">
                <a:solidFill>
                  <a:schemeClr val="tx1"/>
                </a:solidFill>
                <a:latin typeface="+mn-lt"/>
                <a:ea typeface="+mn-ea"/>
                <a:cs typeface="+mn-cs"/>
              </a:defRPr>
            </a:lvl4pPr>
            <a:lvl5pPr marL="2000250" indent="-171450" algn="l" defTabSz="457200" rtl="0" eaLnBrk="0" fontAlgn="base" hangingPunct="0">
              <a:spcBef>
                <a:spcPct val="20000"/>
              </a:spcBef>
              <a:spcAft>
                <a:spcPts val="600"/>
              </a:spcAft>
              <a:buClr>
                <a:schemeClr val="tx1"/>
              </a:buClr>
              <a:buSzPct val="80000"/>
              <a:buFont typeface="Wingdings 3" panose="05040102010807070707" pitchFamily="18" charset="2"/>
              <a:buChar char=""/>
              <a:defRPr lang="ar-EG" sz="2000" kern="1200" dirty="0">
                <a:solidFill>
                  <a:schemeClr val="tx1"/>
                </a:solidFill>
                <a:latin typeface="+mn-lt"/>
                <a:ea typeface="+mn-ea"/>
                <a:cs typeface="+mn-cs"/>
              </a:defRPr>
            </a:lvl5pPr>
            <a:lvl6pPr marL="25146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defRPr/>
            </a:pPr>
            <a:r>
              <a:rPr b="1"/>
              <a:t> Visual examples:</a:t>
            </a:r>
          </a:p>
          <a:p>
            <a:pPr>
              <a:defRPr/>
            </a:pPr>
            <a:r>
              <a:rPr sz="1800"/>
              <a:t>Colorization of Black and White Images.</a:t>
            </a:r>
            <a:br>
              <a:rPr sz="1800"/>
            </a:br>
            <a:r>
              <a:rPr sz="1800">
                <a:hlinkClick r:id="rId2"/>
              </a:rPr>
              <a:t>https://www.youtube.com/watch?v=_MJU8VK2PI4</a:t>
            </a:r>
            <a:endParaRPr sz="1800"/>
          </a:p>
          <a:p>
            <a:pPr>
              <a:defRPr/>
            </a:pPr>
            <a:r>
              <a:rPr sz="1800"/>
              <a:t>Adding Sounds To Silent Movies.</a:t>
            </a:r>
            <a:br>
              <a:rPr sz="1800"/>
            </a:br>
            <a:r>
              <a:rPr sz="1600">
                <a:hlinkClick r:id="rId3"/>
              </a:rPr>
              <a:t>https://www.youtube.com/watch?v=0FW99AQmMc8</a:t>
            </a:r>
            <a:endParaRPr sz="1600"/>
          </a:p>
          <a:p>
            <a:pPr>
              <a:defRPr/>
            </a:pPr>
            <a:r>
              <a:rPr sz="1800"/>
              <a:t>Automatic Machine Translation.</a:t>
            </a:r>
          </a:p>
          <a:p>
            <a:pPr>
              <a:defRPr/>
            </a:pPr>
            <a:r>
              <a:rPr sz="1800"/>
              <a:t>Object Classification in Photographs.</a:t>
            </a:r>
          </a:p>
          <a:p>
            <a:pPr>
              <a:defRPr/>
            </a:pPr>
            <a:r>
              <a:rPr sz="1800"/>
              <a:t>Automatic Handwriting Generation.</a:t>
            </a:r>
          </a:p>
          <a:p>
            <a:pPr>
              <a:defRPr/>
            </a:pPr>
            <a:r>
              <a:rPr sz="1800"/>
              <a:t>Character Text Generation.</a:t>
            </a:r>
          </a:p>
          <a:p>
            <a:pPr>
              <a:defRPr/>
            </a:pPr>
            <a:r>
              <a:rPr sz="1800"/>
              <a:t>Image Caption Generation.</a:t>
            </a:r>
          </a:p>
          <a:p>
            <a:pPr>
              <a:defRPr/>
            </a:pPr>
            <a:r>
              <a:rPr sz="1800"/>
              <a:t>Automatic Game Playing.</a:t>
            </a:r>
            <a:br>
              <a:rPr sz="1800"/>
            </a:br>
            <a:r>
              <a:rPr sz="1800">
                <a:hlinkClick r:id="rId4"/>
              </a:rPr>
              <a:t>https://www.youtube.com/watch?v=TmPfTpjtdgg</a:t>
            </a:r>
            <a:endParaRPr sz="1800"/>
          </a:p>
          <a:p>
            <a:pPr>
              <a:defRPr/>
            </a:pP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3CB118-4971-42E3-9070-BD4A3E4C1D07}"/>
              </a:ext>
            </a:extLst>
          </p:cNvPr>
          <p:cNvSpPr>
            <a:spLocks noGrp="1"/>
          </p:cNvSpPr>
          <p:nvPr>
            <p:ph type="body" sz="quarter" idx="10"/>
          </p:nvPr>
        </p:nvSpPr>
        <p:spPr/>
        <p:txBody>
          <a:bodyPr/>
          <a:lstStyle/>
          <a:p>
            <a:pPr>
              <a:buFont typeface="Wingdings 3" panose="05040102010807070707" pitchFamily="18" charset="2"/>
              <a:buNone/>
              <a:defRPr/>
            </a:pPr>
            <a:r>
              <a:rPr lang="en-US"/>
              <a:t>Common Deep learning development tool (</a:t>
            </a:r>
            <a:r>
              <a:rPr lang="en-US" err="1"/>
              <a:t>Keras</a:t>
            </a:r>
            <a:r>
              <a:rPr lang="en-US"/>
              <a:t>)</a:t>
            </a:r>
          </a:p>
        </p:txBody>
      </p:sp>
      <p:sp>
        <p:nvSpPr>
          <p:cNvPr id="123907" name="Content Placeholder 2">
            <a:extLst>
              <a:ext uri="{FF2B5EF4-FFF2-40B4-BE49-F238E27FC236}">
                <a16:creationId xmlns:a16="http://schemas.microsoft.com/office/drawing/2014/main" id="{BA7FA044-21D7-A805-9DA9-7E4B0EF851E7}"/>
              </a:ext>
            </a:extLst>
          </p:cNvPr>
          <p:cNvSpPr>
            <a:spLocks noGrp="1" noChangeArrowheads="1"/>
          </p:cNvSpPr>
          <p:nvPr>
            <p:ph sz="quarter" idx="11"/>
          </p:nvPr>
        </p:nvSpPr>
        <p:spPr>
          <a:xfrm>
            <a:off x="434975" y="1317625"/>
            <a:ext cx="11288713" cy="2032000"/>
          </a:xfrm>
        </p:spPr>
        <p:txBody>
          <a:bodyPr/>
          <a:lstStyle/>
          <a:p>
            <a:r>
              <a:rPr altLang="ar-EG"/>
              <a:t>Keras is a free Artificial Neural Networks (ANN) library (deep learning library).</a:t>
            </a:r>
          </a:p>
          <a:p>
            <a:r>
              <a:rPr altLang="ar-EG"/>
              <a:t>it is a high-level neural networks API, written in Python and capable of running on top of TensorFlow, CNTK, or Theano. </a:t>
            </a:r>
            <a:endParaRPr lang="ar-EG" altLang="ar-EG"/>
          </a:p>
          <a:p>
            <a:r>
              <a:rPr altLang="ar-EG"/>
              <a:t>It was developed with a focus on enabling fast experimentation. Being able to go from idea to result with the least possible delay is key to doing good research.</a:t>
            </a:r>
            <a:endParaRPr lang="ar-EG" altLang="ar-EG"/>
          </a:p>
          <a:p>
            <a:endParaRPr altLang="ar-EG"/>
          </a:p>
          <a:p>
            <a:endParaRPr altLang="ar-EG"/>
          </a:p>
        </p:txBody>
      </p:sp>
      <p:grpSp>
        <p:nvGrpSpPr>
          <p:cNvPr id="123908" name="Group 7">
            <a:extLst>
              <a:ext uri="{FF2B5EF4-FFF2-40B4-BE49-F238E27FC236}">
                <a16:creationId xmlns:a16="http://schemas.microsoft.com/office/drawing/2014/main" id="{09F5A7BA-BEA1-2853-C313-08C7ADB9DA51}"/>
              </a:ext>
            </a:extLst>
          </p:cNvPr>
          <p:cNvGrpSpPr>
            <a:grpSpLocks/>
          </p:cNvGrpSpPr>
          <p:nvPr/>
        </p:nvGrpSpPr>
        <p:grpSpPr bwMode="auto">
          <a:xfrm>
            <a:off x="3579813" y="5537200"/>
            <a:ext cx="4991100" cy="1117600"/>
            <a:chOff x="3591499" y="3542803"/>
            <a:chExt cx="4990641" cy="1117332"/>
          </a:xfrm>
        </p:grpSpPr>
        <p:sp>
          <p:nvSpPr>
            <p:cNvPr id="4" name="Rectangle 3">
              <a:extLst>
                <a:ext uri="{FF2B5EF4-FFF2-40B4-BE49-F238E27FC236}">
                  <a16:creationId xmlns:a16="http://schemas.microsoft.com/office/drawing/2014/main" id="{CC2F69E9-8D9D-4A4B-81CE-5C665920FC9F}"/>
                </a:ext>
              </a:extLst>
            </p:cNvPr>
            <p:cNvSpPr/>
            <p:nvPr/>
          </p:nvSpPr>
          <p:spPr>
            <a:xfrm>
              <a:off x="3591499" y="3542803"/>
              <a:ext cx="4990641" cy="111733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en-US"/>
            </a:p>
          </p:txBody>
        </p:sp>
        <p:sp>
          <p:nvSpPr>
            <p:cNvPr id="3" name="TextBox 2">
              <a:extLst>
                <a:ext uri="{FF2B5EF4-FFF2-40B4-BE49-F238E27FC236}">
                  <a16:creationId xmlns:a16="http://schemas.microsoft.com/office/drawing/2014/main" id="{2BE45A7D-28A4-4FEA-9C1B-3B0B60541939}"/>
                </a:ext>
              </a:extLst>
            </p:cNvPr>
            <p:cNvSpPr txBox="1"/>
            <p:nvPr/>
          </p:nvSpPr>
          <p:spPr>
            <a:xfrm>
              <a:off x="3783568" y="3703103"/>
              <a:ext cx="4612851" cy="369798"/>
            </a:xfrm>
            <a:prstGeom prst="rect">
              <a:avLst/>
            </a:prstGeom>
            <a:solidFill>
              <a:schemeClr val="bg1">
                <a:lumMod val="65000"/>
                <a:lumOff val="35000"/>
              </a:schemeClr>
            </a:solidFill>
          </p:spPr>
          <p:txBody>
            <a:bodyPr rtlCol="1">
              <a:spAutoFit/>
            </a:bodyPr>
            <a:lstStyle/>
            <a:p>
              <a:pPr algn="ctr">
                <a:defRPr/>
              </a:pPr>
              <a:r>
                <a:rPr lang="en-US" b="1" dirty="0" err="1"/>
                <a:t>Keras</a:t>
              </a:r>
              <a:endParaRPr lang="en-US" b="1" dirty="0"/>
            </a:p>
          </p:txBody>
        </p:sp>
        <p:sp>
          <p:nvSpPr>
            <p:cNvPr id="123911" name="TextBox 4">
              <a:extLst>
                <a:ext uri="{FF2B5EF4-FFF2-40B4-BE49-F238E27FC236}">
                  <a16:creationId xmlns:a16="http://schemas.microsoft.com/office/drawing/2014/main" id="{7BD317BC-FDEE-7D3C-F546-77E1E74045A5}"/>
                </a:ext>
              </a:extLst>
            </p:cNvPr>
            <p:cNvSpPr txBox="1">
              <a:spLocks noChangeArrowheads="1"/>
            </p:cNvSpPr>
            <p:nvPr/>
          </p:nvSpPr>
          <p:spPr bwMode="auto">
            <a:xfrm>
              <a:off x="3784175" y="4112419"/>
              <a:ext cx="1411994" cy="3693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ctr"/>
              <a:r>
                <a:rPr lang="en-US" altLang="ar-EG"/>
                <a:t>TensorFlow</a:t>
              </a:r>
              <a:endParaRPr lang="en-US" altLang="ar-EG" b="1"/>
            </a:p>
          </p:txBody>
        </p:sp>
        <p:sp>
          <p:nvSpPr>
            <p:cNvPr id="6" name="TextBox 5">
              <a:extLst>
                <a:ext uri="{FF2B5EF4-FFF2-40B4-BE49-F238E27FC236}">
                  <a16:creationId xmlns:a16="http://schemas.microsoft.com/office/drawing/2014/main" id="{6782A43A-25C3-4300-88C3-365B32410015}"/>
                </a:ext>
              </a:extLst>
            </p:cNvPr>
            <p:cNvSpPr txBox="1"/>
            <p:nvPr/>
          </p:nvSpPr>
          <p:spPr>
            <a:xfrm>
              <a:off x="5374097" y="4112579"/>
              <a:ext cx="1411158" cy="369798"/>
            </a:xfrm>
            <a:prstGeom prst="rect">
              <a:avLst/>
            </a:prstGeom>
            <a:solidFill>
              <a:schemeClr val="accent4"/>
            </a:solidFill>
          </p:spPr>
          <p:txBody>
            <a:bodyPr rtlCol="1">
              <a:spAutoFit/>
            </a:bodyPr>
            <a:lstStyle/>
            <a:p>
              <a:pPr algn="ctr">
                <a:defRPr/>
              </a:pPr>
              <a:r>
                <a:rPr lang="en-US" altLang="ar-EG" dirty="0"/>
                <a:t>CNTK</a:t>
              </a:r>
              <a:endParaRPr lang="en-US" b="1" dirty="0"/>
            </a:p>
          </p:txBody>
        </p:sp>
        <p:sp>
          <p:nvSpPr>
            <p:cNvPr id="7" name="TextBox 6">
              <a:extLst>
                <a:ext uri="{FF2B5EF4-FFF2-40B4-BE49-F238E27FC236}">
                  <a16:creationId xmlns:a16="http://schemas.microsoft.com/office/drawing/2014/main" id="{F90B22DD-0CED-4A98-BE66-C451300BF5A9}"/>
                </a:ext>
              </a:extLst>
            </p:cNvPr>
            <p:cNvSpPr txBox="1"/>
            <p:nvPr/>
          </p:nvSpPr>
          <p:spPr>
            <a:xfrm>
              <a:off x="6985262" y="4112579"/>
              <a:ext cx="1411157" cy="369798"/>
            </a:xfrm>
            <a:prstGeom prst="rect">
              <a:avLst/>
            </a:prstGeom>
            <a:solidFill>
              <a:schemeClr val="accent6"/>
            </a:solidFill>
          </p:spPr>
          <p:txBody>
            <a:bodyPr rtlCol="1">
              <a:spAutoFit/>
            </a:bodyPr>
            <a:lstStyle/>
            <a:p>
              <a:pPr algn="ctr">
                <a:defRPr/>
              </a:pPr>
              <a:r>
                <a:rPr lang="en-US" altLang="ar-EG" dirty="0" err="1"/>
                <a:t>Theano</a:t>
              </a:r>
              <a:endParaRPr lang="en-US" b="1" dirty="0"/>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CE2285-D734-40CE-A3A1-435504057B70}"/>
              </a:ext>
            </a:extLst>
          </p:cNvPr>
          <p:cNvSpPr>
            <a:spLocks noGrp="1"/>
          </p:cNvSpPr>
          <p:nvPr>
            <p:ph type="body" sz="quarter" idx="10"/>
          </p:nvPr>
        </p:nvSpPr>
        <p:spPr/>
        <p:txBody>
          <a:bodyPr/>
          <a:lstStyle/>
          <a:p>
            <a:pPr>
              <a:buFont typeface="Wingdings 3" panose="05040102010807070707" pitchFamily="18" charset="2"/>
              <a:buNone/>
              <a:defRPr/>
            </a:pPr>
            <a:r>
              <a:rPr lang="en-US"/>
              <a:t>Deep learning Computer vision (image processing)</a:t>
            </a:r>
          </a:p>
        </p:txBody>
      </p:sp>
      <p:sp>
        <p:nvSpPr>
          <p:cNvPr id="3" name="Content Placeholder 2">
            <a:extLst>
              <a:ext uri="{FF2B5EF4-FFF2-40B4-BE49-F238E27FC236}">
                <a16:creationId xmlns:a16="http://schemas.microsoft.com/office/drawing/2014/main" id="{25246054-1F35-4ECC-9BBD-A05BFC8EB36F}"/>
              </a:ext>
            </a:extLst>
          </p:cNvPr>
          <p:cNvSpPr>
            <a:spLocks noGrp="1"/>
          </p:cNvSpPr>
          <p:nvPr>
            <p:ph sz="quarter" idx="11"/>
          </p:nvPr>
        </p:nvSpPr>
        <p:spPr/>
        <p:txBody>
          <a:bodyPr/>
          <a:lstStyle/>
          <a:p>
            <a:pPr marL="0" indent="0">
              <a:buFont typeface="Wingdings 3" panose="05040102010807070707" pitchFamily="18" charset="2"/>
              <a:buNone/>
              <a:defRPr/>
            </a:pPr>
            <a:r>
              <a:t>3 common ways to detect objects</a:t>
            </a:r>
          </a:p>
          <a:p>
            <a:pPr>
              <a:buFont typeface="Wingdings 3" panose="05040102010807070707" pitchFamily="18" charset="2"/>
              <a:buChar char=""/>
              <a:defRPr/>
            </a:pPr>
            <a:r>
              <a:t>median based features</a:t>
            </a:r>
          </a:p>
          <a:p>
            <a:pPr>
              <a:buFont typeface="Wingdings 3" panose="05040102010807070707" pitchFamily="18" charset="2"/>
              <a:buChar char=""/>
              <a:defRPr/>
            </a:pPr>
            <a:r>
              <a:t>edge based features</a:t>
            </a:r>
          </a:p>
          <a:p>
            <a:pPr>
              <a:buFont typeface="Wingdings 3" panose="05040102010807070707" pitchFamily="18" charset="2"/>
              <a:buChar char=""/>
              <a:defRPr/>
            </a:pPr>
            <a:r>
              <a:t>threshold based features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993A4D-9B29-4F40-B8F1-A612661E1570}"/>
              </a:ext>
            </a:extLst>
          </p:cNvPr>
          <p:cNvSpPr>
            <a:spLocks noGrp="1"/>
          </p:cNvSpPr>
          <p:nvPr>
            <p:ph type="body" sz="quarter" idx="10"/>
          </p:nvPr>
        </p:nvSpPr>
        <p:spPr/>
        <p:txBody>
          <a:bodyPr/>
          <a:lstStyle/>
          <a:p>
            <a:pPr>
              <a:buFont typeface="Wingdings 3" panose="05040102010807070707" pitchFamily="18" charset="2"/>
              <a:buNone/>
              <a:defRPr/>
            </a:pPr>
            <a:r>
              <a:rPr lang="nl-NL"/>
              <a:t>How to use Neural Network Models in Keras</a:t>
            </a:r>
          </a:p>
        </p:txBody>
      </p:sp>
      <p:sp>
        <p:nvSpPr>
          <p:cNvPr id="3" name="Content Placeholder 2">
            <a:extLst>
              <a:ext uri="{FF2B5EF4-FFF2-40B4-BE49-F238E27FC236}">
                <a16:creationId xmlns:a16="http://schemas.microsoft.com/office/drawing/2014/main" id="{596DE627-EF8C-48FA-8304-C56DCA0D003A}"/>
              </a:ext>
            </a:extLst>
          </p:cNvPr>
          <p:cNvSpPr>
            <a:spLocks noGrp="1"/>
          </p:cNvSpPr>
          <p:nvPr>
            <p:ph sz="quarter" idx="11"/>
          </p:nvPr>
        </p:nvSpPr>
        <p:spPr/>
        <p:txBody>
          <a:bodyPr/>
          <a:lstStyle/>
          <a:p>
            <a:pPr marL="0" indent="0">
              <a:buFont typeface="Wingdings 3" panose="05040102010807070707" pitchFamily="18" charset="2"/>
              <a:buNone/>
              <a:defRPr/>
            </a:pPr>
            <a:r>
              <a:t>Five steps</a:t>
            </a:r>
          </a:p>
          <a:p>
            <a:pPr marL="457200" indent="-457200">
              <a:buFont typeface="+mj-lt"/>
              <a:buAutoNum type="arabicPeriod"/>
              <a:defRPr/>
            </a:pPr>
            <a:r>
              <a:t>Define Network.</a:t>
            </a:r>
          </a:p>
          <a:p>
            <a:pPr marL="457200" indent="-457200">
              <a:buFont typeface="+mj-lt"/>
              <a:buAutoNum type="arabicPeriod"/>
              <a:defRPr/>
            </a:pPr>
            <a:r>
              <a:t>Compile Network.</a:t>
            </a:r>
          </a:p>
          <a:p>
            <a:pPr marL="457200" indent="-457200">
              <a:buFont typeface="+mj-lt"/>
              <a:buAutoNum type="arabicPeriod"/>
              <a:defRPr/>
            </a:pPr>
            <a:r>
              <a:t>Fit Network.</a:t>
            </a:r>
          </a:p>
          <a:p>
            <a:pPr marL="457200" indent="-457200">
              <a:buFont typeface="+mj-lt"/>
              <a:buAutoNum type="arabicPeriod"/>
              <a:defRPr/>
            </a:pPr>
            <a:r>
              <a:t>Evaluate Network.</a:t>
            </a:r>
          </a:p>
          <a:p>
            <a:pPr marL="457200" indent="-457200">
              <a:buFont typeface="+mj-lt"/>
              <a:buAutoNum type="arabicPeriod"/>
              <a:defRPr/>
            </a:pPr>
            <a:r>
              <a:t>Make Predictions.</a:t>
            </a:r>
          </a:p>
          <a:p>
            <a:pPr marL="0" indent="0">
              <a:buFont typeface="Wingdings 3" panose="05040102010807070707" pitchFamily="18" charset="2"/>
              <a:buNone/>
              <a:defRPr/>
            </a:pPr>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F2FB31-DF70-4B25-81A7-9C2BE2D16548}"/>
              </a:ext>
            </a:extLst>
          </p:cNvPr>
          <p:cNvSpPr>
            <a:spLocks noGrp="1"/>
          </p:cNvSpPr>
          <p:nvPr>
            <p:ph type="body" sz="quarter" idx="10"/>
          </p:nvPr>
        </p:nvSpPr>
        <p:spPr/>
        <p:txBody>
          <a:bodyPr/>
          <a:lstStyle/>
          <a:p>
            <a:pPr>
              <a:buFont typeface="Wingdings 3" panose="05040102010807070707" pitchFamily="18" charset="2"/>
              <a:buNone/>
              <a:defRPr/>
            </a:pPr>
            <a:r>
              <a:rPr lang="en-US"/>
              <a:t>Step 1. Define Network</a:t>
            </a:r>
          </a:p>
        </p:txBody>
      </p:sp>
      <p:sp>
        <p:nvSpPr>
          <p:cNvPr id="126979" name="Content Placeholder 2">
            <a:extLst>
              <a:ext uri="{FF2B5EF4-FFF2-40B4-BE49-F238E27FC236}">
                <a16:creationId xmlns:a16="http://schemas.microsoft.com/office/drawing/2014/main" id="{C97EAE58-BD9B-F1EE-4262-B54E35E4BE7E}"/>
              </a:ext>
            </a:extLst>
          </p:cNvPr>
          <p:cNvSpPr>
            <a:spLocks noGrp="1" noChangeArrowheads="1"/>
          </p:cNvSpPr>
          <p:nvPr>
            <p:ph sz="quarter" idx="11"/>
          </p:nvPr>
        </p:nvSpPr>
        <p:spPr>
          <a:xfrm>
            <a:off x="457200" y="1317625"/>
            <a:ext cx="11288713" cy="5237163"/>
          </a:xfrm>
        </p:spPr>
        <p:txBody>
          <a:bodyPr/>
          <a:lstStyle/>
          <a:p>
            <a:r>
              <a:rPr altLang="ar-EG"/>
              <a:t>Neural networks are defined in Keras as a sequence of layers. </a:t>
            </a:r>
          </a:p>
          <a:p>
            <a:r>
              <a:rPr altLang="ar-EG"/>
              <a:t>The first layer in the network must define the number of inputs to expect. for a Multilayer Perceptron model this is specified by the </a:t>
            </a:r>
            <a:r>
              <a:rPr altLang="ar-EG">
                <a:solidFill>
                  <a:srgbClr val="FFFF00"/>
                </a:solidFill>
              </a:rPr>
              <a:t>input_dim </a:t>
            </a:r>
            <a:r>
              <a:rPr altLang="ar-EG"/>
              <a:t>attribute.</a:t>
            </a:r>
          </a:p>
          <a:p>
            <a:r>
              <a:rPr altLang="ar-EG"/>
              <a:t>Example of small Multilayer Perceptron model (2 inputs, 5 hidden layers, 1 output)</a:t>
            </a:r>
          </a:p>
          <a:p>
            <a:endParaRPr altLang="ar-EG"/>
          </a:p>
          <a:p>
            <a:endParaRPr altLang="ar-EG" sz="2800"/>
          </a:p>
          <a:p>
            <a:r>
              <a:rPr altLang="ar-EG"/>
              <a:t>Re-write after add activation function</a:t>
            </a:r>
            <a:br>
              <a:rPr altLang="ar-EG"/>
            </a:br>
            <a:endParaRPr altLang="ar-EG"/>
          </a:p>
          <a:p>
            <a:endParaRPr altLang="ar-EG"/>
          </a:p>
          <a:p>
            <a:endParaRPr altLang="ar-EG"/>
          </a:p>
        </p:txBody>
      </p:sp>
      <p:graphicFrame>
        <p:nvGraphicFramePr>
          <p:cNvPr id="4" name="Table 3">
            <a:extLst>
              <a:ext uri="{FF2B5EF4-FFF2-40B4-BE49-F238E27FC236}">
                <a16:creationId xmlns:a16="http://schemas.microsoft.com/office/drawing/2014/main" id="{FF0E1F23-32E9-418D-9E60-3072DF1E811A}"/>
              </a:ext>
            </a:extLst>
          </p:cNvPr>
          <p:cNvGraphicFramePr>
            <a:graphicFrameLocks noGrp="1"/>
          </p:cNvGraphicFramePr>
          <p:nvPr/>
        </p:nvGraphicFramePr>
        <p:xfrm>
          <a:off x="3062288" y="3005138"/>
          <a:ext cx="6034087" cy="914400"/>
        </p:xfrm>
        <a:graphic>
          <a:graphicData uri="http://schemas.openxmlformats.org/drawingml/2006/table">
            <a:tbl>
              <a:tblPr/>
              <a:tblGrid>
                <a:gridCol w="299178">
                  <a:extLst>
                    <a:ext uri="{9D8B030D-6E8A-4147-A177-3AD203B41FA5}">
                      <a16:colId xmlns:a16="http://schemas.microsoft.com/office/drawing/2014/main" val="2560357210"/>
                    </a:ext>
                  </a:extLst>
                </a:gridCol>
                <a:gridCol w="5734909">
                  <a:extLst>
                    <a:ext uri="{9D8B030D-6E8A-4147-A177-3AD203B41FA5}">
                      <a16:colId xmlns:a16="http://schemas.microsoft.com/office/drawing/2014/main" val="73538409"/>
                    </a:ext>
                  </a:extLst>
                </a:gridCol>
              </a:tblGrid>
              <a:tr h="0">
                <a:tc>
                  <a:txBody>
                    <a:bodyPr/>
                    <a:lstStyle/>
                    <a:p>
                      <a:pPr algn="ctr" rtl="0" fontAlgn="base"/>
                      <a:endParaRPr lang="ar-EG" dirty="0">
                        <a:solidFill>
                          <a:srgbClr val="5499DE"/>
                        </a:solidFill>
                        <a:effectLst/>
                        <a:latin typeface="inherit"/>
                      </a:endParaRPr>
                    </a:p>
                  </a:txBody>
                  <a:tcPr marL="91454" marR="91454">
                    <a:lnL>
                      <a:noFill/>
                    </a:lnL>
                    <a:lnR>
                      <a:noFill/>
                    </a:lnR>
                    <a:lnT>
                      <a:noFill/>
                    </a:lnT>
                    <a:lnB>
                      <a:noFill/>
                    </a:lnB>
                    <a:solidFill>
                      <a:srgbClr val="DFEFFF"/>
                    </a:solidFill>
                  </a:tcPr>
                </a:tc>
                <a:tc>
                  <a:txBody>
                    <a:bodyPr/>
                    <a:lstStyle/>
                    <a:p>
                      <a:pPr algn="l" fontAlgn="base"/>
                      <a:r>
                        <a:rPr lang="en-US" dirty="0">
                          <a:solidFill>
                            <a:srgbClr val="002D7A"/>
                          </a:solidFill>
                          <a:effectLst/>
                          <a:latin typeface="inherit"/>
                        </a:rPr>
                        <a:t>model</a:t>
                      </a:r>
                      <a:r>
                        <a:rPr lang="en-US" dirty="0">
                          <a:solidFill>
                            <a:srgbClr val="006FE0"/>
                          </a:solidFill>
                          <a:effectLst/>
                          <a:latin typeface="inherit"/>
                        </a:rPr>
                        <a:t> = </a:t>
                      </a:r>
                      <a:r>
                        <a:rPr lang="en-US" dirty="0">
                          <a:solidFill>
                            <a:srgbClr val="004ED0"/>
                          </a:solidFill>
                          <a:effectLst/>
                          <a:latin typeface="inherit"/>
                        </a:rPr>
                        <a:t>Sequential</a:t>
                      </a:r>
                      <a:r>
                        <a:rPr lang="en-US" dirty="0">
                          <a:solidFill>
                            <a:srgbClr val="333333"/>
                          </a:solidFill>
                          <a:effectLst/>
                          <a:latin typeface="inherit"/>
                        </a:rPr>
                        <a:t>()</a:t>
                      </a:r>
                      <a:endParaRPr lang="en-US" dirty="0">
                        <a:solidFill>
                          <a:srgbClr val="000000"/>
                        </a:solidFill>
                        <a:effectLst/>
                        <a:latin typeface="inherit"/>
                      </a:endParaRPr>
                    </a:p>
                    <a:p>
                      <a:pPr algn="l" fontAlgn="base"/>
                      <a:r>
                        <a:rPr lang="en-US" dirty="0" err="1">
                          <a:solidFill>
                            <a:srgbClr val="002D7A"/>
                          </a:solidFill>
                          <a:effectLst/>
                          <a:latin typeface="inherit"/>
                        </a:rPr>
                        <a:t>model</a:t>
                      </a:r>
                      <a:r>
                        <a:rPr lang="en-US" dirty="0" err="1">
                          <a:solidFill>
                            <a:srgbClr val="333333"/>
                          </a:solidFill>
                          <a:effectLst/>
                          <a:latin typeface="inherit"/>
                        </a:rPr>
                        <a:t>.</a:t>
                      </a:r>
                      <a:r>
                        <a:rPr lang="en-US" dirty="0" err="1">
                          <a:solidFill>
                            <a:srgbClr val="004ED0"/>
                          </a:solidFill>
                          <a:effectLst/>
                          <a:latin typeface="inherit"/>
                        </a:rPr>
                        <a:t>add</a:t>
                      </a:r>
                      <a:r>
                        <a:rPr lang="en-US" dirty="0">
                          <a:solidFill>
                            <a:srgbClr val="333333"/>
                          </a:solidFill>
                          <a:effectLst/>
                          <a:latin typeface="inherit"/>
                        </a:rPr>
                        <a:t>(</a:t>
                      </a:r>
                      <a:r>
                        <a:rPr lang="en-US" dirty="0">
                          <a:solidFill>
                            <a:srgbClr val="004ED0"/>
                          </a:solidFill>
                          <a:effectLst/>
                          <a:latin typeface="inherit"/>
                        </a:rPr>
                        <a:t>Dense</a:t>
                      </a:r>
                      <a:r>
                        <a:rPr lang="en-US" dirty="0">
                          <a:solidFill>
                            <a:srgbClr val="333333"/>
                          </a:solidFill>
                          <a:effectLst/>
                          <a:latin typeface="inherit"/>
                        </a:rPr>
                        <a:t>(</a:t>
                      </a:r>
                      <a:r>
                        <a:rPr lang="en-US" dirty="0">
                          <a:solidFill>
                            <a:srgbClr val="CE0000"/>
                          </a:solidFill>
                          <a:effectLst/>
                          <a:latin typeface="inherit"/>
                        </a:rPr>
                        <a:t>5</a:t>
                      </a:r>
                      <a:r>
                        <a:rPr lang="en-US" dirty="0">
                          <a:solidFill>
                            <a:srgbClr val="333333"/>
                          </a:solidFill>
                          <a:effectLst/>
                          <a:latin typeface="inherit"/>
                        </a:rPr>
                        <a:t>,</a:t>
                      </a:r>
                      <a:r>
                        <a:rPr lang="en-US" dirty="0">
                          <a:solidFill>
                            <a:srgbClr val="006FE0"/>
                          </a:solidFill>
                          <a:effectLst/>
                          <a:latin typeface="inherit"/>
                        </a:rPr>
                        <a:t> </a:t>
                      </a:r>
                      <a:r>
                        <a:rPr lang="en-US" dirty="0" err="1">
                          <a:solidFill>
                            <a:srgbClr val="002D7A"/>
                          </a:solidFill>
                          <a:effectLst/>
                          <a:latin typeface="inherit"/>
                        </a:rPr>
                        <a:t>input_dim</a:t>
                      </a:r>
                      <a:r>
                        <a:rPr lang="en-US" dirty="0">
                          <a:solidFill>
                            <a:srgbClr val="006FE0"/>
                          </a:solidFill>
                          <a:effectLst/>
                          <a:latin typeface="inherit"/>
                        </a:rPr>
                        <a:t>=</a:t>
                      </a:r>
                      <a:r>
                        <a:rPr lang="en-US" dirty="0">
                          <a:solidFill>
                            <a:srgbClr val="CE0000"/>
                          </a:solidFill>
                          <a:effectLst/>
                          <a:latin typeface="inherit"/>
                        </a:rPr>
                        <a:t>2</a:t>
                      </a:r>
                      <a:r>
                        <a:rPr lang="en-US" dirty="0">
                          <a:solidFill>
                            <a:srgbClr val="333333"/>
                          </a:solidFill>
                          <a:effectLst/>
                          <a:latin typeface="inherit"/>
                        </a:rPr>
                        <a:t>))</a:t>
                      </a:r>
                      <a:endParaRPr lang="en-US" dirty="0">
                        <a:solidFill>
                          <a:srgbClr val="000000"/>
                        </a:solidFill>
                        <a:effectLst/>
                        <a:latin typeface="inherit"/>
                      </a:endParaRPr>
                    </a:p>
                    <a:p>
                      <a:pPr algn="l" fontAlgn="base"/>
                      <a:r>
                        <a:rPr lang="en-US" dirty="0" err="1">
                          <a:solidFill>
                            <a:srgbClr val="002D7A"/>
                          </a:solidFill>
                          <a:effectLst/>
                          <a:latin typeface="inherit"/>
                        </a:rPr>
                        <a:t>model</a:t>
                      </a:r>
                      <a:r>
                        <a:rPr lang="en-US" dirty="0" err="1">
                          <a:solidFill>
                            <a:srgbClr val="333333"/>
                          </a:solidFill>
                          <a:effectLst/>
                          <a:latin typeface="inherit"/>
                        </a:rPr>
                        <a:t>.</a:t>
                      </a:r>
                      <a:r>
                        <a:rPr lang="en-US" dirty="0" err="1">
                          <a:solidFill>
                            <a:srgbClr val="004ED0"/>
                          </a:solidFill>
                          <a:effectLst/>
                          <a:latin typeface="inherit"/>
                        </a:rPr>
                        <a:t>add</a:t>
                      </a:r>
                      <a:r>
                        <a:rPr lang="en-US" dirty="0">
                          <a:solidFill>
                            <a:srgbClr val="333333"/>
                          </a:solidFill>
                          <a:effectLst/>
                          <a:latin typeface="inherit"/>
                        </a:rPr>
                        <a:t>(</a:t>
                      </a:r>
                      <a:r>
                        <a:rPr lang="en-US" dirty="0">
                          <a:solidFill>
                            <a:srgbClr val="004ED0"/>
                          </a:solidFill>
                          <a:effectLst/>
                          <a:latin typeface="inherit"/>
                        </a:rPr>
                        <a:t>Dense</a:t>
                      </a:r>
                      <a:r>
                        <a:rPr lang="en-US" dirty="0">
                          <a:solidFill>
                            <a:srgbClr val="333333"/>
                          </a:solidFill>
                          <a:effectLst/>
                          <a:latin typeface="inherit"/>
                        </a:rPr>
                        <a:t>(</a:t>
                      </a:r>
                      <a:r>
                        <a:rPr lang="en-US" dirty="0">
                          <a:solidFill>
                            <a:srgbClr val="CE0000"/>
                          </a:solidFill>
                          <a:effectLst/>
                          <a:latin typeface="inherit"/>
                        </a:rPr>
                        <a:t>1</a:t>
                      </a:r>
                      <a:r>
                        <a:rPr lang="en-US" dirty="0">
                          <a:solidFill>
                            <a:srgbClr val="333333"/>
                          </a:solidFill>
                          <a:effectLst/>
                          <a:latin typeface="inherit"/>
                        </a:rPr>
                        <a:t>))</a:t>
                      </a:r>
                      <a:endParaRPr lang="en-US" dirty="0">
                        <a:solidFill>
                          <a:srgbClr val="000000"/>
                        </a:solidFill>
                        <a:effectLst/>
                        <a:latin typeface="inherit"/>
                      </a:endParaRPr>
                    </a:p>
                  </a:txBody>
                  <a:tcPr marL="91454" marR="91454">
                    <a:lnL>
                      <a:noFill/>
                    </a:lnL>
                    <a:lnR>
                      <a:noFill/>
                    </a:lnR>
                    <a:lnT>
                      <a:noFill/>
                    </a:lnT>
                    <a:lnB>
                      <a:noFill/>
                    </a:lnB>
                    <a:solidFill>
                      <a:srgbClr val="FDFDFD"/>
                    </a:solidFill>
                  </a:tcPr>
                </a:tc>
                <a:extLst>
                  <a:ext uri="{0D108BD9-81ED-4DB2-BD59-A6C34878D82A}">
                    <a16:rowId xmlns:a16="http://schemas.microsoft.com/office/drawing/2014/main" val="360773052"/>
                  </a:ext>
                </a:extLst>
              </a:tr>
            </a:tbl>
          </a:graphicData>
        </a:graphic>
      </p:graphicFrame>
      <p:sp>
        <p:nvSpPr>
          <p:cNvPr id="8" name="Rectangle 7">
            <a:extLst>
              <a:ext uri="{FF2B5EF4-FFF2-40B4-BE49-F238E27FC236}">
                <a16:creationId xmlns:a16="http://schemas.microsoft.com/office/drawing/2014/main" id="{3CD7FFC0-848C-4E93-991F-6746B7186775}"/>
              </a:ext>
            </a:extLst>
          </p:cNvPr>
          <p:cNvSpPr/>
          <p:nvPr/>
        </p:nvSpPr>
        <p:spPr>
          <a:xfrm>
            <a:off x="3043238" y="4429125"/>
            <a:ext cx="6096000" cy="922338"/>
          </a:xfrm>
          <a:prstGeom prst="rect">
            <a:avLst/>
          </a:prstGeom>
          <a:solidFill>
            <a:schemeClr val="accent1">
              <a:lumMod val="50000"/>
            </a:schemeClr>
          </a:solidFill>
        </p:spPr>
        <p:txBody>
          <a:bodyPr>
            <a:spAutoFit/>
          </a:bodyPr>
          <a:lstStyle/>
          <a:p>
            <a:pPr>
              <a:defRPr/>
            </a:pPr>
            <a:r>
              <a:rPr lang="en-US" dirty="0"/>
              <a:t>model = Sequential()</a:t>
            </a:r>
          </a:p>
          <a:p>
            <a:pPr>
              <a:defRPr/>
            </a:pPr>
            <a:r>
              <a:rPr lang="en-US" dirty="0" err="1"/>
              <a:t>model.add</a:t>
            </a:r>
            <a:r>
              <a:rPr lang="en-US" dirty="0"/>
              <a:t>(Dense(5, </a:t>
            </a:r>
            <a:r>
              <a:rPr lang="en-US" dirty="0" err="1"/>
              <a:t>input_dim</a:t>
            </a:r>
            <a:r>
              <a:rPr lang="en-US" dirty="0"/>
              <a:t>=2, activation='relu'))</a:t>
            </a:r>
          </a:p>
          <a:p>
            <a:pPr>
              <a:defRPr/>
            </a:pPr>
            <a:r>
              <a:rPr lang="en-US" dirty="0" err="1"/>
              <a:t>model.add</a:t>
            </a:r>
            <a:r>
              <a:rPr lang="en-US" dirty="0"/>
              <a:t>(Dense(1, activation='sigmoid'))</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5A9ECD-D369-4E5F-8F3C-58D689080984}"/>
              </a:ext>
            </a:extLst>
          </p:cNvPr>
          <p:cNvSpPr>
            <a:spLocks noGrp="1"/>
          </p:cNvSpPr>
          <p:nvPr>
            <p:ph type="body" sz="quarter" idx="10"/>
          </p:nvPr>
        </p:nvSpPr>
        <p:spPr/>
        <p:txBody>
          <a:bodyPr/>
          <a:lstStyle/>
          <a:p>
            <a:pPr>
              <a:buFont typeface="Wingdings 3" panose="05040102010807070707" pitchFamily="18" charset="2"/>
              <a:buNone/>
              <a:defRPr/>
            </a:pPr>
            <a:r>
              <a:rPr lang="en-US"/>
              <a:t>Available Activation Functions</a:t>
            </a:r>
          </a:p>
        </p:txBody>
      </p:sp>
      <p:sp>
        <p:nvSpPr>
          <p:cNvPr id="3" name="Content Placeholder 2">
            <a:extLst>
              <a:ext uri="{FF2B5EF4-FFF2-40B4-BE49-F238E27FC236}">
                <a16:creationId xmlns:a16="http://schemas.microsoft.com/office/drawing/2014/main" id="{0E6088C1-24B3-46D9-9394-175AF3938FB0}"/>
              </a:ext>
            </a:extLst>
          </p:cNvPr>
          <p:cNvSpPr>
            <a:spLocks noGrp="1"/>
          </p:cNvSpPr>
          <p:nvPr>
            <p:ph sz="quarter" idx="11"/>
          </p:nvPr>
        </p:nvSpPr>
        <p:spPr>
          <a:xfrm>
            <a:off x="434975" y="1123950"/>
            <a:ext cx="11288713" cy="5395913"/>
          </a:xfrm>
        </p:spPr>
        <p:txBody>
          <a:bodyPr/>
          <a:lstStyle/>
          <a:p>
            <a:pPr marL="0" indent="0">
              <a:buFont typeface="Wingdings 3" panose="05040102010807070707" pitchFamily="18" charset="2"/>
              <a:buNone/>
              <a:defRPr/>
            </a:pPr>
            <a:r>
              <a:rPr sz="1400"/>
              <a:t>Optional, it is like a filter, used to solve some common predictive modeling problem, to get significant boost in performance.</a:t>
            </a:r>
          </a:p>
          <a:p>
            <a:pPr>
              <a:buFont typeface="Wingdings 3" panose="05040102010807070707" pitchFamily="18" charset="2"/>
              <a:buChar char=""/>
              <a:defRPr/>
            </a:pPr>
            <a:r>
              <a:rPr sz="1400"/>
              <a:t>Sigmoid: used for Binary Classification (2 class) one neuron the output layer. What ever the input it will map to zero or one.</a:t>
            </a:r>
          </a:p>
          <a:p>
            <a:pPr>
              <a:buFont typeface="Wingdings 3" panose="05040102010807070707" pitchFamily="18" charset="2"/>
              <a:buChar char=""/>
              <a:defRPr/>
            </a:pPr>
            <a:r>
              <a:rPr sz="1400" err="1"/>
              <a:t>Softmax</a:t>
            </a:r>
            <a:r>
              <a:rPr sz="1400"/>
              <a:t>: used for Multiclass Classification (&gt;2 class), one output neuron per class value.</a:t>
            </a:r>
          </a:p>
          <a:p>
            <a:pPr>
              <a:buFont typeface="Wingdings 3" panose="05040102010807070707" pitchFamily="18" charset="2"/>
              <a:buChar char=""/>
              <a:defRPr/>
            </a:pPr>
            <a:r>
              <a:rPr sz="1400"/>
              <a:t>Linear: used for Regression, the number of neurons matching the number of outputs.</a:t>
            </a:r>
          </a:p>
          <a:p>
            <a:pPr>
              <a:buFont typeface="Wingdings 3" panose="05040102010807070707" pitchFamily="18" charset="2"/>
              <a:buChar char=""/>
              <a:defRPr/>
            </a:pPr>
            <a:r>
              <a:rPr sz="1400"/>
              <a:t>Tanh: what ever the input it will convert to number between -1 and 1 </a:t>
            </a:r>
          </a:p>
          <a:p>
            <a:pPr>
              <a:buFont typeface="Wingdings 3" panose="05040102010807070707" pitchFamily="18" charset="2"/>
              <a:buChar char=""/>
              <a:defRPr/>
            </a:pPr>
            <a:r>
              <a:rPr sz="1400"/>
              <a:t>Relu: either 0 for a&lt;0 or a for a&gt;0. so, it just remove the negative values and pass the positive as it is.</a:t>
            </a:r>
          </a:p>
          <a:p>
            <a:pPr>
              <a:buFont typeface="Wingdings 3" panose="05040102010807070707" pitchFamily="18" charset="2"/>
              <a:buChar char=""/>
              <a:defRPr/>
            </a:pPr>
            <a:r>
              <a:rPr sz="1400" err="1"/>
              <a:t>LeakyReLU</a:t>
            </a:r>
            <a:r>
              <a:rPr sz="1400"/>
              <a:t>: minimize the value of negative values and pass as it is if positive </a:t>
            </a:r>
          </a:p>
          <a:p>
            <a:pPr>
              <a:buFont typeface="Wingdings 3" panose="05040102010807070707" pitchFamily="18" charset="2"/>
              <a:buChar char=""/>
              <a:defRPr/>
            </a:pPr>
            <a:r>
              <a:rPr sz="1400" err="1"/>
              <a:t>elu</a:t>
            </a:r>
            <a:endParaRPr sz="1400"/>
          </a:p>
          <a:p>
            <a:pPr>
              <a:buFont typeface="Wingdings 3" panose="05040102010807070707" pitchFamily="18" charset="2"/>
              <a:buChar char=""/>
              <a:defRPr/>
            </a:pPr>
            <a:r>
              <a:rPr sz="1400" err="1"/>
              <a:t>selu</a:t>
            </a:r>
            <a:endParaRPr sz="1400"/>
          </a:p>
          <a:p>
            <a:pPr>
              <a:buFont typeface="Wingdings 3" panose="05040102010807070707" pitchFamily="18" charset="2"/>
              <a:buChar char=""/>
              <a:defRPr/>
            </a:pPr>
            <a:r>
              <a:rPr sz="1400" err="1"/>
              <a:t>softplus</a:t>
            </a:r>
            <a:endParaRPr sz="1400"/>
          </a:p>
          <a:p>
            <a:pPr>
              <a:buFont typeface="Wingdings 3" panose="05040102010807070707" pitchFamily="18" charset="2"/>
              <a:buChar char=""/>
              <a:defRPr/>
            </a:pPr>
            <a:r>
              <a:rPr sz="1400" err="1"/>
              <a:t>softsign</a:t>
            </a:r>
            <a:endParaRPr sz="1400"/>
          </a:p>
          <a:p>
            <a:pPr>
              <a:buFont typeface="Wingdings 3" panose="05040102010807070707" pitchFamily="18" charset="2"/>
              <a:buChar char=""/>
              <a:defRPr/>
            </a:pPr>
            <a:r>
              <a:rPr sz="1400" err="1"/>
              <a:t>hard_sigmoid</a:t>
            </a:r>
            <a:endParaRPr sz="1400"/>
          </a:p>
          <a:p>
            <a:pPr>
              <a:buFont typeface="Wingdings 3" panose="05040102010807070707" pitchFamily="18" charset="2"/>
              <a:buChar char=""/>
              <a:defRPr/>
            </a:pPr>
            <a:r>
              <a:rPr sz="1400" err="1"/>
              <a:t>PReLU</a:t>
            </a:r>
            <a:endParaRPr sz="1400"/>
          </a:p>
          <a:p>
            <a:pPr>
              <a:buFont typeface="Wingdings 3" panose="05040102010807070707" pitchFamily="18" charset="2"/>
              <a:buChar char=""/>
              <a:defRPr/>
            </a:pPr>
            <a:r>
              <a:rPr sz="1400"/>
              <a:t>ELU</a:t>
            </a:r>
          </a:p>
          <a:p>
            <a:pPr>
              <a:buFont typeface="Wingdings 3" panose="05040102010807070707" pitchFamily="18" charset="2"/>
              <a:buChar char=""/>
              <a:defRPr/>
            </a:pPr>
            <a:r>
              <a:rPr sz="1400" err="1"/>
              <a:t>ThresholdedReLU</a:t>
            </a:r>
            <a:endParaRPr sz="1400"/>
          </a:p>
        </p:txBody>
      </p:sp>
      <p:pic>
        <p:nvPicPr>
          <p:cNvPr id="128004" name="Picture 3">
            <a:extLst>
              <a:ext uri="{FF2B5EF4-FFF2-40B4-BE49-F238E27FC236}">
                <a16:creationId xmlns:a16="http://schemas.microsoft.com/office/drawing/2014/main" id="{F80878BF-EE88-1EDA-E79C-CF88217F54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4663" y="4933950"/>
            <a:ext cx="2695575"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5" name="Picture 4">
            <a:extLst>
              <a:ext uri="{FF2B5EF4-FFF2-40B4-BE49-F238E27FC236}">
                <a16:creationId xmlns:a16="http://schemas.microsoft.com/office/drawing/2014/main" id="{7FFD748D-DB8C-099D-4D59-C2DF1C1D4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5925" y="4933950"/>
            <a:ext cx="2471738"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6" name="Picture 5">
            <a:extLst>
              <a:ext uri="{FF2B5EF4-FFF2-40B4-BE49-F238E27FC236}">
                <a16:creationId xmlns:a16="http://schemas.microsoft.com/office/drawing/2014/main" id="{9081851C-107D-1646-2EAD-3DA4876393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613" y="4933950"/>
            <a:ext cx="2754312"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7" name="Picture 7">
            <a:extLst>
              <a:ext uri="{FF2B5EF4-FFF2-40B4-BE49-F238E27FC236}">
                <a16:creationId xmlns:a16="http://schemas.microsoft.com/office/drawing/2014/main" id="{9E65107D-33A8-EF0F-564A-8139E05048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51963" y="3084513"/>
            <a:ext cx="2705100" cy="170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0AC952-C718-48F1-90F5-B133D3D94EF4}"/>
              </a:ext>
            </a:extLst>
          </p:cNvPr>
          <p:cNvSpPr/>
          <p:nvPr/>
        </p:nvSpPr>
        <p:spPr>
          <a:xfrm>
            <a:off x="1873250" y="6111875"/>
            <a:ext cx="7810500" cy="4079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lstStyle/>
          <a:p>
            <a:pPr algn="ctr">
              <a:defRPr/>
            </a:pPr>
            <a:r>
              <a:rPr lang="en-US" b="1" dirty="0" err="1">
                <a:solidFill>
                  <a:srgbClr val="FFFF00"/>
                </a:solidFill>
              </a:rPr>
              <a:t>model.compile</a:t>
            </a:r>
            <a:r>
              <a:rPr lang="en-US" b="1" dirty="0">
                <a:solidFill>
                  <a:srgbClr val="FFFF00"/>
                </a:solidFill>
              </a:rPr>
              <a:t>(optimizer='</a:t>
            </a:r>
            <a:r>
              <a:rPr lang="en-US" b="1" dirty="0" err="1">
                <a:solidFill>
                  <a:srgbClr val="FFFF00"/>
                </a:solidFill>
              </a:rPr>
              <a:t>sgd</a:t>
            </a:r>
            <a:r>
              <a:rPr lang="en-US" b="1" dirty="0">
                <a:solidFill>
                  <a:srgbClr val="FFFF00"/>
                </a:solidFill>
              </a:rPr>
              <a:t>', loss='</a:t>
            </a:r>
            <a:r>
              <a:rPr lang="en-US" b="1" dirty="0" err="1">
                <a:solidFill>
                  <a:srgbClr val="FFFF00"/>
                </a:solidFill>
              </a:rPr>
              <a:t>mse</a:t>
            </a:r>
            <a:r>
              <a:rPr lang="en-US" b="1" dirty="0">
                <a:solidFill>
                  <a:srgbClr val="FFFF00"/>
                </a:solidFill>
              </a:rPr>
              <a:t>', metrics=['accuracy'])</a:t>
            </a:r>
          </a:p>
          <a:p>
            <a:pPr algn="ctr">
              <a:defRPr/>
            </a:pPr>
            <a:endParaRPr lang="en-US" dirty="0"/>
          </a:p>
        </p:txBody>
      </p:sp>
      <p:sp>
        <p:nvSpPr>
          <p:cNvPr id="2" name="Text Placeholder 1">
            <a:extLst>
              <a:ext uri="{FF2B5EF4-FFF2-40B4-BE49-F238E27FC236}">
                <a16:creationId xmlns:a16="http://schemas.microsoft.com/office/drawing/2014/main" id="{58F860C5-D0A8-4746-89A7-4AD763B0239D}"/>
              </a:ext>
            </a:extLst>
          </p:cNvPr>
          <p:cNvSpPr>
            <a:spLocks noGrp="1"/>
          </p:cNvSpPr>
          <p:nvPr>
            <p:ph type="body" sz="quarter" idx="10"/>
          </p:nvPr>
        </p:nvSpPr>
        <p:spPr>
          <a:xfrm>
            <a:off x="457200" y="0"/>
            <a:ext cx="11266488" cy="869950"/>
          </a:xfrm>
        </p:spPr>
        <p:txBody>
          <a:bodyPr/>
          <a:lstStyle/>
          <a:p>
            <a:pPr>
              <a:buFont typeface="Wingdings 3" panose="05040102010807070707" pitchFamily="18" charset="2"/>
              <a:buNone/>
              <a:defRPr/>
            </a:pPr>
            <a:r>
              <a:rPr lang="en-US"/>
              <a:t>Step 2. Compile Network</a:t>
            </a:r>
          </a:p>
        </p:txBody>
      </p:sp>
      <p:sp>
        <p:nvSpPr>
          <p:cNvPr id="3" name="Content Placeholder 2">
            <a:extLst>
              <a:ext uri="{FF2B5EF4-FFF2-40B4-BE49-F238E27FC236}">
                <a16:creationId xmlns:a16="http://schemas.microsoft.com/office/drawing/2014/main" id="{08106847-D4A9-40C4-8B72-E017AF38309F}"/>
              </a:ext>
            </a:extLst>
          </p:cNvPr>
          <p:cNvSpPr>
            <a:spLocks noGrp="1"/>
          </p:cNvSpPr>
          <p:nvPr>
            <p:ph sz="quarter" idx="11"/>
          </p:nvPr>
        </p:nvSpPr>
        <p:spPr>
          <a:xfrm>
            <a:off x="434975" y="869950"/>
            <a:ext cx="11374438" cy="5241925"/>
          </a:xfrm>
        </p:spPr>
        <p:txBody>
          <a:bodyPr/>
          <a:lstStyle/>
          <a:p>
            <a:pPr>
              <a:buFont typeface="Wingdings 3" panose="05040102010807070707" pitchFamily="18" charset="2"/>
              <a:buChar char=""/>
              <a:defRPr/>
            </a:pPr>
            <a:r>
              <a:rPr sz="1400"/>
              <a:t>Specifically the optimization algorithm to use to train the network and the loss function used to evaluate the network that is minimized by the optimization algorithm.</a:t>
            </a:r>
          </a:p>
          <a:p>
            <a:pPr marL="0" indent="0">
              <a:buFont typeface="Wingdings 3" panose="05040102010807070707" pitchFamily="18" charset="2"/>
              <a:buNone/>
              <a:defRPr/>
            </a:pPr>
            <a:endParaRPr sz="1400" b="1"/>
          </a:p>
          <a:p>
            <a:pPr marL="0" indent="0">
              <a:buFont typeface="Wingdings 3" panose="05040102010807070707" pitchFamily="18" charset="2"/>
              <a:buNone/>
              <a:defRPr/>
            </a:pPr>
            <a:endParaRPr sz="1400" b="1"/>
          </a:p>
          <a:p>
            <a:pPr marL="0" indent="0">
              <a:buFont typeface="Wingdings 3" panose="05040102010807070707" pitchFamily="18" charset="2"/>
              <a:buNone/>
              <a:defRPr/>
            </a:pPr>
            <a:r>
              <a:rPr sz="1400" b="1"/>
              <a:t>Optimizers </a:t>
            </a:r>
            <a:r>
              <a:rPr sz="1400"/>
              <a:t>tool to minimize loss between prediction and real value. Commonly used optimization algorithms:</a:t>
            </a:r>
          </a:p>
          <a:p>
            <a:pPr>
              <a:buFont typeface="Wingdings 3" panose="05040102010807070707" pitchFamily="18" charset="2"/>
              <a:buChar char=""/>
              <a:defRPr/>
            </a:pPr>
            <a:r>
              <a:rPr sz="1400"/>
              <a:t>‘</a:t>
            </a:r>
            <a:r>
              <a:rPr sz="1400" err="1"/>
              <a:t>sgd</a:t>
            </a:r>
            <a:r>
              <a:rPr sz="1400"/>
              <a:t>‘ (Stochastic Gradient Descent) requires the tuning of a learning rate and momentum.</a:t>
            </a:r>
          </a:p>
          <a:p>
            <a:pPr>
              <a:buFont typeface="Wingdings 3" panose="05040102010807070707" pitchFamily="18" charset="2"/>
              <a:buChar char=""/>
              <a:defRPr/>
            </a:pPr>
            <a:r>
              <a:rPr sz="1400"/>
              <a:t>ADAM  requires the tuning of learning rate.</a:t>
            </a:r>
          </a:p>
          <a:p>
            <a:pPr>
              <a:buFont typeface="Wingdings 3" panose="05040102010807070707" pitchFamily="18" charset="2"/>
              <a:buChar char=""/>
              <a:defRPr/>
            </a:pPr>
            <a:r>
              <a:rPr sz="1400" err="1"/>
              <a:t>RMSprop</a:t>
            </a:r>
            <a:r>
              <a:rPr sz="1400"/>
              <a:t>  requires the tuning of learning rate.</a:t>
            </a:r>
          </a:p>
          <a:p>
            <a:pPr>
              <a:buFont typeface="Wingdings 3" panose="05040102010807070707" pitchFamily="18" charset="2"/>
              <a:buChar char=""/>
              <a:defRPr/>
            </a:pPr>
            <a:endParaRPr sz="600"/>
          </a:p>
          <a:p>
            <a:pPr marL="0" indent="0">
              <a:buFont typeface="Wingdings 3" panose="05040102010807070707" pitchFamily="18" charset="2"/>
              <a:buNone/>
              <a:defRPr/>
            </a:pPr>
            <a:r>
              <a:rPr sz="1400" b="1"/>
              <a:t>Loss functions:</a:t>
            </a:r>
          </a:p>
          <a:p>
            <a:pPr>
              <a:buFont typeface="Wingdings 3" panose="05040102010807070707" pitchFamily="18" charset="2"/>
              <a:buChar char=""/>
              <a:defRPr/>
            </a:pPr>
            <a:r>
              <a:rPr sz="1400"/>
              <a:t>Regression: Mean Squared Error or ‘</a:t>
            </a:r>
            <a:r>
              <a:rPr sz="1400" err="1">
                <a:solidFill>
                  <a:srgbClr val="FFFF00"/>
                </a:solidFill>
              </a:rPr>
              <a:t>mse</a:t>
            </a:r>
            <a:r>
              <a:rPr sz="1400"/>
              <a:t>‘.</a:t>
            </a:r>
          </a:p>
          <a:p>
            <a:pPr>
              <a:buFont typeface="Wingdings 3" panose="05040102010807070707" pitchFamily="18" charset="2"/>
              <a:buChar char=""/>
              <a:defRPr/>
            </a:pPr>
            <a:r>
              <a:rPr sz="1400"/>
              <a:t>Binary Classification (2 class): ‘</a:t>
            </a:r>
            <a:r>
              <a:rPr sz="1400" err="1">
                <a:solidFill>
                  <a:srgbClr val="FFFF00"/>
                </a:solidFill>
              </a:rPr>
              <a:t>binary_crossentropy</a:t>
            </a:r>
            <a:r>
              <a:rPr sz="1400"/>
              <a:t>‘.</a:t>
            </a:r>
          </a:p>
          <a:p>
            <a:pPr>
              <a:buFont typeface="Wingdings 3" panose="05040102010807070707" pitchFamily="18" charset="2"/>
              <a:buChar char=""/>
              <a:defRPr/>
            </a:pPr>
            <a:r>
              <a:rPr sz="1400"/>
              <a:t>Multiclass Classification (&gt;2 class): ‘</a:t>
            </a:r>
            <a:r>
              <a:rPr sz="1400" err="1">
                <a:solidFill>
                  <a:srgbClr val="FFFF00"/>
                </a:solidFill>
              </a:rPr>
              <a:t>categorical_crossentropy</a:t>
            </a:r>
            <a:r>
              <a:rPr sz="1400"/>
              <a:t>‘.</a:t>
            </a:r>
          </a:p>
          <a:p>
            <a:pPr>
              <a:buFont typeface="Wingdings 3" panose="05040102010807070707" pitchFamily="18" charset="2"/>
              <a:buChar char=""/>
              <a:defRPr/>
            </a:pPr>
            <a:endParaRPr sz="400"/>
          </a:p>
          <a:p>
            <a:pPr marL="0" indent="0">
              <a:buFont typeface="Wingdings 3" panose="05040102010807070707" pitchFamily="18" charset="2"/>
              <a:buNone/>
              <a:defRPr/>
            </a:pPr>
            <a:r>
              <a:rPr sz="1400"/>
              <a:t>Finally, you can also specify metrics to collect while fitting the model in addition to the loss function. Generally, the most useful additional metric to collect is accuracy.</a:t>
            </a:r>
          </a:p>
          <a:p>
            <a:pPr marL="0" indent="0">
              <a:buFont typeface="Wingdings 3" panose="05040102010807070707" pitchFamily="18" charset="2"/>
              <a:buNone/>
              <a:defRPr/>
            </a:pPr>
            <a:endParaRPr sz="1800"/>
          </a:p>
          <a:p>
            <a:pPr marL="0" indent="0">
              <a:buFont typeface="Wingdings 3" panose="05040102010807070707" pitchFamily="18" charset="2"/>
              <a:buNone/>
              <a:defRPr/>
            </a:pPr>
            <a:endParaRPr sz="1800"/>
          </a:p>
        </p:txBody>
      </p:sp>
      <p:sp>
        <p:nvSpPr>
          <p:cNvPr id="7" name="Rectangle 6">
            <a:extLst>
              <a:ext uri="{FF2B5EF4-FFF2-40B4-BE49-F238E27FC236}">
                <a16:creationId xmlns:a16="http://schemas.microsoft.com/office/drawing/2014/main" id="{7454EDC4-30B4-4758-AB76-2595788CDA24}"/>
              </a:ext>
            </a:extLst>
          </p:cNvPr>
          <p:cNvSpPr/>
          <p:nvPr/>
        </p:nvSpPr>
        <p:spPr>
          <a:xfrm>
            <a:off x="1873250" y="1554163"/>
            <a:ext cx="7810500" cy="40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lstStyle/>
          <a:p>
            <a:pPr algn="ctr">
              <a:defRPr/>
            </a:pPr>
            <a:r>
              <a:rPr lang="en-US" b="1" dirty="0" err="1">
                <a:solidFill>
                  <a:srgbClr val="FFFF00"/>
                </a:solidFill>
              </a:rPr>
              <a:t>model.compile</a:t>
            </a:r>
            <a:r>
              <a:rPr lang="en-US" b="1" dirty="0">
                <a:solidFill>
                  <a:srgbClr val="FFFF00"/>
                </a:solidFill>
              </a:rPr>
              <a:t>(optimizer='</a:t>
            </a:r>
            <a:r>
              <a:rPr lang="en-US" b="1" dirty="0" err="1">
                <a:solidFill>
                  <a:srgbClr val="FFFF00"/>
                </a:solidFill>
              </a:rPr>
              <a:t>sgd</a:t>
            </a:r>
            <a:r>
              <a:rPr lang="en-US" b="1" dirty="0">
                <a:solidFill>
                  <a:srgbClr val="FFFF00"/>
                </a:solidFill>
              </a:rPr>
              <a:t>', loss='</a:t>
            </a:r>
            <a:r>
              <a:rPr lang="en-US" b="1" dirty="0" err="1">
                <a:solidFill>
                  <a:srgbClr val="FFFF00"/>
                </a:solidFill>
              </a:rPr>
              <a:t>mse</a:t>
            </a:r>
            <a:r>
              <a:rPr lang="en-US" b="1" dirty="0">
                <a:solidFill>
                  <a:srgbClr val="FFFF00"/>
                </a:solidFill>
              </a:rPr>
              <a:t>’)</a:t>
            </a:r>
          </a:p>
          <a:p>
            <a:pPr algn="ctr">
              <a:defRPr/>
            </a:pP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4">
            <a:extLst>
              <a:ext uri="{FF2B5EF4-FFF2-40B4-BE49-F238E27FC236}">
                <a16:creationId xmlns:a16="http://schemas.microsoft.com/office/drawing/2014/main" id="{C86C37E7-4254-7E98-A860-D8E153AEE7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8" y="1209675"/>
            <a:ext cx="59055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1" name="Picture 6">
            <a:extLst>
              <a:ext uri="{FF2B5EF4-FFF2-40B4-BE49-F238E27FC236}">
                <a16:creationId xmlns:a16="http://schemas.microsoft.com/office/drawing/2014/main" id="{89EA5C50-57B5-F4E4-94C0-34110DB55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1563" y="1209675"/>
            <a:ext cx="59055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2" name="Title 7">
            <a:extLst>
              <a:ext uri="{FF2B5EF4-FFF2-40B4-BE49-F238E27FC236}">
                <a16:creationId xmlns:a16="http://schemas.microsoft.com/office/drawing/2014/main" id="{55762D2B-CE8B-ABB0-2888-B71625468D96}"/>
              </a:ext>
            </a:extLst>
          </p:cNvPr>
          <p:cNvSpPr>
            <a:spLocks noGrp="1" noChangeArrowheads="1"/>
          </p:cNvSpPr>
          <p:nvPr>
            <p:ph type="title"/>
          </p:nvPr>
        </p:nvSpPr>
        <p:spPr bwMode="auto"/>
        <p:txBody>
          <a:bodyPr wrap="square" numCol="1" anchorCtr="0" compatLnSpc="1">
            <a:prstTxWarp prst="textNoShape">
              <a:avLst/>
            </a:prstTxWarp>
          </a:bodyPr>
          <a:lstStyle/>
          <a:p>
            <a:r>
              <a:rPr lang="en-US" altLang="ar-EG" b="1">
                <a:ln>
                  <a:noFill/>
                </a:ln>
              </a:rPr>
              <a:t>Optimizers</a:t>
            </a:r>
            <a:endParaRPr lang="en-US" altLang="ar-EG">
              <a:ln>
                <a:noFill/>
              </a:ln>
            </a:endParaRPr>
          </a:p>
        </p:txBody>
      </p:sp>
      <p:sp>
        <p:nvSpPr>
          <p:cNvPr id="130053" name="Content Placeholder 8">
            <a:extLst>
              <a:ext uri="{FF2B5EF4-FFF2-40B4-BE49-F238E27FC236}">
                <a16:creationId xmlns:a16="http://schemas.microsoft.com/office/drawing/2014/main" id="{14B18E7F-EE16-AAA9-2624-83CD3187E350}"/>
              </a:ext>
            </a:extLst>
          </p:cNvPr>
          <p:cNvSpPr>
            <a:spLocks noGrp="1" noChangeArrowheads="1"/>
          </p:cNvSpPr>
          <p:nvPr>
            <p:ph idx="1"/>
          </p:nvPr>
        </p:nvSpPr>
        <p:spPr>
          <a:xfrm>
            <a:off x="511175" y="5781675"/>
            <a:ext cx="11245850" cy="901700"/>
          </a:xfrm>
        </p:spPr>
        <p:txBody>
          <a:bodyPr/>
          <a:lstStyle/>
          <a:p>
            <a:pPr algn="l" rtl="0"/>
            <a:endParaRPr lang="ar-EG" altLang="ar-EG"/>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12FFFB-E9E3-471C-B9A3-6ECAE3B2F26F}"/>
              </a:ext>
            </a:extLst>
          </p:cNvPr>
          <p:cNvSpPr>
            <a:spLocks noGrp="1"/>
          </p:cNvSpPr>
          <p:nvPr>
            <p:ph type="body" sz="quarter" idx="10"/>
          </p:nvPr>
        </p:nvSpPr>
        <p:spPr/>
        <p:txBody>
          <a:bodyPr/>
          <a:lstStyle/>
          <a:p>
            <a:pPr>
              <a:buFont typeface="Wingdings 3" panose="05040102010807070707" pitchFamily="18" charset="2"/>
              <a:buNone/>
              <a:defRPr/>
            </a:pPr>
            <a:r>
              <a:rPr lang="en-US"/>
              <a:t>Step 3. Fit Network</a:t>
            </a:r>
          </a:p>
        </p:txBody>
      </p:sp>
      <p:sp>
        <p:nvSpPr>
          <p:cNvPr id="3" name="Content Placeholder 2">
            <a:extLst>
              <a:ext uri="{FF2B5EF4-FFF2-40B4-BE49-F238E27FC236}">
                <a16:creationId xmlns:a16="http://schemas.microsoft.com/office/drawing/2014/main" id="{2D48107E-8E71-491B-A740-A3A9A32F108B}"/>
              </a:ext>
            </a:extLst>
          </p:cNvPr>
          <p:cNvSpPr>
            <a:spLocks noGrp="1"/>
          </p:cNvSpPr>
          <p:nvPr>
            <p:ph sz="quarter" idx="11"/>
          </p:nvPr>
        </p:nvSpPr>
        <p:spPr>
          <a:xfrm>
            <a:off x="434975" y="1862138"/>
            <a:ext cx="11288713" cy="4657725"/>
          </a:xfrm>
        </p:spPr>
        <p:txBody>
          <a:bodyPr/>
          <a:lstStyle/>
          <a:p>
            <a:pPr marL="0" indent="0">
              <a:buFont typeface="Wingdings 3" panose="05040102010807070707" pitchFamily="18" charset="2"/>
              <a:buNone/>
              <a:defRPr/>
            </a:pPr>
            <a:r>
              <a:t>The network is trained using the backpropagation algorithm</a:t>
            </a:r>
          </a:p>
          <a:p>
            <a:pPr>
              <a:buFont typeface="Wingdings 3" panose="05040102010807070707" pitchFamily="18" charset="2"/>
              <a:buChar char=""/>
              <a:defRPr/>
            </a:pPr>
            <a:r>
              <a:t>Batch size is the number of samples that going to be propagated through the network.</a:t>
            </a:r>
          </a:p>
          <a:p>
            <a:pPr>
              <a:buFont typeface="Wingdings 3" panose="05040102010807070707" pitchFamily="18" charset="2"/>
              <a:buChar char=""/>
              <a:defRPr/>
            </a:pPr>
            <a:r>
              <a:t>epochs is the number of training times (for </a:t>
            </a:r>
            <a:r>
              <a:rPr b="1" u="sng"/>
              <a:t>ALL</a:t>
            </a:r>
            <a:r>
              <a:t> the training examples)</a:t>
            </a:r>
          </a:p>
          <a:p>
            <a:pPr>
              <a:buFont typeface="Wingdings 3" panose="05040102010807070707" pitchFamily="18" charset="2"/>
              <a:buChar char=""/>
              <a:defRPr/>
            </a:pPr>
            <a:endParaRPr/>
          </a:p>
          <a:p>
            <a:pPr marL="0" indent="0">
              <a:buFont typeface="Wingdings 3" panose="05040102010807070707" pitchFamily="18" charset="2"/>
              <a:buNone/>
              <a:defRPr/>
            </a:pPr>
            <a:r>
              <a:t>Example: if you have 1000 training examples, and your batch size is 500, then it will take 2 iterations to complete 1 epoch.</a:t>
            </a:r>
          </a:p>
          <a:p>
            <a:pPr>
              <a:buFont typeface="Wingdings 3" panose="05040102010807070707" pitchFamily="18" charset="2"/>
              <a:buChar char=""/>
              <a:defRPr/>
            </a:pPr>
            <a:br>
              <a:rPr/>
            </a:br>
            <a:endParaRPr/>
          </a:p>
        </p:txBody>
      </p:sp>
      <p:sp>
        <p:nvSpPr>
          <p:cNvPr id="4" name="TextBox 3">
            <a:extLst>
              <a:ext uri="{FF2B5EF4-FFF2-40B4-BE49-F238E27FC236}">
                <a16:creationId xmlns:a16="http://schemas.microsoft.com/office/drawing/2014/main" id="{C28ACC4F-6805-4B64-81C4-E413C31089EA}"/>
              </a:ext>
            </a:extLst>
          </p:cNvPr>
          <p:cNvSpPr txBox="1"/>
          <p:nvPr/>
        </p:nvSpPr>
        <p:spPr>
          <a:xfrm>
            <a:off x="2901950" y="1274763"/>
            <a:ext cx="6378575" cy="369887"/>
          </a:xfrm>
          <a:prstGeom prst="rect">
            <a:avLst/>
          </a:prstGeom>
          <a:solidFill>
            <a:schemeClr val="bg2">
              <a:lumMod val="50000"/>
            </a:schemeClr>
          </a:solidFill>
        </p:spPr>
        <p:txBody>
          <a:bodyPr rtlCol="1">
            <a:spAutoFit/>
          </a:bodyPr>
          <a:lstStyle/>
          <a:p>
            <a:pPr algn="ctr">
              <a:defRPr/>
            </a:pPr>
            <a:r>
              <a:rPr lang="en-US" dirty="0"/>
              <a:t>history = </a:t>
            </a:r>
            <a:r>
              <a:rPr lang="en-US" dirty="0" err="1"/>
              <a:t>model.fit</a:t>
            </a:r>
            <a:r>
              <a:rPr lang="en-US" dirty="0"/>
              <a:t>(X, y, </a:t>
            </a:r>
            <a:r>
              <a:rPr lang="en-US" dirty="0" err="1"/>
              <a:t>batch_size</a:t>
            </a:r>
            <a:r>
              <a:rPr lang="en-US" dirty="0"/>
              <a:t>=10, epochs=100)</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677199-A861-4DC1-A4C9-CF92E4C6053A}"/>
              </a:ext>
            </a:extLst>
          </p:cNvPr>
          <p:cNvSpPr>
            <a:spLocks noGrp="1"/>
          </p:cNvSpPr>
          <p:nvPr>
            <p:ph type="body" sz="quarter" idx="10"/>
          </p:nvPr>
        </p:nvSpPr>
        <p:spPr/>
        <p:txBody>
          <a:bodyPr/>
          <a:lstStyle/>
          <a:p>
            <a:pPr>
              <a:buFont typeface="Wingdings 3" panose="05040102010807070707" pitchFamily="18" charset="2"/>
              <a:buNone/>
              <a:defRPr/>
            </a:pPr>
            <a:r>
              <a:rPr lang="en-US"/>
              <a:t>Step 4. Evaluate Network</a:t>
            </a:r>
          </a:p>
        </p:txBody>
      </p:sp>
      <p:sp>
        <p:nvSpPr>
          <p:cNvPr id="132099" name="Content Placeholder 2">
            <a:extLst>
              <a:ext uri="{FF2B5EF4-FFF2-40B4-BE49-F238E27FC236}">
                <a16:creationId xmlns:a16="http://schemas.microsoft.com/office/drawing/2014/main" id="{2411D02D-7AEA-34FC-0194-10FC0A210A47}"/>
              </a:ext>
            </a:extLst>
          </p:cNvPr>
          <p:cNvSpPr>
            <a:spLocks noGrp="1" noChangeArrowheads="1"/>
          </p:cNvSpPr>
          <p:nvPr>
            <p:ph sz="quarter" idx="11"/>
          </p:nvPr>
        </p:nvSpPr>
        <p:spPr/>
        <p:txBody>
          <a:bodyPr/>
          <a:lstStyle/>
          <a:p>
            <a:r>
              <a:rPr altLang="ar-EG"/>
              <a:t>The model evaluates the loss across all of the test patterns, as well as any other metrics specified when the model was compiled.</a:t>
            </a:r>
          </a:p>
          <a:p>
            <a:endParaRPr altLang="ar-EG"/>
          </a:p>
          <a:p>
            <a:r>
              <a:rPr altLang="ar-EG"/>
              <a:t>For example, for a model compiled with the accuracy metric, we could evaluate it on a new dataset as follows:</a:t>
            </a:r>
          </a:p>
          <a:p>
            <a:endParaRPr altLang="ar-EG"/>
          </a:p>
          <a:p>
            <a:endParaRPr altLang="ar-EG"/>
          </a:p>
        </p:txBody>
      </p:sp>
      <p:sp>
        <p:nvSpPr>
          <p:cNvPr id="4" name="TextBox 3">
            <a:extLst>
              <a:ext uri="{FF2B5EF4-FFF2-40B4-BE49-F238E27FC236}">
                <a16:creationId xmlns:a16="http://schemas.microsoft.com/office/drawing/2014/main" id="{167809FA-A608-49D4-94A4-9414DA9A50B9}"/>
              </a:ext>
            </a:extLst>
          </p:cNvPr>
          <p:cNvSpPr txBox="1"/>
          <p:nvPr/>
        </p:nvSpPr>
        <p:spPr>
          <a:xfrm>
            <a:off x="2505075" y="3271838"/>
            <a:ext cx="7150100" cy="647700"/>
          </a:xfrm>
          <a:prstGeom prst="rect">
            <a:avLst/>
          </a:prstGeom>
          <a:solidFill>
            <a:schemeClr val="bg2">
              <a:lumMod val="50000"/>
            </a:schemeClr>
          </a:solidFill>
        </p:spPr>
        <p:txBody>
          <a:bodyPr rtlCol="1">
            <a:spAutoFit/>
          </a:bodyPr>
          <a:lstStyle/>
          <a:p>
            <a:pPr>
              <a:defRPr/>
            </a:pPr>
            <a:r>
              <a:rPr lang="en-US" dirty="0"/>
              <a:t>loss, accuracy = </a:t>
            </a:r>
            <a:r>
              <a:rPr lang="en-US" dirty="0" err="1"/>
              <a:t>model.evaluate</a:t>
            </a:r>
            <a:r>
              <a:rPr lang="en-US" dirty="0"/>
              <a:t>(X, Y)</a:t>
            </a:r>
          </a:p>
          <a:p>
            <a:pPr>
              <a:defRPr/>
            </a:pPr>
            <a:r>
              <a:rPr lang="en-US" dirty="0"/>
              <a:t>print("Loss: %.2f, Accuracy: %.2f% %" % (loss, accuracy*100))</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7C19DD-A304-4AB3-9E48-C0F849846003}"/>
              </a:ext>
            </a:extLst>
          </p:cNvPr>
          <p:cNvSpPr>
            <a:spLocks noGrp="1"/>
          </p:cNvSpPr>
          <p:nvPr>
            <p:ph type="body" sz="quarter" idx="10"/>
          </p:nvPr>
        </p:nvSpPr>
        <p:spPr/>
        <p:txBody>
          <a:bodyPr/>
          <a:lstStyle/>
          <a:p>
            <a:pPr>
              <a:buFont typeface="Wingdings 3" panose="05040102010807070707" pitchFamily="18" charset="2"/>
              <a:buNone/>
              <a:defRPr/>
            </a:pPr>
            <a:r>
              <a:rPr lang="en-US"/>
              <a:t>Step 5. Make Predictions</a:t>
            </a:r>
          </a:p>
        </p:txBody>
      </p:sp>
      <p:sp>
        <p:nvSpPr>
          <p:cNvPr id="133123" name="Content Placeholder 2">
            <a:extLst>
              <a:ext uri="{FF2B5EF4-FFF2-40B4-BE49-F238E27FC236}">
                <a16:creationId xmlns:a16="http://schemas.microsoft.com/office/drawing/2014/main" id="{C7FB09C7-B179-016D-1BB5-61503DEF3E72}"/>
              </a:ext>
            </a:extLst>
          </p:cNvPr>
          <p:cNvSpPr>
            <a:spLocks noGrp="1" noChangeArrowheads="1"/>
          </p:cNvSpPr>
          <p:nvPr>
            <p:ph sz="quarter" idx="11"/>
          </p:nvPr>
        </p:nvSpPr>
        <p:spPr/>
        <p:txBody>
          <a:bodyPr/>
          <a:lstStyle/>
          <a:p>
            <a:endParaRPr lang="ar-EG" altLang="ar-EG"/>
          </a:p>
        </p:txBody>
      </p:sp>
      <p:sp>
        <p:nvSpPr>
          <p:cNvPr id="4" name="TextBox 3">
            <a:extLst>
              <a:ext uri="{FF2B5EF4-FFF2-40B4-BE49-F238E27FC236}">
                <a16:creationId xmlns:a16="http://schemas.microsoft.com/office/drawing/2014/main" id="{A68C684F-DD00-4B6A-9089-6BB5D9FB480E}"/>
              </a:ext>
            </a:extLst>
          </p:cNvPr>
          <p:cNvSpPr txBox="1"/>
          <p:nvPr/>
        </p:nvSpPr>
        <p:spPr>
          <a:xfrm>
            <a:off x="457200" y="1339850"/>
            <a:ext cx="11266488" cy="1200150"/>
          </a:xfrm>
          <a:prstGeom prst="rect">
            <a:avLst/>
          </a:prstGeom>
          <a:solidFill>
            <a:schemeClr val="bg2">
              <a:lumMod val="50000"/>
            </a:schemeClr>
          </a:solidFill>
        </p:spPr>
        <p:txBody>
          <a:bodyPr rtlCol="1">
            <a:spAutoFit/>
          </a:bodyPr>
          <a:lstStyle/>
          <a:p>
            <a:pPr>
              <a:defRPr/>
            </a:pPr>
            <a:r>
              <a:rPr lang="en-US" dirty="0"/>
              <a:t>probabilities = </a:t>
            </a:r>
            <a:r>
              <a:rPr lang="en-US" dirty="0" err="1"/>
              <a:t>model.predict</a:t>
            </a:r>
            <a:r>
              <a:rPr lang="en-US" dirty="0"/>
              <a:t>(X)</a:t>
            </a:r>
          </a:p>
          <a:p>
            <a:pPr>
              <a:defRPr/>
            </a:pPr>
            <a:r>
              <a:rPr lang="en-US" dirty="0"/>
              <a:t>predictions = [float(round(x)) for x in probabilities]</a:t>
            </a:r>
          </a:p>
          <a:p>
            <a:pPr>
              <a:defRPr/>
            </a:pPr>
            <a:r>
              <a:rPr lang="en-US" dirty="0"/>
              <a:t>accuracy = </a:t>
            </a:r>
            <a:r>
              <a:rPr lang="en-US" dirty="0" err="1"/>
              <a:t>numpy.mean</a:t>
            </a:r>
            <a:r>
              <a:rPr lang="en-US" dirty="0"/>
              <a:t>(predictions == Y</a:t>
            </a:r>
            <a:r>
              <a:rPr lang="en-US"/>
              <a:t>)  </a:t>
            </a:r>
            <a:r>
              <a:rPr lang="en-US">
                <a:solidFill>
                  <a:srgbClr val="FFFF00"/>
                </a:solidFill>
              </a:rPr>
              <a:t>#count </a:t>
            </a:r>
            <a:r>
              <a:rPr lang="en-US" dirty="0">
                <a:solidFill>
                  <a:srgbClr val="FFFF00"/>
                </a:solidFill>
              </a:rPr>
              <a:t>the number of True and divide by the total size</a:t>
            </a:r>
          </a:p>
          <a:p>
            <a:pPr>
              <a:defRPr/>
            </a:pPr>
            <a:r>
              <a:rPr lang="en-US" dirty="0"/>
              <a:t>print("Prediction Accuracy: %.2f% %" % (accuracy*100))</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79478A-98E5-41B8-9807-3EFF7E1F9C49}"/>
              </a:ext>
            </a:extLst>
          </p:cNvPr>
          <p:cNvSpPr>
            <a:spLocks noGrp="1"/>
          </p:cNvSpPr>
          <p:nvPr>
            <p:ph type="body" sz="quarter" idx="10"/>
          </p:nvPr>
        </p:nvSpPr>
        <p:spPr/>
        <p:txBody>
          <a:bodyPr/>
          <a:lstStyle/>
          <a:p>
            <a:pPr>
              <a:buFont typeface="Wingdings 3" panose="05040102010807070707" pitchFamily="18" charset="2"/>
              <a:buNone/>
              <a:defRPr/>
            </a:pPr>
            <a:r>
              <a:rPr lang="en-US"/>
              <a:t>Binary classification using </a:t>
            </a:r>
            <a:r>
              <a:rPr lang="nl-NL"/>
              <a:t>Neural Network in Keras</a:t>
            </a:r>
            <a:endParaRPr lang="en-US"/>
          </a:p>
        </p:txBody>
      </p:sp>
      <p:sp>
        <p:nvSpPr>
          <p:cNvPr id="134147" name="Content Placeholder 2">
            <a:extLst>
              <a:ext uri="{FF2B5EF4-FFF2-40B4-BE49-F238E27FC236}">
                <a16:creationId xmlns:a16="http://schemas.microsoft.com/office/drawing/2014/main" id="{9E855B32-E026-604A-5C29-692A86A06249}"/>
              </a:ext>
            </a:extLst>
          </p:cNvPr>
          <p:cNvSpPr>
            <a:spLocks noGrp="1" noChangeArrowheads="1"/>
          </p:cNvSpPr>
          <p:nvPr>
            <p:ph sz="quarter" idx="11"/>
          </p:nvPr>
        </p:nvSpPr>
        <p:spPr/>
        <p:txBody>
          <a:bodyPr/>
          <a:lstStyle/>
          <a:p>
            <a:pPr marL="0" indent="0">
              <a:buFont typeface="Wingdings 3" pitchFamily="2" charset="2"/>
              <a:buNone/>
            </a:pPr>
            <a:r>
              <a:rPr altLang="ar-EG" b="1"/>
              <a:t>Diabetes Data Set</a:t>
            </a:r>
            <a:r>
              <a:rPr altLang="ar-EG"/>
              <a:t> </a:t>
            </a:r>
            <a:endParaRPr altLang="ar-EG" sz="1200"/>
          </a:p>
          <a:p>
            <a:pPr marL="0" indent="0">
              <a:buFont typeface="Wingdings 3" pitchFamily="2" charset="2"/>
              <a:buNone/>
            </a:pPr>
            <a:r>
              <a:rPr altLang="ar-EG" sz="1200"/>
              <a:t>Detect Diabetes Disease based on analysis </a:t>
            </a:r>
          </a:p>
          <a:p>
            <a:pPr marL="0" indent="0">
              <a:buFont typeface="Wingdings 3" pitchFamily="2" charset="2"/>
              <a:buNone/>
            </a:pPr>
            <a:r>
              <a:rPr altLang="ar-EG" sz="1200"/>
              <a:t>Dataset Attributes:</a:t>
            </a:r>
          </a:p>
          <a:p>
            <a:pPr marL="0" indent="0">
              <a:buFont typeface="Wingdings 3" pitchFamily="2" charset="2"/>
              <a:buNone/>
            </a:pPr>
            <a:r>
              <a:rPr altLang="ar-EG" sz="1200"/>
              <a:t>1. Number of times pregnant </a:t>
            </a:r>
          </a:p>
          <a:p>
            <a:pPr marL="0" indent="0">
              <a:buFont typeface="Wingdings 3" pitchFamily="2" charset="2"/>
              <a:buNone/>
            </a:pPr>
            <a:r>
              <a:rPr altLang="ar-EG" sz="1200"/>
              <a:t>2. Plasma  </a:t>
            </a:r>
          </a:p>
          <a:p>
            <a:pPr marL="0" indent="0">
              <a:buFont typeface="Wingdings 3" pitchFamily="2" charset="2"/>
              <a:buNone/>
            </a:pPr>
            <a:r>
              <a:rPr altLang="ar-EG" sz="1200"/>
              <a:t>3. Diastolic blood pressure (mm Hg) </a:t>
            </a:r>
          </a:p>
          <a:p>
            <a:pPr marL="0" indent="0">
              <a:buFont typeface="Wingdings 3" pitchFamily="2" charset="2"/>
              <a:buNone/>
            </a:pPr>
            <a:r>
              <a:rPr altLang="ar-EG" sz="1200"/>
              <a:t>4. Triceps skin fold thickness (mm) </a:t>
            </a:r>
          </a:p>
          <a:p>
            <a:pPr marL="0" indent="0">
              <a:buFont typeface="Wingdings 3" pitchFamily="2" charset="2"/>
              <a:buNone/>
            </a:pPr>
            <a:r>
              <a:rPr altLang="ar-EG" sz="1200"/>
              <a:t>5. 2-Hour serum insulin (mu U/ml) </a:t>
            </a:r>
          </a:p>
          <a:p>
            <a:pPr marL="0" indent="0">
              <a:buFont typeface="Wingdings 3" pitchFamily="2" charset="2"/>
              <a:buNone/>
            </a:pPr>
            <a:r>
              <a:rPr altLang="ar-EG" sz="1200"/>
              <a:t>6. Body mass index </a:t>
            </a:r>
          </a:p>
          <a:p>
            <a:pPr marL="0" indent="0">
              <a:buFont typeface="Wingdings 3" pitchFamily="2" charset="2"/>
              <a:buNone/>
            </a:pPr>
            <a:r>
              <a:rPr altLang="ar-EG" sz="1200"/>
              <a:t>7. Diabetes pedigree function </a:t>
            </a:r>
          </a:p>
          <a:p>
            <a:pPr marL="0" indent="0">
              <a:buFont typeface="Wingdings 3" pitchFamily="2" charset="2"/>
              <a:buNone/>
            </a:pPr>
            <a:r>
              <a:rPr altLang="ar-EG" sz="1200"/>
              <a:t>8. Age (years) </a:t>
            </a:r>
          </a:p>
          <a:p>
            <a:pPr marL="0" indent="0">
              <a:buFont typeface="Wingdings 3" pitchFamily="2" charset="2"/>
              <a:buNone/>
            </a:pPr>
            <a:r>
              <a:rPr altLang="ar-EG" sz="1200"/>
              <a:t>9. Class variable (0 or 1) </a:t>
            </a:r>
          </a:p>
        </p:txBody>
      </p:sp>
      <p:pic>
        <p:nvPicPr>
          <p:cNvPr id="134148" name="Picture 3">
            <a:extLst>
              <a:ext uri="{FF2B5EF4-FFF2-40B4-BE49-F238E27FC236}">
                <a16:creationId xmlns:a16="http://schemas.microsoft.com/office/drawing/2014/main" id="{813A46C8-E900-997B-D354-5991ACE4A4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1600" y="1317625"/>
            <a:ext cx="8202613" cy="479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475D91-CF3E-4B1E-A853-320FC45E31CB}"/>
              </a:ext>
            </a:extLst>
          </p:cNvPr>
          <p:cNvSpPr>
            <a:spLocks noGrp="1"/>
          </p:cNvSpPr>
          <p:nvPr>
            <p:ph type="body" sz="quarter" idx="10"/>
          </p:nvPr>
        </p:nvSpPr>
        <p:spPr/>
        <p:txBody>
          <a:bodyPr/>
          <a:lstStyle/>
          <a:p>
            <a:pPr>
              <a:buFont typeface="Wingdings 3" panose="05040102010807070707" pitchFamily="18" charset="2"/>
              <a:buNone/>
              <a:defRPr/>
            </a:pPr>
            <a:r>
              <a:rPr lang="en-US"/>
              <a:t>Save prediction model</a:t>
            </a:r>
          </a:p>
        </p:txBody>
      </p:sp>
      <p:sp>
        <p:nvSpPr>
          <p:cNvPr id="3" name="Content Placeholder 2">
            <a:extLst>
              <a:ext uri="{FF2B5EF4-FFF2-40B4-BE49-F238E27FC236}">
                <a16:creationId xmlns:a16="http://schemas.microsoft.com/office/drawing/2014/main" id="{966E15C4-7463-4F4B-BCCD-69845C4ED4B4}"/>
              </a:ext>
            </a:extLst>
          </p:cNvPr>
          <p:cNvSpPr>
            <a:spLocks noGrp="1"/>
          </p:cNvSpPr>
          <p:nvPr>
            <p:ph sz="quarter" idx="11"/>
          </p:nvPr>
        </p:nvSpPr>
        <p:spPr/>
        <p:txBody>
          <a:bodyPr/>
          <a:lstStyle/>
          <a:p>
            <a:pPr>
              <a:buFont typeface="Wingdings 3" panose="05040102010807070707" pitchFamily="18" charset="2"/>
              <a:buChar char=""/>
              <a:defRPr/>
            </a:pPr>
            <a:r>
              <a:t>After train our model, </a:t>
            </a:r>
            <a:r>
              <a:rPr err="1"/>
              <a:t>ie</a:t>
            </a:r>
            <a:r>
              <a:t>,  </a:t>
            </a:r>
            <a:r>
              <a:rPr lang="fr-FR">
                <a:solidFill>
                  <a:srgbClr val="FFFF00"/>
                </a:solidFill>
              </a:rPr>
              <a:t>model.fit(X_train, </a:t>
            </a:r>
            <a:r>
              <a:rPr lang="fr-FR" err="1">
                <a:solidFill>
                  <a:srgbClr val="FFFF00"/>
                </a:solidFill>
              </a:rPr>
              <a:t>Y_train</a:t>
            </a:r>
            <a:r>
              <a:rPr lang="fr-FR">
                <a:solidFill>
                  <a:srgbClr val="FFFF00"/>
                </a:solidFill>
              </a:rPr>
              <a:t>), </a:t>
            </a:r>
            <a:r>
              <a:t>we</a:t>
            </a:r>
            <a:r>
              <a:rPr lang="fr-FR"/>
              <a:t> can </a:t>
            </a:r>
            <a:r>
              <a:t>save</a:t>
            </a:r>
            <a:r>
              <a:rPr lang="fr-FR"/>
              <a:t> </a:t>
            </a:r>
            <a:r>
              <a:rPr lang="fr-FR" err="1"/>
              <a:t>this</a:t>
            </a:r>
            <a:r>
              <a:rPr lang="fr-FR"/>
              <a:t> </a:t>
            </a:r>
            <a:r>
              <a:rPr err="1"/>
              <a:t>traning</a:t>
            </a:r>
            <a:r>
              <a:rPr lang="fr-FR"/>
              <a:t> to use </a:t>
            </a:r>
            <a:r>
              <a:rPr lang="fr-FR" err="1"/>
              <a:t>later</a:t>
            </a:r>
            <a:r>
              <a:rPr lang="fr-FR"/>
              <a:t>.</a:t>
            </a:r>
          </a:p>
          <a:p>
            <a:pPr>
              <a:buFont typeface="Wingdings 3" panose="05040102010807070707" pitchFamily="18" charset="2"/>
              <a:buChar char=""/>
              <a:defRPr/>
            </a:pPr>
            <a:r>
              <a:rPr lang="fr-FR"/>
              <a:t>This </a:t>
            </a:r>
            <a:r>
              <a:rPr lang="fr-FR" err="1"/>
              <a:t>task</a:t>
            </a:r>
            <a:r>
              <a:rPr lang="fr-FR"/>
              <a:t> can </a:t>
            </a:r>
            <a:r>
              <a:t>done</a:t>
            </a:r>
            <a:r>
              <a:rPr lang="fr-FR"/>
              <a:t> by </a:t>
            </a:r>
            <a:r>
              <a:rPr b="1"/>
              <a:t>Pickle</a:t>
            </a:r>
            <a:r>
              <a:t> package(Python Object Serialization Library), using dump and load methods. Pickle can save any object not just the prediction model.</a:t>
            </a:r>
          </a:p>
          <a:p>
            <a:pPr>
              <a:buFont typeface="Wingdings 3" panose="05040102010807070707" pitchFamily="18" charset="2"/>
              <a:buChar char=""/>
              <a:defRPr/>
            </a:pPr>
            <a:endParaRPr/>
          </a:p>
          <a:p>
            <a:pPr marL="0" indent="0">
              <a:buFont typeface="Wingdings 3" panose="05040102010807070707" pitchFamily="18" charset="2"/>
              <a:buNone/>
              <a:defRPr/>
            </a:pPr>
            <a:r>
              <a:rPr sz="1600">
                <a:solidFill>
                  <a:srgbClr val="FFFF00"/>
                </a:solidFill>
              </a:rPr>
              <a:t>import pickle</a:t>
            </a:r>
          </a:p>
          <a:p>
            <a:pPr marL="0" indent="0">
              <a:buFont typeface="Wingdings 3" panose="05040102010807070707" pitchFamily="18" charset="2"/>
              <a:buNone/>
              <a:defRPr/>
            </a:pPr>
            <a:r>
              <a:rPr sz="1600">
                <a:solidFill>
                  <a:srgbClr val="FFFF00"/>
                </a:solidFill>
              </a:rPr>
              <a:t>…………….</a:t>
            </a:r>
          </a:p>
          <a:p>
            <a:pPr marL="0" indent="0">
              <a:buFont typeface="Wingdings 3" panose="05040102010807070707" pitchFamily="18" charset="2"/>
              <a:buNone/>
              <a:defRPr/>
            </a:pPr>
            <a:r>
              <a:rPr sz="1600" err="1">
                <a:solidFill>
                  <a:srgbClr val="FFFF00"/>
                </a:solidFill>
              </a:rPr>
              <a:t>model.fit</a:t>
            </a:r>
            <a:r>
              <a:rPr sz="1600">
                <a:solidFill>
                  <a:srgbClr val="FFFF00"/>
                </a:solidFill>
              </a:rPr>
              <a:t>(</a:t>
            </a:r>
            <a:r>
              <a:rPr sz="1600" err="1">
                <a:solidFill>
                  <a:srgbClr val="FFFF00"/>
                </a:solidFill>
              </a:rPr>
              <a:t>X_train</a:t>
            </a:r>
            <a:r>
              <a:rPr sz="1600">
                <a:solidFill>
                  <a:srgbClr val="FFFF00"/>
                </a:solidFill>
              </a:rPr>
              <a:t>, </a:t>
            </a:r>
            <a:r>
              <a:rPr sz="1600" err="1">
                <a:solidFill>
                  <a:srgbClr val="FFFF00"/>
                </a:solidFill>
              </a:rPr>
              <a:t>Y_train</a:t>
            </a:r>
            <a:r>
              <a:rPr sz="1600">
                <a:solidFill>
                  <a:srgbClr val="FFFF00"/>
                </a:solidFill>
              </a:rPr>
              <a:t>)</a:t>
            </a:r>
          </a:p>
          <a:p>
            <a:pPr marL="0" indent="0">
              <a:buFont typeface="Wingdings 3" panose="05040102010807070707" pitchFamily="18" charset="2"/>
              <a:buNone/>
              <a:defRPr/>
            </a:pPr>
            <a:r>
              <a:rPr sz="1600">
                <a:solidFill>
                  <a:srgbClr val="FFFF00"/>
                </a:solidFill>
              </a:rPr>
              <a:t># save the model to disk</a:t>
            </a:r>
          </a:p>
          <a:p>
            <a:pPr marL="0" indent="0">
              <a:buFont typeface="Wingdings 3" panose="05040102010807070707" pitchFamily="18" charset="2"/>
              <a:buNone/>
              <a:defRPr/>
            </a:pPr>
            <a:r>
              <a:rPr sz="1600" b="1" err="1">
                <a:solidFill>
                  <a:srgbClr val="FFFF00"/>
                </a:solidFill>
              </a:rPr>
              <a:t>pickle.dump</a:t>
            </a:r>
            <a:r>
              <a:rPr sz="1600" b="1">
                <a:solidFill>
                  <a:srgbClr val="FFFF00"/>
                </a:solidFill>
              </a:rPr>
              <a:t>(model, open("c:/data.dump", '</a:t>
            </a:r>
            <a:r>
              <a:rPr sz="1600" b="1" err="1">
                <a:solidFill>
                  <a:srgbClr val="FFFF00"/>
                </a:solidFill>
              </a:rPr>
              <a:t>wb</a:t>
            </a:r>
            <a:r>
              <a:rPr sz="1600" b="1">
                <a:solidFill>
                  <a:srgbClr val="FFFF00"/>
                </a:solidFill>
              </a:rPr>
              <a:t>’))       #</a:t>
            </a:r>
            <a:r>
              <a:rPr sz="1600" b="1" err="1">
                <a:solidFill>
                  <a:srgbClr val="FFFF00"/>
                </a:solidFill>
              </a:rPr>
              <a:t>wb</a:t>
            </a:r>
            <a:r>
              <a:rPr sz="1600" b="1">
                <a:solidFill>
                  <a:srgbClr val="FFFF00"/>
                </a:solidFill>
              </a:rPr>
              <a:t>= write bytes</a:t>
            </a:r>
          </a:p>
          <a:p>
            <a:pPr marL="0" indent="0">
              <a:buFont typeface="Wingdings 3" panose="05040102010807070707" pitchFamily="18" charset="2"/>
              <a:buNone/>
              <a:defRPr/>
            </a:pPr>
            <a:r>
              <a:rPr sz="1600">
                <a:solidFill>
                  <a:srgbClr val="FFFF00"/>
                </a:solidFill>
              </a:rPr>
              <a:t> </a:t>
            </a:r>
          </a:p>
          <a:p>
            <a:pPr marL="0" indent="0">
              <a:buFont typeface="Wingdings 3" panose="05040102010807070707" pitchFamily="18" charset="2"/>
              <a:buNone/>
              <a:defRPr/>
            </a:pPr>
            <a:r>
              <a:rPr sz="1600">
                <a:solidFill>
                  <a:srgbClr val="FFFF00"/>
                </a:solidFill>
              </a:rPr>
              <a:t># some time later... load the model from disk</a:t>
            </a:r>
          </a:p>
          <a:p>
            <a:pPr marL="0" indent="0">
              <a:buFont typeface="Wingdings 3" panose="05040102010807070707" pitchFamily="18" charset="2"/>
              <a:buNone/>
              <a:defRPr/>
            </a:pPr>
            <a:r>
              <a:rPr sz="1600" b="1">
                <a:solidFill>
                  <a:srgbClr val="FFFF00"/>
                </a:solidFill>
              </a:rPr>
              <a:t>model = </a:t>
            </a:r>
            <a:r>
              <a:rPr sz="1600" b="1" err="1">
                <a:solidFill>
                  <a:srgbClr val="FFFF00"/>
                </a:solidFill>
              </a:rPr>
              <a:t>pickle.load</a:t>
            </a:r>
            <a:r>
              <a:rPr sz="1600" b="1">
                <a:solidFill>
                  <a:srgbClr val="FFFF00"/>
                </a:solidFill>
              </a:rPr>
              <a:t>(open("c:/data.dump", '</a:t>
            </a:r>
            <a:r>
              <a:rPr sz="1600" b="1" err="1">
                <a:solidFill>
                  <a:srgbClr val="FFFF00"/>
                </a:solidFill>
              </a:rPr>
              <a:t>rb</a:t>
            </a:r>
            <a:r>
              <a:rPr sz="1600" b="1">
                <a:solidFill>
                  <a:srgbClr val="FFFF00"/>
                </a:solidFill>
              </a:rPr>
              <a:t>’))         #</a:t>
            </a:r>
            <a:r>
              <a:rPr sz="1600" b="1" err="1">
                <a:solidFill>
                  <a:srgbClr val="FFFF00"/>
                </a:solidFill>
              </a:rPr>
              <a:t>rb</a:t>
            </a:r>
            <a:r>
              <a:rPr sz="1600" b="1">
                <a:solidFill>
                  <a:srgbClr val="FFFF00"/>
                </a:solidFill>
              </a:rPr>
              <a:t>= read bytes</a:t>
            </a:r>
          </a:p>
          <a:p>
            <a:pPr marL="0" indent="0">
              <a:buFont typeface="Wingdings 3" panose="05040102010807070707" pitchFamily="18" charset="2"/>
              <a:buNone/>
              <a:defRPr/>
            </a:pPr>
            <a:endParaRPr sz="1600" b="1">
              <a:solidFill>
                <a:srgbClr val="FFFF00"/>
              </a:solidFill>
            </a:endParaRPr>
          </a:p>
          <a:p>
            <a:pPr marL="0" indent="0">
              <a:buFont typeface="Wingdings 3" panose="05040102010807070707" pitchFamily="18" charset="2"/>
              <a:buNone/>
              <a:defRPr/>
            </a:pPr>
            <a:endParaRPr sz="1600">
              <a:solidFill>
                <a:srgbClr val="FFFF00"/>
              </a:solidFill>
            </a:endParaRPr>
          </a:p>
          <a:p>
            <a:pPr>
              <a:buFont typeface="Wingdings 3" panose="05040102010807070707" pitchFamily="18" charset="2"/>
              <a:buChar char=""/>
              <a:defRPr/>
            </a:pPr>
            <a:endParaRPr sz="1600">
              <a:solidFill>
                <a:srgbClr val="FFFF00"/>
              </a:solidFill>
            </a:endParaRPr>
          </a:p>
          <a:p>
            <a:pPr>
              <a:buFont typeface="Wingdings 3" panose="05040102010807070707" pitchFamily="18" charset="2"/>
              <a:buChar char=""/>
              <a:defRPr/>
            </a:pPr>
            <a:endParaRP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51209</TotalTime>
  <Words>9868</Words>
  <Application>Microsoft Macintosh PowerPoint</Application>
  <PresentationFormat>Widescreen</PresentationFormat>
  <Paragraphs>1008</Paragraphs>
  <Slides>125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125</vt:i4>
      </vt:variant>
    </vt:vector>
  </HeadingPairs>
  <TitlesOfParts>
    <vt:vector size="133" baseType="lpstr">
      <vt:lpstr>Century Gothic</vt:lpstr>
      <vt:lpstr>Arial</vt:lpstr>
      <vt:lpstr>Wingdings 3</vt:lpstr>
      <vt:lpstr>Calibri</vt:lpstr>
      <vt:lpstr>Tahoma</vt:lpstr>
      <vt:lpstr>Wingdings</vt:lpstr>
      <vt:lpstr>inherit</vt:lpstr>
      <vt:lpstr>Vapor Trail</vt:lpstr>
      <vt:lpstr>Develop Machine Learning using Python</vt:lpstr>
      <vt:lpstr>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Python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Dimensionality Reduction</vt:lpstr>
      <vt:lpstr>PowerPoint Presentation</vt:lpstr>
      <vt:lpstr>Association Algorithm </vt:lpstr>
      <vt:lpstr>PowerPoint Presentation</vt:lpstr>
      <vt:lpstr>PowerPoint Presentation</vt:lpstr>
      <vt:lpstr>PowerPoint Presentation</vt:lpstr>
      <vt:lpstr>Regression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 Series</vt:lpstr>
      <vt:lpstr>PowerPoint Presentation</vt:lpstr>
      <vt:lpstr>PowerPoint Presentation</vt:lpstr>
      <vt:lpstr>Classification</vt:lpstr>
      <vt:lpstr>PowerPoint Presentation</vt:lpstr>
      <vt:lpstr>PowerPoint Presentation</vt:lpstr>
      <vt:lpstr>PowerPoint Presentation</vt:lpstr>
      <vt:lpstr>Clustering</vt:lpstr>
      <vt:lpstr>PowerPoint Presentation</vt:lpstr>
      <vt:lpstr>PowerPoint Presentation</vt:lpstr>
      <vt:lpstr>computer vision</vt:lpstr>
      <vt:lpstr>PowerPoint Presentation</vt:lpstr>
      <vt:lpstr>PowerPoint Presentation</vt:lpstr>
      <vt:lpstr>PowerPoint Presentation</vt:lpstr>
      <vt:lpstr>PowerPoint Presentation</vt:lpstr>
      <vt:lpstr>PowerPoint Presentation</vt:lpstr>
      <vt:lpstr>NLP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Python Deep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Optimizers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dc:title>
  <dc:creator>eng_rafie@mans.edu.eg</dc:creator>
  <cp:lastModifiedBy>Luis Miralles</cp:lastModifiedBy>
  <cp:revision>1069</cp:revision>
  <dcterms:created xsi:type="dcterms:W3CDTF">2017-10-27T03:37:42Z</dcterms:created>
  <dcterms:modified xsi:type="dcterms:W3CDTF">2024-11-21T09:54:49Z</dcterms:modified>
</cp:coreProperties>
</file>